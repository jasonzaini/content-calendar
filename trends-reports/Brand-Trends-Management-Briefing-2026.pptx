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Reports accompany this overview. Recommendations are hypotheses, not measured brand outcomes.</a:t>
            </a:r>
          </a:p>
          <a:p/>
          <a:p>
            <a:r>
              <a:t>Sources: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Sources: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Sources: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Sources:</a:t>
            </a:r>
          </a:p>
          <a:p>
            <a:r>
              <a:t>C01 | 2026-06-23 | UAE’s Nutri Mark nutrition labelling system goes digital</a:t>
            </a:r>
          </a:p>
          <a:p>
            <a:r>
              <a:t>https://www.foodnavigator.com/Article/2026/06/23/uaes-nutri-mark-nutrition-labelling-system-goes-digital/</a:t>
            </a:r>
          </a:p>
          <a:p>
            <a:r>
              <a:t>Scope: Secondary reporting; do not claim all products carry grades or that a brand has achieved a grade. Official applicability requires checking.</a:t>
            </a:r>
          </a:p>
          <a:p>
            <a:r>
              <a:t>U02 | 2026-06-25 | UAE Steps Up Price Checks to Protect Shoppers, Stabilise Commodity Prices and Strengthen Consumer Protection</a:t>
            </a:r>
          </a:p>
          <a:p>
            <a:r>
              <a:t>https://gulfnews.com/business/retail/uae-steps-up-price-checks-to-protect-shoppers-1.500586593</a:t>
            </a:r>
          </a:p>
          <a:p>
            <a:r>
              <a:t>Scope: Regulatory/retail context; not a measured change in this brand’s customer spending.</a:t>
            </a:r>
          </a:p>
          <a:p>
            <a:r>
              <a:t>R02 | 2026-06-04 | Oman Recalls Godiva Kunafah &amp; Pistachio Milk Chocolate Bar Over Undeclared Egg Allergen Risk</a:t>
            </a:r>
          </a:p>
          <a:p>
            <a:r>
              <a:t>https://gulfnews.com/world/gulf/oman/oman-recalls-godiva-chocolate-bar-over-undeclared-egg-allergen-1.500562988</a:t>
            </a:r>
          </a:p>
          <a:p>
            <a:r>
              <a:t>Scope: Different brand/category example. No issue with Americana, California Garden or ZOOM is alleged. Use as an information-quality lesson.</a:t>
            </a:r>
          </a:p>
          <a:p>
            <a:r>
              <a:t>C03 | 2026-06-28 | Middle East Focus: WALOVI Saudi growth, ASEAN halal and Calbee packs</a:t>
            </a:r>
          </a:p>
          <a:p>
            <a:r>
              <a:t>https://www.foodnavigator.com/Article/2026/06/29/middle-east-focus-walovi-saudi-growth-asean-halal-and-calbee-packs/</a:t>
            </a:r>
          </a:p>
          <a:p>
            <a:r>
              <a:t>Scope: Corporate expansion example, not quantified GCC beverage demand. Transfer cultural/distribution learning, not food-as-medicine claims.</a:t>
            </a:r>
          </a:p>
          <a:p>
            <a:r>
              <a:t>G01 | 2026-06-11 | Going All in for Global Football Fans Across Meta Apps</a:t>
            </a:r>
          </a:p>
          <a:p>
            <a:r>
              <a:t>https://about.fb.com/news/2026/06/going-all-in-for-global-football-fans-across-meta-apps/</a:t>
            </a:r>
          </a:p>
          <a:p>
            <a:r>
              <a:t>Scope: Platform announcement, not brand engagement evidence or permission to use tournament marks.</a:t>
            </a:r>
          </a:p>
          <a:p>
            <a:r>
              <a:t>G12 | 2026-06-25 | How we're updating the YouTube Shorts experience</a:t>
            </a:r>
          </a:p>
          <a:p>
            <a:r>
              <a:t>            </a:t>
            </a:r>
          </a:p>
          <a:p>
            <a:r>
              <a:t>          </a:t>
            </a:r>
          </a:p>
          <a:p>
            <a:r>
              <a:t>           - YouTube Blog</a:t>
            </a:r>
          </a:p>
          <a:p>
            <a:r>
              <a:t>https://blog.youtube/news-and-events/youtube-shorts-experience-updates-features/</a:t>
            </a:r>
          </a:p>
          <a:p>
            <a:r>
              <a:t>Scope: A rollout announcement. Implications for clear on-video storytelling are editorial recommendations, not algorithm rules.</a:t>
            </a:r>
          </a:p>
          <a:p>
            <a:r>
              <a:t>B01 | 2025-11-08 | Digital 2026: Saudi Arabia — DataReportal – Global Digital Insights</a:t>
            </a:r>
          </a:p>
          <a:p>
            <a:r>
              <a:t>https://datareportal.com/reports/digital-2026-saudi-arabia</a:t>
            </a:r>
          </a:p>
          <a:p>
            <a:r>
              <a:t>Scope: Published 8 November 2025. Background only; ad audience estimates are not unique active users or monthly growth.</a:t>
            </a:r>
          </a:p>
          <a:p>
            <a:r>
              <a:t>U03 | 2026-06-24 | Dubai Launches ‘Our Flexible Summer 2026’ for Government Employees, Enhancing Work-Life Balance and Productivity</a:t>
            </a:r>
          </a:p>
          <a:p>
            <a:r>
              <a:t>https://gulfnews.com/uae/dubai-announces-flexible-summer-working-hours-for-government-employees-1.500585772</a:t>
            </a:r>
          </a:p>
          <a:p>
            <a:r>
              <a:t>Scope: Applies to participating government staff, not all UAE workers. Timing implications are hypotheses.</a:t>
            </a:r>
          </a:p>
          <a:p>
            <a:r>
              <a:t>U01 | 2026-06-25 | Dubai Summer Surprises 2026: 60 Days of Shopping, Entertainment, Dining, Raffles and Family Fun in Dubai</a:t>
            </a:r>
          </a:p>
          <a:p>
            <a:r>
              <a:t>https://gulfnews.com/uae/dubai-summer-surprises-2026-opens-july-2-with-90-per-cent-sales-concerts-and-cash-prizes-1.500586720</a:t>
            </a:r>
          </a:p>
          <a:p>
            <a:r>
              <a:t>Scope: June announcement; ongoing context for July/August. This does not establish any of the five brands as an official participant.</a:t>
            </a:r>
          </a:p>
          <a:p>
            <a:r>
              <a:t>U04 | 2026-06-28 | UAE temperatures near 50°C: Police warn residents over car fire risks and tyre safety | Khaleej Times</a:t>
            </a:r>
          </a:p>
          <a:p>
            <a:r>
              <a:t>https://www.khaleejtimes.com/uae/dubai-police-motorist-safety-tyre-vehicle-inspection-summer-heat</a:t>
            </a:r>
          </a:p>
          <a:p>
            <a:r>
              <a:t>Scope: Reported police guidance; technical scripts need qualified review. Do not invent accident-risk reductions.</a:t>
            </a:r>
          </a:p>
          <a:p>
            <a:r>
              <a:t>U06 | 2026-06-07 | Up to Dh100 weekly savings: How UAE drivers are cutting costs after fuel price hike | Khaleej Times</a:t>
            </a:r>
          </a:p>
          <a:p>
            <a:r>
              <a:t>https://www.khaleejtimes.com/uae/transport/how-drivers-are-cutting-costs-after-fuel-price-hike</a:t>
            </a:r>
          </a:p>
          <a:p>
            <a:r>
              <a:t>Scope: Qualitative reporting; reported savings are not representative or transferable to AutoPro/NXT performance.</a:t>
            </a:r>
          </a:p>
          <a:p>
            <a:r>
              <a:t>R01 | 2026-06-25 | SelfDrive announces major fleet expansion and service enhancement across Saudi Arabia to meet escalating mobility demand</a:t>
            </a:r>
          </a:p>
          <a:p>
            <a:r>
              <a:t>https://gulfnews.com/business/corporate-news/selfdrive-announces-major-fleet-expansion-and-service-enhancement-across-saudi-arabia-to-meet-escalating-mobility-demand-1.500586776</a:t>
            </a:r>
          </a:p>
          <a:p>
            <a:r>
              <a:t>Scope: Corporate announcement: demand statements belong to the company and are not independently quantified or UAE used-car market data.</a:t>
            </a:r>
          </a:p>
          <a:p>
            <a:r>
              <a:t>U05 | 2026-06-28 | UAE consumer law protects second-hand car buyers from hidden defects and misleading sales | Khaleej Times</a:t>
            </a:r>
          </a:p>
          <a:p>
            <a:r>
              <a:t>https://www.khaleejtimes.com/uae/legal/uae-consumer-law-second-hand-car-buyer</a:t>
            </a:r>
          </a:p>
          <a:p>
            <a:r>
              <a:t>Scope: Secondary legal commentary with assumptions. Not a legal determination about NXT or any buyer; lawyer review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Sources:</a:t>
            </a:r>
          </a:p>
          <a:p>
            <a:r>
              <a:t>U01 | 2026-06-25 | Dubai Summer Surprises 2026: 60 Days of Shopping, Entertainment, Dining, Raffles and Family Fun in Dubai</a:t>
            </a:r>
          </a:p>
          <a:p>
            <a:r>
              <a:t>https://gulfnews.com/uae/dubai-summer-surprises-2026-opens-july-2-with-90-per-cent-sales-concerts-and-cash-prizes-1.500586720</a:t>
            </a:r>
          </a:p>
          <a:p>
            <a:r>
              <a:t>Scope: June announcement; ongoing context for July/August. This does not establish any of the five brands as an official participant.</a:t>
            </a:r>
          </a:p>
          <a:p>
            <a:r>
              <a:t>C02 | 2026-07-27 | Inside the UAE’s push towards a healthier food system</a:t>
            </a:r>
          </a:p>
          <a:p>
            <a:r>
              <a:t>https://www.foodnavigator.com/Article/2026/07/27/inside-the-uaes-push-towards-a-healthier-food-system/</a:t>
            </a:r>
          </a:p>
          <a:p>
            <a:r>
              <a:t>Scope: Policy direction, not a verified restriction on a specific cake campaign. Check current official rules and product claims.</a:t>
            </a:r>
          </a:p>
          <a:p>
            <a:r>
              <a:t>M01 | 2026-07-01 | Oman to Subsidise India-Oman Food Shipping Route to Boost National Food Security and Cut Logistics Costs</a:t>
            </a:r>
          </a:p>
          <a:p>
            <a:r>
              <a:t>https://gulfnews.com/business/markets/oman-to-subsidise-india-food-shipping-route-to-bolster-food-security-1.500593062</a:t>
            </a:r>
          </a:p>
          <a:p>
            <a:r>
              <a:t>Scope: Supply-chain policy, not evidence of canned-food or cake shortages, consumer panic or this brand’s sourcing.</a:t>
            </a:r>
          </a:p>
          <a:p>
            <a:r>
              <a:t>R02 | 2026-06-04 | Oman Recalls Godiva Kunafah &amp; Pistachio Milk Chocolate Bar Over Undeclared Egg Allergen Risk</a:t>
            </a:r>
          </a:p>
          <a:p>
            <a:r>
              <a:t>https://gulfnews.com/world/gulf/oman/oman-recalls-godiva-chocolate-bar-over-undeclared-egg-allergen-1.500562988</a:t>
            </a:r>
          </a:p>
          <a:p>
            <a:r>
              <a:t>Scope: Different brand/category example. No issue with Americana, California Garden or ZOOM is alleged. Use as an information-quality lesson.</a:t>
            </a:r>
          </a:p>
          <a:p>
            <a:r>
              <a:t>G11 | 2026-07-07 | 5 ways to build an engaged community with YouTube Shorts</a:t>
            </a:r>
          </a:p>
          <a:p>
            <a:r>
              <a:t>            </a:t>
            </a:r>
          </a:p>
          <a:p>
            <a:r>
              <a:t>          </a:t>
            </a:r>
          </a:p>
          <a:p>
            <a:r>
              <a:t>           - YouTube Blog</a:t>
            </a:r>
          </a:p>
          <a:p>
            <a:r>
              <a:t>https://blog.youtube/creator-and-artist-stories/grow-youtube-channel-interactive-shorts/</a:t>
            </a:r>
          </a:p>
          <a:p>
            <a:r>
              <a:t>Scope: Official usage guidance, not proof that the features improve brand performance or that every account has access.</a:t>
            </a:r>
          </a:p>
          <a:p>
            <a:r>
              <a:t>G02 | 2026-07-17 | The 2026 Summer of Football: A Record-Breaking Moment Across Meta</a:t>
            </a:r>
          </a:p>
          <a:p>
            <a:r>
              <a:t>https://about.fb.com/news/2026/07/the-2026-summer-of-football-a-record-breaking-moment-across-meta/</a:t>
            </a:r>
          </a:p>
          <a:p>
            <a:r>
              <a:t>Scope: Self-reported activity; not a UAE audience share, category sales effect or guarantee of branded reach.</a:t>
            </a:r>
          </a:p>
          <a:p>
            <a:r>
              <a:t>G12 | 2026-06-25 | How we're updating the YouTube Shorts experience</a:t>
            </a:r>
          </a:p>
          <a:p>
            <a:r>
              <a:t>            </a:t>
            </a:r>
          </a:p>
          <a:p>
            <a:r>
              <a:t>          </a:t>
            </a:r>
          </a:p>
          <a:p>
            <a:r>
              <a:t>           - YouTube Blog</a:t>
            </a:r>
          </a:p>
          <a:p>
            <a:r>
              <a:t>https://blog.youtube/news-and-events/youtube-shorts-experience-updates-features/</a:t>
            </a:r>
          </a:p>
          <a:p>
            <a:r>
              <a:t>Scope: A rollout announcement. Implications for clear on-video storytelling are editorial recommendations, not algorithm rules.</a:t>
            </a:r>
          </a:p>
          <a:p>
            <a:r>
              <a:t>C03 | 2026-06-28 | Middle East Focus: WALOVI Saudi growth, ASEAN halal and Calbee packs</a:t>
            </a:r>
          </a:p>
          <a:p>
            <a:r>
              <a:t>https://www.foodnavigator.com/Article/2026/06/29/middle-east-focus-walovi-saudi-growth-asean-halal-and-calbee-packs/</a:t>
            </a:r>
          </a:p>
          <a:p>
            <a:r>
              <a:t>Scope: Corporate expansion example, not quantified GCC beverage demand. Transfer cultural/distribution learning, not food-as-medicine claims.</a:t>
            </a:r>
          </a:p>
          <a:p>
            <a:r>
              <a:t>U07 | 2026-07-31 | UAE announces fuel prices: How much will a full tank cost in August 2026? | Khaleej Times</a:t>
            </a:r>
          </a:p>
          <a:p>
            <a:r>
              <a:t>https://www.khaleejtimes.com/business/energy/uae-fuel-prices-full-tank-cost-august-2026</a:t>
            </a:r>
          </a:p>
          <a:p>
            <a:r>
              <a:t>Scope: An August price announcement published in July. Never reuse these historical prices in a current sales post.</a:t>
            </a:r>
          </a:p>
          <a:p>
            <a:r>
              <a:t>U04 | 2026-06-28 | UAE temperatures near 50°C: Police warn residents over car fire risks and tyre safety | Khaleej Times</a:t>
            </a:r>
          </a:p>
          <a:p>
            <a:r>
              <a:t>https://www.khaleejtimes.com/uae/dubai-police-motorist-safety-tyre-vehicle-inspection-summer-heat</a:t>
            </a:r>
          </a:p>
          <a:p>
            <a:r>
              <a:t>Scope: Reported police guidance; technical scripts need qualified review. Do not invent accident-risk reductions.</a:t>
            </a:r>
          </a:p>
          <a:p>
            <a:r>
              <a:t>R01 | 2026-06-25 | SelfDrive announces major fleet expansion and service enhancement across Saudi Arabia to meet escalating mobility demand</a:t>
            </a:r>
          </a:p>
          <a:p>
            <a:r>
              <a:t>https://gulfnews.com/business/corporate-news/selfdrive-announces-major-fleet-expansion-and-service-enhancement-across-saudi-arabia-to-meet-escalating-mobility-demand-1.500586776</a:t>
            </a:r>
          </a:p>
          <a:p>
            <a:r>
              <a:t>Scope: Corporate announcement: demand statements belong to the company and are not independently quantified or UAE used-car market data.</a:t>
            </a:r>
          </a:p>
          <a:p>
            <a:r>
              <a:t>B01 | 2025-11-08 | Digital 2026: Saudi Arabia — DataReportal – Global Digital Insights</a:t>
            </a:r>
          </a:p>
          <a:p>
            <a:r>
              <a:t>https://datareportal.com/reports/digital-2026-saudi-arabia</a:t>
            </a:r>
          </a:p>
          <a:p>
            <a:r>
              <a:t>Scope: Published 8 November 2025. Background only; ad audience estimates are not unique active users or monthly growth.</a:t>
            </a:r>
          </a:p>
          <a:p>
            <a:r>
              <a:t>U05 | 2026-06-28 | UAE consumer law protects second-hand car buyers from hidden defects and misleading sales | Khaleej Times</a:t>
            </a:r>
          </a:p>
          <a:p>
            <a:r>
              <a:t>https://www.khaleejtimes.com/uae/legal/uae-consumer-law-second-hand-car-buyer</a:t>
            </a:r>
          </a:p>
          <a:p>
            <a:r>
              <a:t>Scope: Secondary legal commentary with assumptions. Not a legal determination about NXT or any buyer; lawyer review needed.</a:t>
            </a:r>
          </a:p>
          <a:p>
            <a:r>
              <a:t>G03 | 2026-07-24 | Introducing Seller, an App for Facebook Marketplace Sellers</a:t>
            </a:r>
          </a:p>
          <a:p>
            <a:r>
              <a:t>https://about.fb.com/news/2026/07/introducing-seller-app-facebook-marketplace/</a:t>
            </a:r>
          </a:p>
          <a:p>
            <a:r>
              <a:t>Scope: US users aged 18+ at launch. It is not established as available to NXT/UAE or as a dealer vehicle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Sources:</a:t>
            </a:r>
          </a:p>
          <a:p>
            <a:r>
              <a:t>U09 | 2026-08-12 | Budgeting, reusing supplies: How families in UAE are cutting back-to-school costs | Khaleej Times</a:t>
            </a:r>
          </a:p>
          <a:p>
            <a:r>
              <a:t>https://www.khaleejtimes.com/uae/schools-and-parents/how-families-in-uae-cutting-back-to-school-costs</a:t>
            </a:r>
          </a:p>
          <a:p>
            <a:r>
              <a:t>Scope: Qualitative family sample. Does not prove demand for cake or a particular canned-food SKU.</a:t>
            </a:r>
          </a:p>
          <a:p>
            <a:r>
              <a:t>U12 | 2026-08-05 | Where to eat for just Dh10 at 170 restaurants in Dubai this August | Khaleej Times</a:t>
            </a:r>
          </a:p>
          <a:p>
            <a:r>
              <a:t>https://www.khaleejtimes.com/lifestyle/dubai-summer-surprises-aed10-dishes-restaurants-august-2026</a:t>
            </a:r>
          </a:p>
          <a:p>
            <a:r>
              <a:t>Scope: Competitor/category activation example; ZOOM and Americana participation is not established. Prices were event-specific.</a:t>
            </a:r>
          </a:p>
          <a:p>
            <a:r>
              <a:t>U10 | 2026-08-12 | Talabat raises 2026 guidance as Q2 revenue climbs 16% to $1.1 billion | Khaleej Times</a:t>
            </a:r>
          </a:p>
          <a:p>
            <a:r>
              <a:t>https://www.khaleejtimes.com/lifestyle/food/talabat-raises-2026-guidance-as-q2-revenue-climbs-16-to-11-billion</a:t>
            </a:r>
          </a:p>
          <a:p>
            <a:r>
              <a:t>Scope: Company-reported aggregate including UAE. No country-level cake/canned-food sales or ZOOM partnership is established.</a:t>
            </a:r>
          </a:p>
          <a:p>
            <a:r>
              <a:t>R02 | 2026-06-04 | Oman Recalls Godiva Kunafah &amp; Pistachio Milk Chocolate Bar Over Undeclared Egg Allergen Risk</a:t>
            </a:r>
          </a:p>
          <a:p>
            <a:r>
              <a:t>https://gulfnews.com/world/gulf/oman/oman-recalls-godiva-chocolate-bar-over-undeclared-egg-allergen-1.500562988</a:t>
            </a:r>
          </a:p>
          <a:p>
            <a:r>
              <a:t>Scope: Different brand/category example. No issue with Americana, California Garden or ZOOM is alleged. Use as an information-quality lesson.</a:t>
            </a:r>
          </a:p>
          <a:p>
            <a:r>
              <a:t>G04 | 2026-08-25 | Introducing the Edits Film Festival to Spotlight India's Emerging Creator Talent</a:t>
            </a:r>
          </a:p>
          <a:p>
            <a:r>
              <a:t>https://about.fb.com/news/2026/08/introducing-the-edits-film-festival-to-spotlight-indias-emerging-creator-talent/</a:t>
            </a:r>
          </a:p>
          <a:p>
            <a:r>
              <a:t>Scope: An India-specific creative programme, not evidence of a worldwide algorithm preference. Date metadata is 25 August UTC; visible date is 24 August US time.</a:t>
            </a:r>
          </a:p>
          <a:p>
            <a:r>
              <a:t>G10 | 2026-08-31 | How morning routine videos are shaping daily habits on YouTube</a:t>
            </a:r>
          </a:p>
          <a:p>
            <a:r>
              <a:t>https://blog.youtube/culture-and-trends/morning-routine-videos-creator-trends/</a:t>
            </a:r>
          </a:p>
          <a:p>
            <a:r>
              <a:t>Scope: Uploads indicate creator supply, not audience demand. Global scope; not a UAE result. Available only at month end.</a:t>
            </a:r>
          </a:p>
          <a:p>
            <a:r>
              <a:t>U11 | 2026-08-05 | Cheapest grocery in UAE: Ministry to expand essential goods platform with more retailers | Khaleej Times</a:t>
            </a:r>
          </a:p>
          <a:p>
            <a:r>
              <a:t>https://www.khaleejtimes.com/business/cheapest-grocery-in-uae-ministry-to-expand-essential-goods-platform-with-more-retailers</a:t>
            </a:r>
          </a:p>
          <a:p>
            <a:r>
              <a:t>Scope: Price transparency is a policy signal, not proof this brand is listed or the cheapest.</a:t>
            </a:r>
          </a:p>
          <a:p>
            <a:r>
              <a:t>M01 | 2026-07-01 | Oman to Subsidise India-Oman Food Shipping Route to Boost National Food Security and Cut Logistics Costs</a:t>
            </a:r>
          </a:p>
          <a:p>
            <a:r>
              <a:t>https://gulfnews.com/business/markets/oman-to-subsidise-india-food-shipping-route-to-bolster-food-security-1.500593062</a:t>
            </a:r>
          </a:p>
          <a:p>
            <a:r>
              <a:t>Scope: Supply-chain policy, not evidence of canned-food or cake shortages, consumer panic or this brand’s sourcing.</a:t>
            </a:r>
          </a:p>
          <a:p>
            <a:r>
              <a:t>G07 | 2026-08-24 | Soup-To-Nuts Podcast: Instant food gets a flavorful, nutritious makeover</a:t>
            </a:r>
          </a:p>
          <a:p>
            <a:r>
              <a:t>https://www.foodnavigator.com/Article/2026/08/24/soup-to-nuts-podcast-instant-food-gets-a-flavorful-nutritious-makeover/</a:t>
            </a:r>
          </a:p>
          <a:p>
            <a:r>
              <a:t>Scope: Examples concern instant/freeze-dried food, not measured canned-food demand. A category analogy, not a health claim for California Garden.</a:t>
            </a:r>
          </a:p>
          <a:p>
            <a:r>
              <a:t>U13 | 2026-08-05 | UAE to Oman road trip guide: The perfect 48-hour itinerary | Khaleej Times</a:t>
            </a:r>
          </a:p>
          <a:p>
            <a:r>
              <a:t>https://www.khaleejtimes.com/lifestyle/uae-to-oman-48-hour-road-trip-guide-weekend</a:t>
            </a:r>
          </a:p>
          <a:p>
            <a:r>
              <a:t>Scope: Travel editorial, not demand data or official visa advice. Verify eligibility and entry rules afresh.</a:t>
            </a:r>
          </a:p>
          <a:p>
            <a:r>
              <a:t>G08 | 2026-08-31 | Soup-To-Nuts Podcast: What consumers want from functional beverages now</a:t>
            </a:r>
          </a:p>
          <a:p>
            <a:r>
              <a:t>https://www.foodnavigator.com/Article/2026/08/31/soup-to-nuts-podcast-what-consumers-want-from-functional-beverages-now/</a:t>
            </a:r>
          </a:p>
          <a:p>
            <a:r>
              <a:t>Scope: Ingredient and health claims are not transferable to ZOOM coffee or cake/canned products. Use occasion clarity, not invented functional benefits.</a:t>
            </a:r>
          </a:p>
          <a:p>
            <a:r>
              <a:t>M02 | 2026-08-14 | Free vehicle safety checks at ENOC AutoPro: Dubai Police launch ‘On The Go’ campaign for motorists until August 23</a:t>
            </a:r>
          </a:p>
          <a:p>
            <a:r>
              <a:t>https://gulfnews.com/uae/transport/dubai-police-offer-free-vehicle-inspections-at-enoc-autopro-centres-1.500641297</a:t>
            </a:r>
          </a:p>
          <a:p>
            <a:r>
              <a:t>Scope: Historical campaign; do not reuse an expired offer. Confirm terms and future campaigns directly with the client before publication.</a:t>
            </a:r>
          </a:p>
          <a:p>
            <a:r>
              <a:t>U08 | 2026-08-25 | RTA adds new roads, parking spaces around 6 Dubai school zones | Khaleej Times</a:t>
            </a:r>
          </a:p>
          <a:p>
            <a:r>
              <a:t>https://www.khaleejtimes.com/uae/dubai-rta-traffic-improvements-six-school-zones-safety-congestion</a:t>
            </a:r>
          </a:p>
          <a:p>
            <a:r>
              <a:t>Scope: Local infrastructure announcement; not evidence that every family follows the same commute.</a:t>
            </a:r>
          </a:p>
          <a:p>
            <a:r>
              <a:t>R01 | 2026-06-25 | SelfDrive announces major fleet expansion and service enhancement across Saudi Arabia to meet escalating mobility demand</a:t>
            </a:r>
          </a:p>
          <a:p>
            <a:r>
              <a:t>https://gulfnews.com/business/corporate-news/selfdrive-announces-major-fleet-expansion-and-service-enhancement-across-saudi-arabia-to-meet-escalating-mobility-demand-1.500586776</a:t>
            </a:r>
          </a:p>
          <a:p>
            <a:r>
              <a:t>Scope: Corporate announcement: demand statements belong to the company and are not independently quantified or UAE used-car market data.</a:t>
            </a:r>
          </a:p>
          <a:p>
            <a:r>
              <a:t>U14 | 2026-08-05 | Car parked under sun can hit 60ºC; UAE experts warn of heat exhaustion, skin burns | Khaleej Times</a:t>
            </a:r>
          </a:p>
          <a:p>
            <a:r>
              <a:t>https://www.khaleejtimes.com/uae/summer-heat-parked-cars-posing-hidden-safety-risks-experts</a:t>
            </a:r>
          </a:p>
          <a:p>
            <a:r>
              <a:t>Scope: Expert reporting; avoid dangerous demonstrations or unverified cooling-performance claims.</a:t>
            </a:r>
          </a:p>
          <a:p>
            <a:r>
              <a:t>M05 | 2026-08-01 | Tesla hits 10 million vehicles: The EV maker that forced the auto industry to change</a:t>
            </a:r>
          </a:p>
          <a:p>
            <a:r>
              <a:t>https://gulfnews.com/auto/news/tesla-hits-10-million-vehicles-the-ev-maker-that-forced-the-auto-industry-to-change-1.500627443</a:t>
            </a:r>
          </a:p>
          <a:p>
            <a:r>
              <a:t>Scope: Not UAE EV sales, used-EV inventory, buyer demand or proof a particular car has current software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Sources:</a:t>
            </a:r>
          </a:p>
          <a:p>
            <a:r>
              <a:t>U15 | 2026-09-02 | Dubai to get traffic light-style indicators on food product labels | Khaleej Times</a:t>
            </a:r>
          </a:p>
          <a:p>
            <a:r>
              <a:t>https://www.khaleejtimes.com/uae/dubai-traffic-light-style-indicators-on-food-product-labels</a:t>
            </a:r>
          </a:p>
          <a:p>
            <a:r>
              <a:t>Scope: News description, not a universal legal mandate or confirmation of a brand’s grade. Regulatory details need official verification.</a:t>
            </a:r>
          </a:p>
          <a:p>
            <a:r>
              <a:t>U16 | 2026-09-02 | Dubai inspects over 500 schools, checks food, AC, water tanks, pools, uniforms | Khaleej Times</a:t>
            </a:r>
          </a:p>
          <a:p>
            <a:r>
              <a:t>https://www.khaleejtimes.com/uae/education/dubai-municipality-schools-inspections-food-testing-checks</a:t>
            </a:r>
          </a:p>
          <a:p>
            <a:r>
              <a:t>Scope: Institutional food safety context; it does not endorse a cake or canned product for school meals.</a:t>
            </a:r>
          </a:p>
          <a:p>
            <a:r>
              <a:t>R03 | 2026-09-10 | Saudi Arabia National Day 2026: September 23 Holiday Announced for Private and Non-Profit Sector Employees</a:t>
            </a:r>
          </a:p>
          <a:p>
            <a:r>
              <a:t>https://gulfnews.com/world/gulf/saudi/saudi-arabia-announces-september-23-national-day-holiday-for-private-sector-1.500669260</a:t>
            </a:r>
          </a:p>
          <a:p>
            <a:r>
              <a:t>Scope: Saudi occasion, not a UAE holiday. Relevance depends on a genuine audience connection and approved cultural treatment.</a:t>
            </a:r>
          </a:p>
          <a:p>
            <a:r>
              <a:t>R02 | 2026-06-04 | Oman Recalls Godiva Kunafah &amp; Pistachio Milk Chocolate Bar Over Undeclared Egg Allergen Risk</a:t>
            </a:r>
          </a:p>
          <a:p>
            <a:r>
              <a:t>https://gulfnews.com/world/gulf/oman/oman-recalls-godiva-chocolate-bar-over-undeclared-egg-allergen-1.500562988</a:t>
            </a:r>
          </a:p>
          <a:p>
            <a:r>
              <a:t>Scope: Different brand/category example. No issue with Americana, California Garden or ZOOM is alleged. Use as an information-quality lesson.</a:t>
            </a:r>
          </a:p>
          <a:p>
            <a:r>
              <a:t>G06 | 2026-09-04 | Bento box tutorials bring calm organization to back-to-school lunches</a:t>
            </a:r>
          </a:p>
          <a:p>
            <a:r>
              <a:t>https://blog.youtube/culture-and-trends/youtube-bento-box-meal-prep-trend/</a:t>
            </a:r>
          </a:p>
          <a:p>
            <a:r>
              <a:t>Scope: Global platform-defined title set, not UAE views, unique users or branded performance. Use only in September, not as June-known intelligence.</a:t>
            </a:r>
          </a:p>
          <a:p>
            <a:r>
              <a:t>G05 | 2026-09-29 | Find Your Community With Forum, a Dedicated App for Facebook Groups</a:t>
            </a:r>
          </a:p>
          <a:p>
            <a:r>
              <a:t>https://about.fb.com/news/2026/09/find-community-forum-dedicated-app-facebook-groups/</a:t>
            </a:r>
          </a:p>
          <a:p>
            <a:r>
              <a:t>Scope: The app is US-only at the stated launch; UAE deployment is not recommended. Adapt the useful-answer mechanic on existing channels.</a:t>
            </a:r>
          </a:p>
          <a:p>
            <a:r>
              <a:t>U10 | 2026-08-12 | Talabat raises 2026 guidance as Q2 revenue climbs 16% to $1.1 billion | Khaleej Times</a:t>
            </a:r>
          </a:p>
          <a:p>
            <a:r>
              <a:t>https://www.khaleejtimes.com/lifestyle/food/talabat-raises-2026-guidance-as-q2-revenue-climbs-16-to-11-billion</a:t>
            </a:r>
          </a:p>
          <a:p>
            <a:r>
              <a:t>Scope: Company-reported aggregate including UAE. No country-level cake/canned-food sales or ZOOM partnership is established.</a:t>
            </a:r>
          </a:p>
          <a:p>
            <a:r>
              <a:t>G07 | 2026-08-24 | Soup-To-Nuts Podcast: Instant food gets a flavorful, nutritious makeover</a:t>
            </a:r>
          </a:p>
          <a:p>
            <a:r>
              <a:t>https://www.foodnavigator.com/Article/2026/08/24/soup-to-nuts-podcast-instant-food-gets-a-flavorful-nutritious-makeover/</a:t>
            </a:r>
          </a:p>
          <a:p>
            <a:r>
              <a:t>Scope: Examples concern instant/freeze-dried food, not measured canned-food demand. A category analogy, not a health claim for California Garden.</a:t>
            </a:r>
          </a:p>
          <a:p>
            <a:r>
              <a:t>U17 | 2026-09-10 | Why some Emiratis are spending up to Dh33,000 on coffee machines at home | Khaleej Times</a:t>
            </a:r>
          </a:p>
          <a:p>
            <a:r>
              <a:t>https://www.khaleejtimes.com/lifestyle/emiratis-spending-thousands-coffee-machines-home</a:t>
            </a:r>
          </a:p>
          <a:p>
            <a:r>
              <a:t>Scope: Small qualitative sample, not a population trend or evidence that convenience coffee demand fell.</a:t>
            </a:r>
          </a:p>
          <a:p>
            <a:r>
              <a:t>G10 | 2026-08-31 | How morning routine videos are shaping daily habits on YouTube</a:t>
            </a:r>
          </a:p>
          <a:p>
            <a:r>
              <a:t>https://blog.youtube/culture-and-trends/morning-routine-videos-creator-trends/</a:t>
            </a:r>
          </a:p>
          <a:p>
            <a:r>
              <a:t>Scope: Uploads indicate creator supply, not audience demand. Global scope; not a UAE result. Available only at month end.</a:t>
            </a:r>
          </a:p>
          <a:p>
            <a:r>
              <a:t>M02 | 2026-08-14 | Free vehicle safety checks at ENOC AutoPro: Dubai Police launch ‘On The Go’ campaign for motorists until August 23</a:t>
            </a:r>
          </a:p>
          <a:p>
            <a:r>
              <a:t>https://gulfnews.com/uae/transport/dubai-police-offer-free-vehicle-inspections-at-enoc-autopro-centres-1.500641297</a:t>
            </a:r>
          </a:p>
          <a:p>
            <a:r>
              <a:t>Scope: Historical campaign; do not reuse an expired offer. Confirm terms and future campaigns directly with the client before publication.</a:t>
            </a:r>
          </a:p>
          <a:p>
            <a:r>
              <a:t>M03 | 2026-09-01 | UAE Car Rentals Surge as Residents Delay Car Ownership, Embrace Flexible Monthly Leasing Amid Uncertainty</a:t>
            </a:r>
          </a:p>
          <a:p>
            <a:r>
              <a:t>https://gulfnews.com/business/retail/uae-car-rentals-surge-as-drivers-rethink-car-ownership-adopt-wait-and-watch-approach-1.500659088</a:t>
            </a:r>
          </a:p>
          <a:p>
            <a:r>
              <a:t>Scope: Industry interviews, not a representative used-car market survey or proof NXT sales fell.</a:t>
            </a:r>
          </a:p>
          <a:p>
            <a:r>
              <a:t>R05 | 2026-09-30 | Detail Empire expands premium automotive protection and car care offering across the GCC | Khaleej Times</a:t>
            </a:r>
          </a:p>
          <a:p>
            <a:r>
              <a:t>https://www.khaleejtimes.com/kt-network/detail-empire-expands-premium-automotive-protection-and-car-care-offering-across-the-gcc</a:t>
            </a:r>
          </a:p>
          <a:p>
            <a:r>
              <a:t>Scope: Promotional KT Network coverage. Evidence of company positioning, not an independent market-size or quality assessment.</a:t>
            </a:r>
          </a:p>
          <a:p>
            <a:r>
              <a:t>R04 | 2026-09-22 | Saudi Arabia Launches CEER EXOBOT Electric Cars as Kingdom Accelerates Domestic Auto Industry Push</a:t>
            </a:r>
          </a:p>
          <a:p>
            <a:r>
              <a:t>https://gulfnews.com/world/gulf/saudi/saudi-arabia-launches-ceers-first-electric-cars-as-kingdom-accelerates-auto-push-1.500683305</a:t>
            </a:r>
          </a:p>
          <a:p>
            <a:r>
              <a:t>Scope: A reported launch, not evidence of UAE availability, NXT inventory, used-EV demand or AutoPro service capability.</a:t>
            </a:r>
          </a:p>
          <a:p>
            <a:r>
              <a:t>G09 | 2026-09-06 | Auto detailing goes viral as car deep cleans capture over 150M ASMR views</a:t>
            </a:r>
          </a:p>
          <a:p>
            <a:r>
              <a:t>https://blog.youtube/culture-and-trends/auto-detailing-videos/</a:t>
            </a:r>
          </a:p>
          <a:p>
            <a:r>
              <a:t>Scope: Global title-based platform views, not unique people, UAE demand or an expected AutoPro/NXT result.</a:t>
            </a:r>
          </a:p>
          <a:p>
            <a:r>
              <a:t>M04 | 2026-09-28 | Toyota Tops UAE Used-Car Market for Value Retention, dubizzle Data Shows</a:t>
            </a:r>
          </a:p>
          <a:p>
            <a:r>
              <a:t>https://gulfnews.com/business/corporate-news/toyota-cars-hold-value-best-in-uae-used-car-market-says-dubizzle-1.500690790</a:t>
            </a:r>
          </a:p>
          <a:p>
            <a:r>
              <a:t>Scope: Corporate data with limited scope. Do not apply an average retained-value percentage to an individual NXT vehicle or guarantee resale value.</a:t>
            </a:r>
          </a:p>
          <a:p>
            <a:r>
              <a:t>R01 | 2026-06-25 | SelfDrive announces major fleet expansion and service enhancement across Saudi Arabia to meet escalating mobility demand</a:t>
            </a:r>
          </a:p>
          <a:p>
            <a:r>
              <a:t>https://gulfnews.com/business/corporate-news/selfdrive-announces-major-fleet-expansion-and-service-enhancement-across-saudi-arabia-to-meet-escalating-mobility-demand-1.500586776</a:t>
            </a:r>
          </a:p>
          <a:p>
            <a:r>
              <a:t>Scope: Corporate announcement: demand statements belong to the company and are not independently quantified or UAE used-car market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September creative recommendation; product, claim and inventory checks required before production.</a:t>
            </a:r>
          </a:p>
          <a:p/>
          <a:p>
            <a:r>
              <a:t>Sources:</a:t>
            </a:r>
          </a:p>
          <a:p>
            <a:r>
              <a:t>U15 | 2026-09-02 | Dubai to get traffic light-style indicators on food product labels | Khaleej Times</a:t>
            </a:r>
          </a:p>
          <a:p>
            <a:r>
              <a:t>https://www.khaleejtimes.com/uae/dubai-traffic-light-style-indicators-on-food-product-labels</a:t>
            </a:r>
          </a:p>
          <a:p>
            <a:r>
              <a:t>Scope: News description, not a universal legal mandate or confirmation of a brand’s grade. Regulatory details need official verification.</a:t>
            </a:r>
          </a:p>
          <a:p>
            <a:r>
              <a:t>U16 | 2026-09-02 | Dubai inspects over 500 schools, checks food, AC, water tanks, pools, uniforms | Khaleej Times</a:t>
            </a:r>
          </a:p>
          <a:p>
            <a:r>
              <a:t>https://www.khaleejtimes.com/uae/education/dubai-municipality-schools-inspections-food-testing-checks</a:t>
            </a:r>
          </a:p>
          <a:p>
            <a:r>
              <a:t>Scope: Institutional food safety context; it does not endorse a cake or canned product for school meals.</a:t>
            </a:r>
          </a:p>
          <a:p>
            <a:r>
              <a:t>R03 | 2026-09-10 | Saudi Arabia National Day 2026: September 23 Holiday Announced for Private and Non-Profit Sector Employees</a:t>
            </a:r>
          </a:p>
          <a:p>
            <a:r>
              <a:t>https://gulfnews.com/world/gulf/saudi/saudi-arabia-announces-september-23-national-day-holiday-for-private-sector-1.500669260</a:t>
            </a:r>
          </a:p>
          <a:p>
            <a:r>
              <a:t>Scope: Saudi occasion, not a UAE holiday. Relevance depends on a genuine audience connection and approved cultural treatment.</a:t>
            </a:r>
          </a:p>
          <a:p>
            <a:r>
              <a:t>R02 | 2026-06-04 | Oman Recalls Godiva Kunafah &amp; Pistachio Milk Chocolate Bar Over Undeclared Egg Allergen Risk</a:t>
            </a:r>
          </a:p>
          <a:p>
            <a:r>
              <a:t>https://gulfnews.com/world/gulf/oman/oman-recalls-godiva-chocolate-bar-over-undeclared-egg-allergen-1.500562988</a:t>
            </a:r>
          </a:p>
          <a:p>
            <a:r>
              <a:t>Scope: Different brand/category example. No issue with Americana, California Garden or ZOOM is alleged. Use as an information-quality lesson.</a:t>
            </a:r>
          </a:p>
          <a:p>
            <a:r>
              <a:t>G06 | 2026-09-04 | Bento box tutorials bring calm organization to back-to-school lunches</a:t>
            </a:r>
          </a:p>
          <a:p>
            <a:r>
              <a:t>https://blog.youtube/culture-and-trends/youtube-bento-box-meal-prep-trend/</a:t>
            </a:r>
          </a:p>
          <a:p>
            <a:r>
              <a:t>Scope: Global platform-defined title set, not UAE views, unique users or branded performance. Use only in September, not as June-known intelligence.</a:t>
            </a:r>
          </a:p>
          <a:p>
            <a:r>
              <a:t>G05 | 2026-09-29 | Find Your Community With Forum, a Dedicated App for Facebook Groups</a:t>
            </a:r>
          </a:p>
          <a:p>
            <a:r>
              <a:t>https://about.fb.com/news/2026/09/find-community-forum-dedicated-app-facebook-groups/</a:t>
            </a:r>
          </a:p>
          <a:p>
            <a:r>
              <a:t>Scope: The app is US-only at the stated launch; UAE deployment is not recommended. Adapt the useful-answer mechanic on existing channels.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September creative recommendation; product, claim and inventory checks required before production.</a:t>
            </a:r>
          </a:p>
          <a:p/>
          <a:p>
            <a:r>
              <a:t>Sources:</a:t>
            </a:r>
          </a:p>
          <a:p>
            <a:r>
              <a:t>U15 | 2026-09-02 | Dubai to get traffic light-style indicators on food product labels | Khaleej Times</a:t>
            </a:r>
          </a:p>
          <a:p>
            <a:r>
              <a:t>https://www.khaleejtimes.com/uae/dubai-traffic-light-style-indicators-on-food-product-labels</a:t>
            </a:r>
          </a:p>
          <a:p>
            <a:r>
              <a:t>Scope: News description, not a universal legal mandate or confirmation of a brand’s grade. Regulatory details need official verification.</a:t>
            </a:r>
          </a:p>
          <a:p>
            <a:r>
              <a:t>U16 | 2026-09-02 | Dubai inspects over 500 schools, checks food, AC, water tanks, pools, uniforms | Khaleej Times</a:t>
            </a:r>
          </a:p>
          <a:p>
            <a:r>
              <a:t>https://www.khaleejtimes.com/uae/education/dubai-municipality-schools-inspections-food-testing-checks</a:t>
            </a:r>
          </a:p>
          <a:p>
            <a:r>
              <a:t>Scope: Institutional food safety context; it does not endorse a cake or canned product for school meals.</a:t>
            </a:r>
          </a:p>
          <a:p>
            <a:r>
              <a:t>U10 | 2026-08-12 | Talabat raises 2026 guidance as Q2 revenue climbs 16% to $1.1 billion | Khaleej Times</a:t>
            </a:r>
          </a:p>
          <a:p>
            <a:r>
              <a:t>https://www.khaleejtimes.com/lifestyle/food/talabat-raises-2026-guidance-as-q2-revenue-climbs-16-to-11-billion</a:t>
            </a:r>
          </a:p>
          <a:p>
            <a:r>
              <a:t>Scope: Company-reported aggregate including UAE. No country-level cake/canned-food sales or ZOOM partnership is established.</a:t>
            </a:r>
          </a:p>
          <a:p>
            <a:r>
              <a:t>R03 | 2026-09-10 | Saudi Arabia National Day 2026: September 23 Holiday Announced for Private and Non-Profit Sector Employees</a:t>
            </a:r>
          </a:p>
          <a:p>
            <a:r>
              <a:t>https://gulfnews.com/world/gulf/saudi/saudi-arabia-announces-september-23-national-day-holiday-for-private-sector-1.500669260</a:t>
            </a:r>
          </a:p>
          <a:p>
            <a:r>
              <a:t>Scope: Saudi occasion, not a UAE holiday. Relevance depends on a genuine audience connection and approved cultural treatment.</a:t>
            </a:r>
          </a:p>
          <a:p>
            <a:r>
              <a:t>G06 | 2026-09-04 | Bento box tutorials bring calm organization to back-to-school lunches</a:t>
            </a:r>
          </a:p>
          <a:p>
            <a:r>
              <a:t>https://blog.youtube/culture-and-trends/youtube-bento-box-meal-prep-trend/</a:t>
            </a:r>
          </a:p>
          <a:p>
            <a:r>
              <a:t>Scope: Global platform-defined title set, not UAE views, unique users or branded performance. Use only in September, not as June-known intelligence.</a:t>
            </a:r>
          </a:p>
          <a:p>
            <a:r>
              <a:t>G07 | 2026-08-24 | Soup-To-Nuts Podcast: Instant food gets a flavorful, nutritious makeover</a:t>
            </a:r>
          </a:p>
          <a:p>
            <a:r>
              <a:t>https://www.foodnavigator.com/Article/2026/08/24/soup-to-nuts-podcast-instant-food-gets-a-flavorful-nutritious-makeover/</a:t>
            </a:r>
          </a:p>
          <a:p>
            <a:r>
              <a:t>Scope: Examples concern instant/freeze-dried food, not measured canned-food demand. A category analogy, not a health claim for California Garden.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September creative recommendation; product, claim and inventory checks required before production.</a:t>
            </a:r>
          </a:p>
          <a:p/>
          <a:p>
            <a:r>
              <a:t>Sources:</a:t>
            </a:r>
          </a:p>
          <a:p>
            <a:r>
              <a:t>U17 | 2026-09-10 | Why some Emiratis are spending up to Dh33,000 on coffee machines at home | Khaleej Times</a:t>
            </a:r>
          </a:p>
          <a:p>
            <a:r>
              <a:t>https://www.khaleejtimes.com/lifestyle/emiratis-spending-thousands-coffee-machines-home</a:t>
            </a:r>
          </a:p>
          <a:p>
            <a:r>
              <a:t>Scope: Small qualitative sample, not a population trend or evidence that convenience coffee demand fell.</a:t>
            </a:r>
          </a:p>
          <a:p>
            <a:r>
              <a:t>U15 | 2026-09-02 | Dubai to get traffic light-style indicators on food product labels | Khaleej Times</a:t>
            </a:r>
          </a:p>
          <a:p>
            <a:r>
              <a:t>https://www.khaleejtimes.com/uae/dubai-traffic-light-style-indicators-on-food-product-labels</a:t>
            </a:r>
          </a:p>
          <a:p>
            <a:r>
              <a:t>Scope: News description, not a universal legal mandate or confirmation of a brand’s grade. Regulatory details need official verification.</a:t>
            </a:r>
          </a:p>
          <a:p>
            <a:r>
              <a:t>U10 | 2026-08-12 | Talabat raises 2026 guidance as Q2 revenue climbs 16% to $1.1 billion | Khaleej Times</a:t>
            </a:r>
          </a:p>
          <a:p>
            <a:r>
              <a:t>https://www.khaleejtimes.com/lifestyle/food/talabat-raises-2026-guidance-as-q2-revenue-climbs-16-to-11-billion</a:t>
            </a:r>
          </a:p>
          <a:p>
            <a:r>
              <a:t>Scope: Company-reported aggregate including UAE. No country-level cake/canned-food sales or ZOOM partnership is established.</a:t>
            </a:r>
          </a:p>
          <a:p>
            <a:r>
              <a:t>R03 | 2026-09-10 | Saudi Arabia National Day 2026: September 23 Holiday Announced for Private and Non-Profit Sector Employees</a:t>
            </a:r>
          </a:p>
          <a:p>
            <a:r>
              <a:t>https://gulfnews.com/world/gulf/saudi/saudi-arabia-announces-september-23-national-day-holiday-for-private-sector-1.500669260</a:t>
            </a:r>
          </a:p>
          <a:p>
            <a:r>
              <a:t>Scope: Saudi occasion, not a UAE holiday. Relevance depends on a genuine audience connection and approved cultural treatment.</a:t>
            </a:r>
          </a:p>
          <a:p>
            <a:r>
              <a:t>G10 | 2026-08-31 | How morning routine videos are shaping daily habits on YouTube</a:t>
            </a:r>
          </a:p>
          <a:p>
            <a:r>
              <a:t>https://blog.youtube/culture-and-trends/morning-routine-videos-creator-trends/</a:t>
            </a:r>
          </a:p>
          <a:p>
            <a:r>
              <a:t>Scope: Uploads indicate creator supply, not audience demand. Global scope; not a UAE result. Available only at month end.</a:t>
            </a:r>
          </a:p>
          <a:p>
            <a:r>
              <a:t>G05 | 2026-09-29 | Find Your Community With Forum, a Dedicated App for Facebook Groups</a:t>
            </a:r>
          </a:p>
          <a:p>
            <a:r>
              <a:t>https://about.fb.com/news/2026/09/find-community-forum-dedicated-app-facebook-groups/</a:t>
            </a:r>
          </a:p>
          <a:p>
            <a:r>
              <a:t>Scope: The app is US-only at the stated launch; UAE deployment is not recommended. Adapt the useful-answer mechanic on existing channels.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September creative recommendation; product, claim and inventory checks required before production.</a:t>
            </a:r>
          </a:p>
          <a:p/>
          <a:p>
            <a:r>
              <a:t>Sources:</a:t>
            </a:r>
          </a:p>
          <a:p>
            <a:r>
              <a:t>M02 | 2026-08-14 | Free vehicle safety checks at ENOC AutoPro: Dubai Police launch ‘On The Go’ campaign for motorists until August 23</a:t>
            </a:r>
          </a:p>
          <a:p>
            <a:r>
              <a:t>https://gulfnews.com/uae/transport/dubai-police-offer-free-vehicle-inspections-at-enoc-autopro-centres-1.500641297</a:t>
            </a:r>
          </a:p>
          <a:p>
            <a:r>
              <a:t>Scope: Historical campaign; do not reuse an expired offer. Confirm terms and future campaigns directly with the client before publication.</a:t>
            </a:r>
          </a:p>
          <a:p>
            <a:r>
              <a:t>M03 | 2026-09-01 | UAE Car Rentals Surge as Residents Delay Car Ownership, Embrace Flexible Monthly Leasing Amid Uncertainty</a:t>
            </a:r>
          </a:p>
          <a:p>
            <a:r>
              <a:t>https://gulfnews.com/business/retail/uae-car-rentals-surge-as-drivers-rethink-car-ownership-adopt-wait-and-watch-approach-1.500659088</a:t>
            </a:r>
          </a:p>
          <a:p>
            <a:r>
              <a:t>Scope: Industry interviews, not a representative used-car market survey or proof NXT sales fell.</a:t>
            </a:r>
          </a:p>
          <a:p>
            <a:r>
              <a:t>R05 | 2026-09-30 | Detail Empire expands premium automotive protection and car care offering across the GCC | Khaleej Times</a:t>
            </a:r>
          </a:p>
          <a:p>
            <a:r>
              <a:t>https://www.khaleejtimes.com/kt-network/detail-empire-expands-premium-automotive-protection-and-car-care-offering-across-the-gcc</a:t>
            </a:r>
          </a:p>
          <a:p>
            <a:r>
              <a:t>Scope: Promotional KT Network coverage. Evidence of company positioning, not an independent market-size or quality assessment.</a:t>
            </a:r>
          </a:p>
          <a:p>
            <a:r>
              <a:t>R04 | 2026-09-22 | Saudi Arabia Launches CEER EXOBOT Electric Cars as Kingdom Accelerates Domestic Auto Industry Push</a:t>
            </a:r>
          </a:p>
          <a:p>
            <a:r>
              <a:t>https://gulfnews.com/world/gulf/saudi/saudi-arabia-launches-ceers-first-electric-cars-as-kingdom-accelerates-auto-push-1.500683305</a:t>
            </a:r>
          </a:p>
          <a:p>
            <a:r>
              <a:t>Scope: A reported launch, not evidence of UAE availability, NXT inventory, used-EV demand or AutoPro service capability.</a:t>
            </a:r>
          </a:p>
          <a:p>
            <a:r>
              <a:t>G09 | 2026-09-06 | Auto detailing goes viral as car deep cleans capture over 150M ASMR views</a:t>
            </a:r>
          </a:p>
          <a:p>
            <a:r>
              <a:t>https://blog.youtube/culture-and-trends/auto-detailing-videos/</a:t>
            </a:r>
          </a:p>
          <a:p>
            <a:r>
              <a:t>Scope: Global title-based platform views, not unique people, UAE demand or an expected AutoPro/NXT result.</a:t>
            </a:r>
          </a:p>
          <a:p>
            <a:r>
              <a:t>G05 | 2026-09-29 | Find Your Community With Forum, a Dedicated App for Facebook Groups</a:t>
            </a:r>
          </a:p>
          <a:p>
            <a:r>
              <a:t>https://about.fb.com/news/2026/09/find-community-forum-dedicated-app-facebook-groups/</a:t>
            </a:r>
          </a:p>
          <a:p>
            <a:r>
              <a:t>Scope: The app is US-only at the stated launch; UAE deployment is not recommended. Adapt the useful-answer mechanic on existing channels.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September creative recommendation; product, claim and inventory checks required before production.</a:t>
            </a:r>
          </a:p>
          <a:p/>
          <a:p>
            <a:r>
              <a:t>Sources:</a:t>
            </a:r>
          </a:p>
          <a:p>
            <a:r>
              <a:t>M03 | 2026-09-01 | UAE Car Rentals Surge as Residents Delay Car Ownership, Embrace Flexible Monthly Leasing Amid Uncertainty</a:t>
            </a:r>
          </a:p>
          <a:p>
            <a:r>
              <a:t>https://gulfnews.com/business/retail/uae-car-rentals-surge-as-drivers-rethink-car-ownership-adopt-wait-and-watch-approach-1.500659088</a:t>
            </a:r>
          </a:p>
          <a:p>
            <a:r>
              <a:t>Scope: Industry interviews, not a representative used-car market survey or proof NXT sales fell.</a:t>
            </a:r>
          </a:p>
          <a:p>
            <a:r>
              <a:t>M04 | 2026-09-28 | Toyota Tops UAE Used-Car Market for Value Retention, dubizzle Data Shows</a:t>
            </a:r>
          </a:p>
          <a:p>
            <a:r>
              <a:t>https://gulfnews.com/business/corporate-news/toyota-cars-hold-value-best-in-uae-used-car-market-says-dubizzle-1.500690790</a:t>
            </a:r>
          </a:p>
          <a:p>
            <a:r>
              <a:t>Scope: Corporate data with limited scope. Do not apply an average retained-value percentage to an individual NXT vehicle or guarantee resale value.</a:t>
            </a:r>
          </a:p>
          <a:p>
            <a:r>
              <a:t>R04 | 2026-09-22 | Saudi Arabia Launches CEER EXOBOT Electric Cars as Kingdom Accelerates Domestic Auto Industry Push</a:t>
            </a:r>
          </a:p>
          <a:p>
            <a:r>
              <a:t>https://gulfnews.com/world/gulf/saudi/saudi-arabia-launches-ceers-first-electric-cars-as-kingdom-accelerates-auto-push-1.500683305</a:t>
            </a:r>
          </a:p>
          <a:p>
            <a:r>
              <a:t>Scope: A reported launch, not evidence of UAE availability, NXT inventory, used-EV demand or AutoPro service capability.</a:t>
            </a:r>
          </a:p>
          <a:p>
            <a:r>
              <a:t>R01 | 2026-06-25 | SelfDrive announces major fleet expansion and service enhancement across Saudi Arabia to meet escalating mobility demand</a:t>
            </a:r>
          </a:p>
          <a:p>
            <a:r>
              <a:t>https://gulfnews.com/business/corporate-news/selfdrive-announces-major-fleet-expansion-and-service-enhancement-across-saudi-arabia-to-meet-escalating-mobility-demand-1.500586776</a:t>
            </a:r>
          </a:p>
          <a:p>
            <a:r>
              <a:t>Scope: Corporate announcement: demand statements belong to the company and are not independently quantified or UAE used-car market data.</a:t>
            </a:r>
          </a:p>
          <a:p>
            <a:r>
              <a:t>G09 | 2026-09-06 | Auto detailing goes viral as car deep cleans capture over 150M ASMR views</a:t>
            </a:r>
          </a:p>
          <a:p>
            <a:r>
              <a:t>https://blog.youtube/culture-and-trends/auto-detailing-videos/</a:t>
            </a:r>
          </a:p>
          <a:p>
            <a:r>
              <a:t>Scope: Global title-based platform views, not unique people, UAE demand or an expected AutoPro/NXT result.</a:t>
            </a:r>
          </a:p>
          <a:p>
            <a:r>
              <a:t>G05 | 2026-09-29 | Find Your Community With Forum, a Dedicated App for Facebook Groups</a:t>
            </a:r>
          </a:p>
          <a:p>
            <a:r>
              <a:t>https://about.fb.com/news/2026/09/find-community-forum-dedicated-app-facebook-groups/</a:t>
            </a:r>
          </a:p>
          <a:p>
            <a:r>
              <a:t>Scope: The app is US-only at the stated launch; UAE deployment is not recommended. Adapt the useful-answer mechanic on existing channels.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Sources:</a:t>
            </a:r>
          </a:p>
          <a:p>
            <a:r>
              <a:t>U11 | 2026-08-05 | Cheapest grocery in UAE: Ministry to expand essential goods platform with more retailers | Khaleej Times</a:t>
            </a:r>
          </a:p>
          <a:p>
            <a:r>
              <a:t>https://www.khaleejtimes.com/business/cheapest-grocery-in-uae-ministry-to-expand-essential-goods-platform-with-more-retailers</a:t>
            </a:r>
          </a:p>
          <a:p>
            <a:r>
              <a:t>Scope: Price transparency is a policy signal, not proof this brand is listed or the cheapest.</a:t>
            </a:r>
          </a:p>
          <a:p>
            <a:r>
              <a:t>U15 | 2026-09-02 | Dubai to get traffic light-style indicators on food product labels | Khaleej Times</a:t>
            </a:r>
          </a:p>
          <a:p>
            <a:r>
              <a:t>https://www.khaleejtimes.com/uae/dubai-traffic-light-style-indicators-on-food-product-labels</a:t>
            </a:r>
          </a:p>
          <a:p>
            <a:r>
              <a:t>Scope: News description, not a universal legal mandate or confirmation of a brand’s grade. Regulatory details need official verification.</a:t>
            </a:r>
          </a:p>
          <a:p>
            <a:r>
              <a:t>U08 | 2026-08-25 | RTA adds new roads, parking spaces around 6 Dubai school zones | Khaleej Times</a:t>
            </a:r>
          </a:p>
          <a:p>
            <a:r>
              <a:t>https://www.khaleejtimes.com/uae/dubai-rta-traffic-improvements-six-school-zones-safety-congestion</a:t>
            </a:r>
          </a:p>
          <a:p>
            <a:r>
              <a:t>Scope: Local infrastructure announcement; not evidence that every family follows the same commute.</a:t>
            </a:r>
          </a:p>
          <a:p>
            <a:r>
              <a:t>M02 | 2026-08-14 | Free vehicle safety checks at ENOC AutoPro: Dubai Police launch ‘On The Go’ campaign for motorists until August 23</a:t>
            </a:r>
          </a:p>
          <a:p>
            <a:r>
              <a:t>https://gulfnews.com/uae/transport/dubai-police-offer-free-vehicle-inspections-at-enoc-autopro-centres-1.500641297</a:t>
            </a:r>
          </a:p>
          <a:p>
            <a:r>
              <a:t>Scope: Historical campaign; do not reuse an expired offer. Confirm terms and future campaigns directly with the client before publication.</a:t>
            </a:r>
          </a:p>
          <a:p>
            <a:r>
              <a:t>M04 | 2026-09-28 | Toyota Tops UAE Used-Car Market for Value Retention, dubizzle Data Shows</a:t>
            </a:r>
          </a:p>
          <a:p>
            <a:r>
              <a:t>https://gulfnews.com/business/corporate-news/toyota-cars-hold-value-best-in-uae-used-car-market-says-dubizzle-1.500690790</a:t>
            </a:r>
          </a:p>
          <a:p>
            <a:r>
              <a:t>Scope: Corporate data with limited scope. Do not apply an average retained-value percentage to an individual NXT vehicle or guarantee resale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Sources:</a:t>
            </a:r>
          </a:p>
          <a:p>
            <a:r>
              <a:t>R03 | 2026-09-10 | Saudi Arabia National Day 2026: September 23 Holiday Announced for Private and Non-Profit Sector Employees</a:t>
            </a:r>
          </a:p>
          <a:p>
            <a:r>
              <a:t>https://gulfnews.com/world/gulf/saudi/saudi-arabia-announces-september-23-national-day-holiday-for-private-sector-1.500669260</a:t>
            </a:r>
          </a:p>
          <a:p>
            <a:r>
              <a:t>Scope: Saudi occasion, not a UAE holiday. Relevance depends on a genuine audience connection and approved cultural treatment.</a:t>
            </a:r>
          </a:p>
          <a:p>
            <a:r>
              <a:t>R02 | 2026-06-04 | Oman Recalls Godiva Kunafah &amp; Pistachio Milk Chocolate Bar Over Undeclared Egg Allergen Risk</a:t>
            </a:r>
          </a:p>
          <a:p>
            <a:r>
              <a:t>https://gulfnews.com/world/gulf/oman/oman-recalls-godiva-chocolate-bar-over-undeclared-egg-allergen-1.500562988</a:t>
            </a:r>
          </a:p>
          <a:p>
            <a:r>
              <a:t>Scope: Different brand/category example. No issue with Americana, California Garden or ZOOM is alleged. Use as an information-quality lesson.</a:t>
            </a:r>
          </a:p>
          <a:p>
            <a:r>
              <a:t>U13 | 2026-08-05 | UAE to Oman road trip guide: The perfect 48-hour itinerary | Khaleej Times</a:t>
            </a:r>
          </a:p>
          <a:p>
            <a:r>
              <a:t>https://www.khaleejtimes.com/lifestyle/uae-to-oman-48-hour-road-trip-guide-weekend</a:t>
            </a:r>
          </a:p>
          <a:p>
            <a:r>
              <a:t>Scope: Travel editorial, not demand data or official visa advice. Verify eligibility and entry rules afresh.</a:t>
            </a:r>
          </a:p>
          <a:p>
            <a:r>
              <a:t>U10 | 2026-08-12 | Talabat raises 2026 guidance as Q2 revenue climbs 16% to $1.1 billion | Khaleej Times</a:t>
            </a:r>
          </a:p>
          <a:p>
            <a:r>
              <a:t>https://www.khaleejtimes.com/lifestyle/food/talabat-raises-2026-guidance-as-q2-revenue-climbs-16-to-11-billion</a:t>
            </a:r>
          </a:p>
          <a:p>
            <a:r>
              <a:t>Scope: Company-reported aggregate including UAE. No country-level cake/canned-food sales or ZOOM partnership is established.</a:t>
            </a:r>
          </a:p>
          <a:p>
            <a:r>
              <a:t>B01 | 2025-11-08 | Digital 2026: Saudi Arabia — DataReportal – Global Digital Insights</a:t>
            </a:r>
          </a:p>
          <a:p>
            <a:r>
              <a:t>https://datareportal.com/reports/digital-2026-saudi-arabia</a:t>
            </a:r>
          </a:p>
          <a:p>
            <a:r>
              <a:t>Scope: Published 8 November 2025. Background only; ad audience estimates are not unique active users or monthly growth.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Sources:</a:t>
            </a:r>
          </a:p>
          <a:p>
            <a:r>
              <a:t>G06 | 2026-09-04 | Bento box tutorials bring calm organization to back-to-school lunches</a:t>
            </a:r>
          </a:p>
          <a:p>
            <a:r>
              <a:t>https://blog.youtube/culture-and-trends/youtube-bento-box-meal-prep-trend/</a:t>
            </a:r>
          </a:p>
          <a:p>
            <a:r>
              <a:t>Scope: Global platform-defined title set, not UAE views, unique users or branded performance. Use only in September, not as June-known intelligence.</a:t>
            </a:r>
          </a:p>
          <a:p>
            <a:r>
              <a:t>G09 | 2026-09-06 | Auto detailing goes viral as car deep cleans capture over 150M ASMR views</a:t>
            </a:r>
          </a:p>
          <a:p>
            <a:r>
              <a:t>https://blog.youtube/culture-and-trends/auto-detailing-videos/</a:t>
            </a:r>
          </a:p>
          <a:p>
            <a:r>
              <a:t>Scope: Global title-based platform views, not unique people, UAE demand or an expected AutoPro/NXT result.</a:t>
            </a:r>
          </a:p>
          <a:p>
            <a:r>
              <a:t>G10 | 2026-08-31 | How morning routine videos are shaping daily habits on YouTube</a:t>
            </a:r>
          </a:p>
          <a:p>
            <a:r>
              <a:t>https://blog.youtube/culture-and-trends/morning-routine-videos-creator-trends/</a:t>
            </a:r>
          </a:p>
          <a:p>
            <a:r>
              <a:t>Scope: Uploads indicate creator supply, not audience demand. Global scope; not a UAE result. Available only at month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Sources: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Sources: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Sources: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Sources: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Sources: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Sources: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Sources: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Sources:</a:t>
            </a:r>
          </a:p>
          <a:p>
            <a:r>
              <a:t>U01 | 2026-06-25 | Dubai Summer Surprises 2026: 60 Days of Shopping, Entertainment, Dining, Raffles and Family Fun in Dubai</a:t>
            </a:r>
          </a:p>
          <a:p>
            <a:r>
              <a:t>https://gulfnews.com/uae/dubai-summer-surprises-2026-opens-july-2-with-90-per-cent-sales-concerts-and-cash-prizes-1.500586720</a:t>
            </a:r>
          </a:p>
          <a:p>
            <a:r>
              <a:t>Scope: June announcement; ongoing context for July/August. This does not establish any of the five brands as an official participant.</a:t>
            </a:r>
          </a:p>
          <a:p>
            <a:r>
              <a:t>U02 | 2026-06-25 | UAE Steps Up Price Checks to Protect Shoppers, Stabilise Commodity Prices and Strengthen Consumer Protection</a:t>
            </a:r>
          </a:p>
          <a:p>
            <a:r>
              <a:t>https://gulfnews.com/business/retail/uae-steps-up-price-checks-to-protect-shoppers-1.500586593</a:t>
            </a:r>
          </a:p>
          <a:p>
            <a:r>
              <a:t>Scope: Regulatory/retail context; not a measured change in this brand’s customer spending.</a:t>
            </a:r>
          </a:p>
          <a:p>
            <a:r>
              <a:t>U03 | 2026-06-24 | Dubai Launches ‘Our Flexible Summer 2026’ for Government Employees, Enhancing Work-Life Balance and Productivity</a:t>
            </a:r>
          </a:p>
          <a:p>
            <a:r>
              <a:t>https://gulfnews.com/uae/dubai-announces-flexible-summer-working-hours-for-government-employees-1.500585772</a:t>
            </a:r>
          </a:p>
          <a:p>
            <a:r>
              <a:t>Scope: Applies to participating government staff, not all UAE workers. Timing implications are hypotheses.</a:t>
            </a:r>
          </a:p>
          <a:p>
            <a:r>
              <a:t>U04 | 2026-06-28 | UAE temperatures near 50°C: Police warn residents over car fire risks and tyre safety | Khaleej Times</a:t>
            </a:r>
          </a:p>
          <a:p>
            <a:r>
              <a:t>https://www.khaleejtimes.com/uae/dubai-police-motorist-safety-tyre-vehicle-inspection-summer-heat</a:t>
            </a:r>
          </a:p>
          <a:p>
            <a:r>
              <a:t>Scope: Reported police guidance; technical scripts need qualified review. Do not invent accident-risk reductions.</a:t>
            </a:r>
          </a:p>
          <a:p>
            <a:r>
              <a:t>U05 | 2026-06-28 | UAE consumer law protects second-hand car buyers from hidden defects and misleading sales | Khaleej Times</a:t>
            </a:r>
          </a:p>
          <a:p>
            <a:r>
              <a:t>https://www.khaleejtimes.com/uae/legal/uae-consumer-law-second-hand-car-buyer</a:t>
            </a:r>
          </a:p>
          <a:p>
            <a:r>
              <a:t>Scope: Secondary legal commentary with assumptions. Not a legal determination about NXT or any buyer; lawyer review needed.</a:t>
            </a:r>
          </a:p>
          <a:p>
            <a:r>
              <a:t>U06 | 2026-06-07 | Up to Dh100 weekly savings: How UAE drivers are cutting costs after fuel price hike | Khaleej Times</a:t>
            </a:r>
          </a:p>
          <a:p>
            <a:r>
              <a:t>https://www.khaleejtimes.com/uae/transport/how-drivers-are-cutting-costs-after-fuel-price-hike</a:t>
            </a:r>
          </a:p>
          <a:p>
            <a:r>
              <a:t>Scope: Qualitative reporting; reported savings are not representative or transferable to AutoPro/NXT performance.</a:t>
            </a:r>
          </a:p>
          <a:p>
            <a:r>
              <a:t>U07 | 2026-07-31 | UAE announces fuel prices: How much will a full tank cost in August 2026? | Khaleej Times</a:t>
            </a:r>
          </a:p>
          <a:p>
            <a:r>
              <a:t>https://www.khaleejtimes.com/business/energy/uae-fuel-prices-full-tank-cost-august-2026</a:t>
            </a:r>
          </a:p>
          <a:p>
            <a:r>
              <a:t>Scope: An August price announcement published in July. Never reuse these historical prices in a current sales post.</a:t>
            </a:r>
          </a:p>
          <a:p>
            <a:r>
              <a:t>U08 | 2026-08-25 | RTA adds new roads, parking spaces around 6 Dubai school zones | Khaleej Times</a:t>
            </a:r>
          </a:p>
          <a:p>
            <a:r>
              <a:t>https://www.khaleejtimes.com/uae/dubai-rta-traffic-improvements-six-school-zones-safety-congestion</a:t>
            </a:r>
          </a:p>
          <a:p>
            <a:r>
              <a:t>Scope: Local infrastructure announcement; not evidence that every family follows the same commute.</a:t>
            </a:r>
          </a:p>
          <a:p>
            <a:r>
              <a:t>U09 | 2026-08-12 | Budgeting, reusing supplies: How families in UAE are cutting back-to-school costs | Khaleej Times</a:t>
            </a:r>
          </a:p>
          <a:p>
            <a:r>
              <a:t>https://www.khaleejtimes.com/uae/schools-and-parents/how-families-in-uae-cutting-back-to-school-costs</a:t>
            </a:r>
          </a:p>
          <a:p>
            <a:r>
              <a:t>Scope: Qualitative family sample. Does not prove demand for cake or a particular canned-food SKU.</a:t>
            </a:r>
          </a:p>
          <a:p>
            <a:r>
              <a:t>U10 | 2026-08-12 | Talabat raises 2026 guidance as Q2 revenue climbs 16% to $1.1 billion | Khaleej Times</a:t>
            </a:r>
          </a:p>
          <a:p>
            <a:r>
              <a:t>https://www.khaleejtimes.com/lifestyle/food/talabat-raises-2026-guidance-as-q2-revenue-climbs-16-to-11-billion</a:t>
            </a:r>
          </a:p>
          <a:p>
            <a:r>
              <a:t>Scope: Company-reported aggregate including UAE. No country-level cake/canned-food sales or ZOOM partnership is established.</a:t>
            </a:r>
          </a:p>
          <a:p>
            <a:r>
              <a:t>U11 | 2026-08-05 | Cheapest grocery in UAE: Ministry to expand essential goods platform with more retailers | Khaleej Times</a:t>
            </a:r>
          </a:p>
          <a:p>
            <a:r>
              <a:t>https://www.khaleejtimes.com/business/cheapest-grocery-in-uae-ministry-to-expand-essential-goods-platform-with-more-retailers</a:t>
            </a:r>
          </a:p>
          <a:p>
            <a:r>
              <a:t>Scope: Price transparency is a policy signal, not proof this brand is listed or the cheapest.</a:t>
            </a:r>
          </a:p>
          <a:p>
            <a:r>
              <a:t>U12 | 2026-08-05 | Where to eat for just Dh10 at 170 restaurants in Dubai this August | Khaleej Times</a:t>
            </a:r>
          </a:p>
          <a:p>
            <a:r>
              <a:t>https://www.khaleejtimes.com/lifestyle/dubai-summer-surprises-aed10-dishes-restaurants-august-2026</a:t>
            </a:r>
          </a:p>
          <a:p>
            <a:r>
              <a:t>Scope: Competitor/category activation example; ZOOM and Americana participation is not established. Prices were event-specific.</a:t>
            </a:r>
          </a:p>
          <a:p>
            <a:r>
              <a:t>U13 | 2026-08-05 | UAE to Oman road trip guide: The perfect 48-hour itinerary | Khaleej Times</a:t>
            </a:r>
          </a:p>
          <a:p>
            <a:r>
              <a:t>https://www.khaleejtimes.com/lifestyle/uae-to-oman-48-hour-road-trip-guide-weekend</a:t>
            </a:r>
          </a:p>
          <a:p>
            <a:r>
              <a:t>Scope: Travel editorial, not demand data or official visa advice. Verify eligibility and entry rules afresh.</a:t>
            </a:r>
          </a:p>
          <a:p>
            <a:r>
              <a:t>U14 | 2026-08-05 | Car parked under sun can hit 60ºC; UAE experts warn of heat exhaustion, skin burns | Khaleej Times</a:t>
            </a:r>
          </a:p>
          <a:p>
            <a:r>
              <a:t>https://www.khaleejtimes.com/uae/summer-heat-parked-cars-posing-hidden-safety-risks-experts</a:t>
            </a:r>
          </a:p>
          <a:p>
            <a:r>
              <a:t>Scope: Expert reporting; avoid dangerous demonstrations or unverified cooling-performance claims.</a:t>
            </a:r>
          </a:p>
          <a:p>
            <a:r>
              <a:t>U15 | 2026-09-02 | Dubai to get traffic light-style indicators on food product labels | Khaleej Times</a:t>
            </a:r>
          </a:p>
          <a:p>
            <a:r>
              <a:t>https://www.khaleejtimes.com/uae/dubai-traffic-light-style-indicators-on-food-product-labels</a:t>
            </a:r>
          </a:p>
          <a:p>
            <a:r>
              <a:t>Scope: News description, not a universal legal mandate or confirmation of a brand’s grade. Regulatory details need official verification.</a:t>
            </a:r>
          </a:p>
          <a:p>
            <a:r>
              <a:t>U16 | 2026-09-02 | Dubai inspects over 500 schools, checks food, AC, water tanks, pools, uniforms | Khaleej Times</a:t>
            </a:r>
          </a:p>
          <a:p>
            <a:r>
              <a:t>https://www.khaleejtimes.com/uae/education/dubai-municipality-schools-inspections-food-testing-checks</a:t>
            </a:r>
          </a:p>
          <a:p>
            <a:r>
              <a:t>Scope: Institutional food safety context; it does not endorse a cake or canned product for school meals.</a:t>
            </a:r>
          </a:p>
          <a:p>
            <a:r>
              <a:t>U17 | 2026-09-10 | Why some Emiratis are spending up to Dh33,000 on coffee machines at home | Khaleej Times</a:t>
            </a:r>
          </a:p>
          <a:p>
            <a:r>
              <a:t>https://www.khaleejtimes.com/lifestyle/emiratis-spending-thousands-coffee-machines-home</a:t>
            </a:r>
          </a:p>
          <a:p>
            <a:r>
              <a:t>Scope: Small qualitative sample, not a population trend or evidence that convenience coffee demand fell.</a:t>
            </a:r>
          </a:p>
          <a:p>
            <a:r>
              <a:t>R01 | 2026-06-25 | SelfDrive announces major fleet expansion and service enhancement across Saudi Arabia to meet escalating mobility demand</a:t>
            </a:r>
          </a:p>
          <a:p>
            <a:r>
              <a:t>https://gulfnews.com/business/corporate-news/selfdrive-announces-major-fleet-expansion-and-service-enhancement-across-saudi-arabia-to-meet-escalating-mobility-demand-1.500586776</a:t>
            </a:r>
          </a:p>
          <a:p>
            <a:r>
              <a:t>Scope: Corporate announcement: demand statements belong to the company and are not independently quantified or UAE used-car market data.</a:t>
            </a:r>
          </a:p>
          <a:p>
            <a:r>
              <a:t>R02 | 2026-06-04 | Oman Recalls Godiva Kunafah &amp; Pistachio Milk Chocolate Bar Over Undeclared Egg Allergen Risk</a:t>
            </a:r>
          </a:p>
          <a:p>
            <a:r>
              <a:t>https://gulfnews.com/world/gulf/oman/oman-recalls-godiva-chocolate-bar-over-undeclared-egg-allergen-1.500562988</a:t>
            </a:r>
          </a:p>
          <a:p>
            <a:r>
              <a:t>Scope: Different brand/category example. No issue with Americana, California Garden or ZOOM is alleged. Use as an information-quality lesson.</a:t>
            </a:r>
          </a:p>
          <a:p>
            <a:r>
              <a:t>R03 | 2026-09-10 | Saudi Arabia National Day 2026: September 23 Holiday Announced for Private and Non-Profit Sector Employees</a:t>
            </a:r>
          </a:p>
          <a:p>
            <a:r>
              <a:t>https://gulfnews.com/world/gulf/saudi/saudi-arabia-announces-september-23-national-day-holiday-for-private-sector-1.500669260</a:t>
            </a:r>
          </a:p>
          <a:p>
            <a:r>
              <a:t>Scope: Saudi occasion, not a UAE holiday. Relevance depends on a genuine audience connection and approved cultural treatment.</a:t>
            </a:r>
          </a:p>
          <a:p>
            <a:r>
              <a:t>R04 | 2026-09-22 | Saudi Arabia Launches CEER EXOBOT Electric Cars as Kingdom Accelerates Domestic Auto Industry Push</a:t>
            </a:r>
          </a:p>
          <a:p>
            <a:r>
              <a:t>https://gulfnews.com/world/gulf/saudi/saudi-arabia-launches-ceers-first-electric-cars-as-kingdom-accelerates-auto-push-1.500683305</a:t>
            </a:r>
          </a:p>
          <a:p>
            <a:r>
              <a:t>Scope: A reported launch, not evidence of UAE availability, NXT inventory, used-EV demand or AutoPro service capability.</a:t>
            </a:r>
          </a:p>
          <a:p>
            <a:r>
              <a:t>R05 | 2026-09-30 | Detail Empire expands premium automotive protection and car care offering across the GCC | Khaleej Times</a:t>
            </a:r>
          </a:p>
          <a:p>
            <a:r>
              <a:t>https://www.khaleejtimes.com/kt-network/detail-empire-expands-premium-automotive-protection-and-car-care-offering-across-the-gcc</a:t>
            </a:r>
          </a:p>
          <a:p>
            <a:r>
              <a:t>Scope: Promotional KT Network coverage. Evidence of company positioning, not an independent market-size or quality assessment.</a:t>
            </a:r>
          </a:p>
          <a:p>
            <a:r>
              <a:t>R06 | 2026-09-18 | 50% of cyberattacks in Gulf targeted UAE, Saudi Arabia in first half of 2026: Report | Khaleej Times</a:t>
            </a:r>
          </a:p>
          <a:p>
            <a:r>
              <a:t>https://www.khaleejtimes.com/business/50-cyberattacks-uae-saudi-arabia-first-half-2026-report</a:t>
            </a:r>
          </a:p>
          <a:p>
            <a:r>
              <a:t>Scope: The study covers a wider Gulf geography; do not equate it with a GCC census or infer these brands were attacked.</a:t>
            </a:r>
          </a:p>
          <a:p>
            <a:r>
              <a:t>G01 | 2026-06-11 | Going All in for Global Football Fans Across Meta Apps</a:t>
            </a:r>
          </a:p>
          <a:p>
            <a:r>
              <a:t>https://about.fb.com/news/2026/06/going-all-in-for-global-football-fans-across-meta-apps/</a:t>
            </a:r>
          </a:p>
          <a:p>
            <a:r>
              <a:t>Scope: Platform announcement, not brand engagement evidence or permission to use tournament marks.</a:t>
            </a:r>
          </a:p>
          <a:p>
            <a:r>
              <a:t>G02 | 2026-07-17 | The 2026 Summer of Football: A Record-Breaking Moment Across Meta</a:t>
            </a:r>
          </a:p>
          <a:p>
            <a:r>
              <a:t>https://about.fb.com/news/2026/07/the-2026-summer-of-football-a-record-breaking-moment-across-meta/</a:t>
            </a:r>
          </a:p>
          <a:p>
            <a:r>
              <a:t>Scope: Self-reported activity; not a UAE audience share, category sales effect or guarantee of branded reach.</a:t>
            </a:r>
          </a:p>
          <a:p>
            <a:r>
              <a:t>G03 | 2026-07-24 | Introducing Seller, an App for Facebook Marketplace Sellers</a:t>
            </a:r>
          </a:p>
          <a:p>
            <a:r>
              <a:t>https://about.fb.com/news/2026/07/introducing-seller-app-facebook-marketplace/</a:t>
            </a:r>
          </a:p>
          <a:p>
            <a:r>
              <a:t>Scope: US users aged 18+ at launch. It is not established as available to NXT/UAE or as a dealer vehicle solution.</a:t>
            </a:r>
          </a:p>
          <a:p>
            <a:r>
              <a:t>G04 | 2026-08-25 | Introducing the Edits Film Festival to Spotlight India's Emerging Creator Talent</a:t>
            </a:r>
          </a:p>
          <a:p>
            <a:r>
              <a:t>https://about.fb.com/news/2026/08/introducing-the-edits-film-festival-to-spotlight-indias-emerging-creator-talent/</a:t>
            </a:r>
          </a:p>
          <a:p>
            <a:r>
              <a:t>Scope: An India-specific creative programme, not evidence of a worldwide algorithm preference. Date metadata is 25 August UTC; visible date is 24 August US time.</a:t>
            </a:r>
          </a:p>
          <a:p>
            <a:r>
              <a:t>G05 | 2026-09-29 | Find Your Community With Forum, a Dedicated App for Facebook Groups</a:t>
            </a:r>
          </a:p>
          <a:p>
            <a:r>
              <a:t>https://about.fb.com/news/2026/09/find-community-forum-dedicated-app-facebook-groups/</a:t>
            </a:r>
          </a:p>
          <a:p>
            <a:r>
              <a:t>Scope: The app is US-only at the stated launch; UAE deployment is not recommended. Adapt the useful-answer mechanic on existing channels.</a:t>
            </a:r>
          </a:p>
          <a:p>
            <a:r>
              <a:t>G06 | 2026-09-04 | Bento box tutorials bring calm organization to back-to-school lunches</a:t>
            </a:r>
          </a:p>
          <a:p>
            <a:r>
              <a:t>https://blog.youtube/culture-and-trends/youtube-bento-box-meal-prep-trend/</a:t>
            </a:r>
          </a:p>
          <a:p>
            <a:r>
              <a:t>Scope: Global platform-defined title set, not UAE views, unique users or branded performance. Use only in September, not as June-known intelligence.</a:t>
            </a:r>
          </a:p>
          <a:p>
            <a:r>
              <a:t>G07 | 2026-08-24 | Soup-To-Nuts Podcast: Instant food gets a flavorful, nutritious makeover</a:t>
            </a:r>
          </a:p>
          <a:p>
            <a:r>
              <a:t>https://www.foodnavigator.com/Article/2026/08/24/soup-to-nuts-podcast-instant-food-gets-a-flavorful-nutritious-makeover/</a:t>
            </a:r>
          </a:p>
          <a:p>
            <a:r>
              <a:t>Scope: Examples concern instant/freeze-dried food, not measured canned-food demand. A category analogy, not a health claim for California Garden.</a:t>
            </a:r>
          </a:p>
          <a:p>
            <a:r>
              <a:t>G08 | 2026-08-31 | Soup-To-Nuts Podcast: What consumers want from functional beverages now</a:t>
            </a:r>
          </a:p>
          <a:p>
            <a:r>
              <a:t>https://www.foodnavigator.com/Article/2026/08/31/soup-to-nuts-podcast-what-consumers-want-from-functional-beverages-now/</a:t>
            </a:r>
          </a:p>
          <a:p>
            <a:r>
              <a:t>Scope: Ingredient and health claims are not transferable to ZOOM coffee or cake/canned products. Use occasion clarity, not invented functional benefits.</a:t>
            </a:r>
          </a:p>
          <a:p>
            <a:r>
              <a:t>G09 | 2026-09-06 | Auto detailing goes viral as car deep cleans capture over 150M ASMR views</a:t>
            </a:r>
          </a:p>
          <a:p>
            <a:r>
              <a:t>https://blog.youtube/culture-and-trends/auto-detailing-videos/</a:t>
            </a:r>
          </a:p>
          <a:p>
            <a:r>
              <a:t>Scope: Global title-based platform views, not unique people, UAE demand or an expected AutoPro/NXT result.</a:t>
            </a:r>
          </a:p>
          <a:p>
            <a:r>
              <a:t>G10 | 2026-08-31 | How morning routine videos are shaping daily habits on YouTube</a:t>
            </a:r>
          </a:p>
          <a:p>
            <a:r>
              <a:t>https://blog.youtube/culture-and-trends/morning-routine-videos-creator-trends/</a:t>
            </a:r>
          </a:p>
          <a:p>
            <a:r>
              <a:t>Scope: Uploads indicate creator supply, not audience demand. Global scope; not a UAE result. Available only at month end.</a:t>
            </a:r>
          </a:p>
          <a:p>
            <a:r>
              <a:t>G11 | 2026-07-07 | 5 ways to build an engaged community with YouTube Shorts</a:t>
            </a:r>
          </a:p>
          <a:p>
            <a:r>
              <a:t>            </a:t>
            </a:r>
          </a:p>
          <a:p>
            <a:r>
              <a:t>          </a:t>
            </a:r>
          </a:p>
          <a:p>
            <a:r>
              <a:t>           - YouTube Blog</a:t>
            </a:r>
          </a:p>
          <a:p>
            <a:r>
              <a:t>https://blog.youtube/creator-and-artist-stories/grow-youtube-channel-interactive-shorts/</a:t>
            </a:r>
          </a:p>
          <a:p>
            <a:r>
              <a:t>Scope: Official usage guidance, not proof that the features improve brand performance or that every account has access.</a:t>
            </a:r>
          </a:p>
          <a:p>
            <a:r>
              <a:t>G12 | 2026-06-25 | How we're updating the YouTube Shorts experience</a:t>
            </a:r>
          </a:p>
          <a:p>
            <a:r>
              <a:t>            </a:t>
            </a:r>
          </a:p>
          <a:p>
            <a:r>
              <a:t>          </a:t>
            </a:r>
          </a:p>
          <a:p>
            <a:r>
              <a:t>           - YouTube Blog</a:t>
            </a:r>
          </a:p>
          <a:p>
            <a:r>
              <a:t>https://blog.youtube/news-and-events/youtube-shorts-experience-updates-features/</a:t>
            </a:r>
          </a:p>
          <a:p>
            <a:r>
              <a:t>Scope: A rollout announcement. Implications for clear on-video storytelling are editorial recommendations, not algorithm rules.</a:t>
            </a:r>
          </a:p>
          <a:p>
            <a:r>
              <a:t>B01 | 2025-11-08 | Digital 2026: Saudi Arabia — DataReportal – Global Digital Insights</a:t>
            </a:r>
          </a:p>
          <a:p>
            <a:r>
              <a:t>https://datareportal.com/reports/digital-2026-saudi-arabia</a:t>
            </a:r>
          </a:p>
          <a:p>
            <a:r>
              <a:t>Scope: Published 8 November 2025. Background only; ad audience estimates are not unique active users or monthly growth.</a:t>
            </a:r>
          </a:p>
          <a:p>
            <a:r>
              <a:t>B02 | 2025-11-05 | Digital 2026: The United Arab Emirates — DataReportal – Global Digital Insights</a:t>
            </a:r>
          </a:p>
          <a:p>
            <a:r>
              <a:t>https://datareportal.com/reports/digital-2026-united-arab-emirates</a:t>
            </a:r>
          </a:p>
          <a:p>
            <a:r>
              <a:t>Scope: Published 5 November 2025. Background only; not a June–September trend or reliable cross-platform sum.</a:t>
            </a:r>
          </a:p>
          <a:p>
            <a:r>
              <a:t>M01 | 2026-07-01 | Oman to Subsidise India-Oman Food Shipping Route to Boost National Food Security and Cut Logistics Costs</a:t>
            </a:r>
          </a:p>
          <a:p>
            <a:r>
              <a:t>https://gulfnews.com/business/markets/oman-to-subsidise-india-food-shipping-route-to-bolster-food-security-1.500593062</a:t>
            </a:r>
          </a:p>
          <a:p>
            <a:r>
              <a:t>Scope: Supply-chain policy, not evidence of canned-food or cake shortages, consumer panic or this brand’s sourcing.</a:t>
            </a:r>
          </a:p>
          <a:p>
            <a:r>
              <a:t>M05 | 2026-08-01 | Tesla hits 10 million vehicles: The EV maker that forced the auto industry to change</a:t>
            </a:r>
          </a:p>
          <a:p>
            <a:r>
              <a:t>https://gulfnews.com/auto/news/tesla-hits-10-million-vehicles-the-ev-maker-that-forced-the-auto-industry-to-change-1.500627443</a:t>
            </a:r>
          </a:p>
          <a:p>
            <a:r>
              <a:t>Scope: Not UAE EV sales, used-EV inventory, buyer demand or proof a particular car has current software support.</a:t>
            </a:r>
          </a:p>
          <a:p>
            <a:r>
              <a:t>M02 | 2026-08-14 | Free vehicle safety checks at ENOC AutoPro: Dubai Police launch ‘On The Go’ campaign for motorists until August 23</a:t>
            </a:r>
          </a:p>
          <a:p>
            <a:r>
              <a:t>https://gulfnews.com/uae/transport/dubai-police-offer-free-vehicle-inspections-at-enoc-autopro-centres-1.500641297</a:t>
            </a:r>
          </a:p>
          <a:p>
            <a:r>
              <a:t>Scope: Historical campaign; do not reuse an expired offer. Confirm terms and future campaigns directly with the client before publication.</a:t>
            </a:r>
          </a:p>
          <a:p>
            <a:r>
              <a:t>M03 | 2026-09-01 | UAE Car Rentals Surge as Residents Delay Car Ownership, Embrace Flexible Monthly Leasing Amid Uncertainty</a:t>
            </a:r>
          </a:p>
          <a:p>
            <a:r>
              <a:t>https://gulfnews.com/business/retail/uae-car-rentals-surge-as-drivers-rethink-car-ownership-adopt-wait-and-watch-approach-1.500659088</a:t>
            </a:r>
          </a:p>
          <a:p>
            <a:r>
              <a:t>Scope: Industry interviews, not a representative used-car market survey or proof NXT sales fell.</a:t>
            </a:r>
          </a:p>
          <a:p>
            <a:r>
              <a:t>M04 | 2026-09-28 | Toyota Tops UAE Used-Car Market for Value Retention, dubizzle Data Shows</a:t>
            </a:r>
          </a:p>
          <a:p>
            <a:r>
              <a:t>https://gulfnews.com/business/corporate-news/toyota-cars-hold-value-best-in-uae-used-car-market-says-dubizzle-1.500690790</a:t>
            </a:r>
          </a:p>
          <a:p>
            <a:r>
              <a:t>Scope: Corporate data with limited scope. Do not apply an average retained-value percentage to an individual NXT vehicle or guarantee resale value.</a:t>
            </a:r>
          </a:p>
          <a:p>
            <a:r>
              <a:t>C02 | 2026-07-27 | Inside the UAE’s push towards a healthier food system</a:t>
            </a:r>
          </a:p>
          <a:p>
            <a:r>
              <a:t>https://www.foodnavigator.com/Article/2026/07/27/inside-the-uaes-push-towards-a-healthier-food-system/</a:t>
            </a:r>
          </a:p>
          <a:p>
            <a:r>
              <a:t>Scope: Policy direction, not a verified restriction on a specific cake campaign. Check current official rules and product claims.</a:t>
            </a:r>
          </a:p>
          <a:p>
            <a:r>
              <a:t>C03 | 2026-06-28 | Middle East Focus: WALOVI Saudi growth, ASEAN halal and Calbee packs</a:t>
            </a:r>
          </a:p>
          <a:p>
            <a:r>
              <a:t>https://www.foodnavigator.com/Article/2026/06/29/middle-east-focus-walovi-saudi-growth-asean-halal-and-calbee-packs/</a:t>
            </a:r>
          </a:p>
          <a:p>
            <a:r>
              <a:t>Scope: Corporate expansion example, not quantified GCC beverage demand. Transfer cultural/distribution learning, not food-as-medicine claims.</a:t>
            </a:r>
          </a:p>
          <a:p>
            <a:r>
              <a:t>C01 | 2026-06-23 | UAE’s Nutri Mark nutrition labelling system goes digital</a:t>
            </a:r>
          </a:p>
          <a:p>
            <a:r>
              <a:t>https://www.foodnavigator.com/Article/2026/06/23/uaes-nutri-mark-nutrition-labelling-system-goes-digital/</a:t>
            </a:r>
          </a:p>
          <a:p>
            <a:r>
              <a:t>Scope: Secondary reporting; do not claim all products carry grades or that a brand has achieved a grade. Official applicability requires checking.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945C6"/>
                </a:solidFill>
                <a:latin typeface="Arial"/>
              </a:defRPr>
            </a:pPr>
            <a:r>
              <a:t>MANAGEMENT BRIEFING • JUNE–SEPTEMBER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202135"/>
                </a:solidFill>
                <a:latin typeface="Arial"/>
              </a:defRPr>
            </a:pPr>
            <a:r>
              <a:t>Better evidence. Better monthly ideas.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26579"/>
                </a:solidFill>
                <a:latin typeface="Arial"/>
              </a:defRPr>
            </a:pPr>
            <a:r>
              <a:t>C2 • Public-source intelligence | Reconstructed 8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26579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800" b="1">
                <a:solidFill>
                  <a:srgbClr val="202135"/>
                </a:solidFill>
                <a:latin typeface="Arial"/>
              </a:defRPr>
            </a:pPr>
            <a:r>
              <a:t>Five brands. Four months.</a:t>
            </a:r>
          </a:p>
          <a:p>
            <a:pPr>
              <a:spcAft>
                <a:spcPts val="1000"/>
              </a:spcAft>
              <a:defRPr sz="3800" b="1">
                <a:solidFill>
                  <a:srgbClr val="202135"/>
                </a:solidFill>
                <a:latin typeface="Arial"/>
              </a:defRPr>
            </a:pPr>
            <a:r>
              <a:t>Twenty focused reports.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60520"/>
            <a:ext cx="9144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202135"/>
                </a:solidFill>
                <a:latin typeface="Arial"/>
              </a:defRPr>
            </a:pPr>
            <a:r>
              <a:t>UAE → GCC → global</a:t>
            </a:r>
          </a:p>
          <a:p>
            <a:pPr>
              <a:spcAft>
                <a:spcPts val="1000"/>
              </a:spcAft>
              <a:defRPr sz="2400" b="0">
                <a:solidFill>
                  <a:srgbClr val="202135"/>
                </a:solidFill>
                <a:latin typeface="Arial"/>
              </a:defRPr>
            </a:pPr>
            <a:r>
              <a:t>From published signals to practical social content briefs.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945C6"/>
                </a:solidFill>
                <a:latin typeface="Arial"/>
              </a:defRPr>
            </a:pPr>
            <a:r>
              <a:t>MANAGEMENT BRIEFING • JUNE–SEPTEMBER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202135"/>
                </a:solidFill>
                <a:latin typeface="Arial"/>
              </a:defRPr>
            </a:pPr>
            <a:r>
              <a:t>One programme, five distinct category jobs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26579"/>
                </a:solidFill>
                <a:latin typeface="Arial"/>
              </a:defRPr>
            </a:pPr>
            <a:r>
              <a:t>C2 • Public-source intelligence | Reconstructed 8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26579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3529584" cy="1865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020824"/>
            <a:ext cx="3182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945C6"/>
                </a:solidFill>
                <a:latin typeface="Arial"/>
              </a:defRPr>
            </a:pPr>
            <a:r>
              <a:t>Americana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514600"/>
            <a:ext cx="3182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02135"/>
                </a:solidFill>
                <a:latin typeface="Arial"/>
              </a:defRPr>
            </a:pPr>
            <a:r>
              <a:t>Cakes: serving moments and small adult celebrations.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9392" y="1874519"/>
            <a:ext cx="3529584" cy="1865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43983" y="2020824"/>
            <a:ext cx="3182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945C6"/>
                </a:solidFill>
                <a:latin typeface="Arial"/>
              </a:defRPr>
            </a:pPr>
            <a:r>
              <a:t>California Garden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983" y="2514600"/>
            <a:ext cx="3182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02135"/>
                </a:solidFill>
                <a:latin typeface="Arial"/>
              </a:defRPr>
            </a:pPr>
            <a:r>
              <a:t>Canned food: useful recipes and pantry-to-meal transformations.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10144" y="1874519"/>
            <a:ext cx="3529584" cy="1865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74736" y="2020824"/>
            <a:ext cx="3182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945C6"/>
                </a:solidFill>
                <a:latin typeface="Arial"/>
              </a:defRPr>
            </a:pPr>
            <a:r>
              <a:t>ZOOM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74736" y="2514600"/>
            <a:ext cx="3182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02135"/>
                </a:solidFill>
                <a:latin typeface="Arial"/>
              </a:defRPr>
            </a:pPr>
            <a:r>
              <a:t>Convenience retail: coffee, food-to-go and practical stops.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931920"/>
            <a:ext cx="3529584" cy="1865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078224"/>
            <a:ext cx="3182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945C6"/>
                </a:solidFill>
                <a:latin typeface="Arial"/>
              </a:defRPr>
            </a:pPr>
            <a:r>
              <a:t>AutoPro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572000"/>
            <a:ext cx="3182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02135"/>
                </a:solidFill>
                <a:latin typeface="Arial"/>
              </a:defRPr>
            </a:pPr>
            <a:r>
              <a:t>Vehicle care: technician-led education and service clarity.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79392" y="3931920"/>
            <a:ext cx="3529584" cy="1865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43983" y="4078224"/>
            <a:ext cx="3182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945C6"/>
                </a:solidFill>
                <a:latin typeface="Arial"/>
              </a:defRPr>
            </a:pPr>
            <a:r>
              <a:t>NXT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983" y="4572000"/>
            <a:ext cx="3182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02135"/>
                </a:solidFill>
                <a:latin typeface="Arial"/>
              </a:defRPr>
            </a:pPr>
            <a:r>
              <a:t>Used cars: buyer confidence and transparent comparison.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945C6"/>
                </a:solidFill>
                <a:latin typeface="Arial"/>
              </a:defRPr>
            </a:pPr>
            <a:r>
              <a:t>MANAGEMENT BRIEFING • JUNE–SEPTEMBER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202135"/>
                </a:solidFill>
                <a:latin typeface="Arial"/>
              </a:defRPr>
            </a:pPr>
            <a:r>
              <a:t>How to read the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26579"/>
                </a:solidFill>
                <a:latin typeface="Arial"/>
              </a:defRPr>
            </a:pPr>
            <a:r>
              <a:t>C2 • Public-source intelligence | Reconstructed 8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26579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3529584" cy="1865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020824"/>
            <a:ext cx="3182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945C6"/>
                </a:solidFill>
                <a:latin typeface="Arial"/>
              </a:defRPr>
            </a:pPr>
            <a:r>
              <a:t>Observed signal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514600"/>
            <a:ext cx="3182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02135"/>
                </a:solidFill>
                <a:latin typeface="Arial"/>
              </a:defRPr>
            </a:pPr>
            <a:r>
              <a:t>A dated public article, announcement or platform publication.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9392" y="1874519"/>
            <a:ext cx="3529584" cy="1865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43983" y="2020824"/>
            <a:ext cx="3182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945C6"/>
                </a:solidFill>
                <a:latin typeface="Arial"/>
              </a:defRPr>
            </a:pPr>
            <a:r>
              <a:t>Agency interpretation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983" y="2514600"/>
            <a:ext cx="3182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02135"/>
                </a:solidFill>
                <a:latin typeface="Arial"/>
              </a:defRPr>
            </a:pPr>
            <a:r>
              <a:t>Why the signal could matter to this brand. A hypothesis to test.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10144" y="1874519"/>
            <a:ext cx="3529584" cy="1865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74736" y="2020824"/>
            <a:ext cx="3182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945C6"/>
                </a:solidFill>
                <a:latin typeface="Arial"/>
              </a:defRPr>
            </a:pPr>
            <a:r>
              <a:t>Creative 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74736" y="2514600"/>
            <a:ext cx="3182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02135"/>
                </a:solidFill>
                <a:latin typeface="Arial"/>
              </a:defRPr>
            </a:pPr>
            <a:r>
              <a:t>An original brief, with a hook, production sequence, format and CTA.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931920"/>
            <a:ext cx="3529584" cy="1865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078224"/>
            <a:ext cx="3182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945C6"/>
                </a:solidFill>
                <a:latin typeface="Arial"/>
              </a:defRPr>
            </a:pPr>
            <a:r>
              <a:t>Historical discipline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572000"/>
            <a:ext cx="3182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02135"/>
                </a:solidFill>
                <a:latin typeface="Arial"/>
              </a:defRPr>
            </a:pPr>
            <a:r>
              <a:t>No source published after its report month. Earlier baselines are labelled.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79392" y="3931920"/>
            <a:ext cx="3529584" cy="1865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43983" y="4078224"/>
            <a:ext cx="3182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945C6"/>
                </a:solidFill>
                <a:latin typeface="Arial"/>
              </a:defRPr>
            </a:pPr>
            <a:r>
              <a:t>Coverage limits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983" y="4572000"/>
            <a:ext cx="3182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02135"/>
                </a:solidFill>
                <a:latin typeface="Arial"/>
              </a:defRPr>
            </a:pPr>
            <a:r>
              <a:t>Selected public intelligence; no private analytics or comprehensive competitor audit.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10144" y="3931920"/>
            <a:ext cx="3529584" cy="1865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74736" y="4078224"/>
            <a:ext cx="3182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945C6"/>
                </a:solidFill>
                <a:latin typeface="Arial"/>
              </a:defRPr>
            </a:pPr>
            <a:r>
              <a:t>Source transparency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74736" y="4572000"/>
            <a:ext cx="3182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02135"/>
                </a:solidFill>
                <a:latin typeface="Arial"/>
              </a:defRPr>
            </a:pPr>
            <a:r>
              <a:t>45 source entries; original links, dates and limitations in the register.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945C6"/>
                </a:solidFill>
                <a:latin typeface="Arial"/>
              </a:defRPr>
            </a:pPr>
            <a:r>
              <a:t>MANAGEMENT BRIEFING • JUNE–SEPTEMBER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202135"/>
                </a:solidFill>
                <a:latin typeface="Arial"/>
              </a:defRPr>
            </a:pPr>
            <a:r>
              <a:t>June | The brand opportunity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26579"/>
                </a:solidFill>
                <a:latin typeface="Arial"/>
              </a:defRPr>
            </a:pPr>
            <a:r>
              <a:t>C2 • Public-source intelligence | Reconstructed 8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26579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3529584" cy="1865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020824"/>
            <a:ext cx="3182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945C6"/>
                </a:solidFill>
                <a:latin typeface="Arial"/>
              </a:defRPr>
            </a:pPr>
            <a:r>
              <a:t>Americana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514600"/>
            <a:ext cx="3182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02135"/>
                </a:solidFill>
                <a:latin typeface="Arial"/>
              </a:defRPr>
            </a:pPr>
            <a:r>
              <a:t>Small celebrations, with honest portions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9392" y="1874519"/>
            <a:ext cx="3529584" cy="1865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43983" y="2020824"/>
            <a:ext cx="3182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945C6"/>
                </a:solidFill>
                <a:latin typeface="Arial"/>
              </a:defRPr>
            </a:pPr>
            <a:r>
              <a:t>California Garden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983" y="2514600"/>
            <a:ext cx="3182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02135"/>
                </a:solidFill>
                <a:latin typeface="Arial"/>
              </a:defRPr>
            </a:pPr>
            <a:r>
              <a:t>Show the meal value, not just the can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10144" y="1874519"/>
            <a:ext cx="3529584" cy="1865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74736" y="2020824"/>
            <a:ext cx="3182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945C6"/>
                </a:solidFill>
                <a:latin typeface="Arial"/>
              </a:defRPr>
            </a:pPr>
            <a:r>
              <a:t>ZOOM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74736" y="2514600"/>
            <a:ext cx="3182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02135"/>
                </a:solidFill>
                <a:latin typeface="Arial"/>
              </a:defRPr>
            </a:pPr>
            <a:r>
              <a:t>Make the stop fit a real summer routine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931920"/>
            <a:ext cx="3529584" cy="1865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078224"/>
            <a:ext cx="3182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945C6"/>
                </a:solidFill>
                <a:latin typeface="Arial"/>
              </a:defRPr>
            </a:pPr>
            <a:r>
              <a:t>AutoPro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572000"/>
            <a:ext cx="3182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02135"/>
                </a:solidFill>
                <a:latin typeface="Arial"/>
              </a:defRPr>
            </a:pPr>
            <a:r>
              <a:t>Lead with roadworthiness and useful explanations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79392" y="3931920"/>
            <a:ext cx="3529584" cy="1865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43983" y="4078224"/>
            <a:ext cx="3182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945C6"/>
                </a:solidFill>
                <a:latin typeface="Arial"/>
              </a:defRPr>
            </a:pPr>
            <a:r>
              <a:t>NXT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983" y="4572000"/>
            <a:ext cx="3182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02135"/>
                </a:solidFill>
                <a:latin typeface="Arial"/>
              </a:defRPr>
            </a:pPr>
            <a:r>
              <a:t>Confidence through condition and cost transparency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10144" y="3931920"/>
            <a:ext cx="3529584" cy="1865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74736" y="4078224"/>
            <a:ext cx="3182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945C6"/>
                </a:solidFill>
                <a:latin typeface="Arial"/>
              </a:defRPr>
            </a:pPr>
            <a:r>
              <a:t>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74736" y="4572000"/>
            <a:ext cx="3182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02135"/>
                </a:solidFill>
                <a:latin typeface="Arial"/>
              </a:defRPr>
            </a:pPr>
            <a:r>
              <a:t>Use the matching monthly PDF for the evidence, three creative briefs and measurement plan.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945C6"/>
                </a:solidFill>
                <a:latin typeface="Arial"/>
              </a:defRPr>
            </a:pPr>
            <a:r>
              <a:t>MANAGEMENT BRIEFING • JUNE–SEPTEMBER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202135"/>
                </a:solidFill>
                <a:latin typeface="Arial"/>
              </a:defRPr>
            </a:pPr>
            <a:r>
              <a:t>July | The brand opportunity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26579"/>
                </a:solidFill>
                <a:latin typeface="Arial"/>
              </a:defRPr>
            </a:pPr>
            <a:r>
              <a:t>C2 • Public-source intelligence | Reconstructed 8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26579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3529584" cy="1865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020824"/>
            <a:ext cx="3182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945C6"/>
                </a:solidFill>
                <a:latin typeface="Arial"/>
              </a:defRPr>
            </a:pPr>
            <a:r>
              <a:t>Americana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514600"/>
            <a:ext cx="3182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02135"/>
                </a:solidFill>
                <a:latin typeface="Arial"/>
              </a:defRPr>
            </a:pPr>
            <a:r>
              <a:t>Make adult sharing participatory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9392" y="1874519"/>
            <a:ext cx="3529584" cy="1865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43983" y="2020824"/>
            <a:ext cx="3182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945C6"/>
                </a:solidFill>
                <a:latin typeface="Arial"/>
              </a:defRPr>
            </a:pPr>
            <a:r>
              <a:t>California Garden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983" y="2514600"/>
            <a:ext cx="3182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02135"/>
                </a:solidFill>
                <a:latin typeface="Arial"/>
              </a:defRPr>
            </a:pPr>
            <a:r>
              <a:t>Make useful recipes a conversation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10144" y="1874519"/>
            <a:ext cx="3529584" cy="1865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74736" y="2020824"/>
            <a:ext cx="3182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945C6"/>
                </a:solidFill>
                <a:latin typeface="Arial"/>
              </a:defRPr>
            </a:pPr>
            <a:r>
              <a:t>ZOOM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74736" y="2514600"/>
            <a:ext cx="3182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02135"/>
                </a:solidFill>
                <a:latin typeface="Arial"/>
              </a:defRPr>
            </a:pPr>
            <a:r>
              <a:t>A useful stop in a city of dining choices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931920"/>
            <a:ext cx="3529584" cy="1865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078224"/>
            <a:ext cx="3182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945C6"/>
                </a:solidFill>
                <a:latin typeface="Arial"/>
              </a:defRPr>
            </a:pPr>
            <a:r>
              <a:t>AutoPro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572000"/>
            <a:ext cx="3182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02135"/>
                </a:solidFill>
                <a:latin typeface="Arial"/>
              </a:defRPr>
            </a:pPr>
            <a:r>
              <a:t>Make maintenance answer a real question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79392" y="3931920"/>
            <a:ext cx="3529584" cy="1865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43983" y="4078224"/>
            <a:ext cx="3182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945C6"/>
                </a:solidFill>
                <a:latin typeface="Arial"/>
              </a:defRPr>
            </a:pPr>
            <a:r>
              <a:t>NXT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983" y="4572000"/>
            <a:ext cx="3182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02135"/>
                </a:solidFill>
                <a:latin typeface="Arial"/>
              </a:defRPr>
            </a:pPr>
            <a:r>
              <a:t>Reduce uncertainty before the enquiry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10144" y="3931920"/>
            <a:ext cx="3529584" cy="1865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74736" y="4078224"/>
            <a:ext cx="3182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945C6"/>
                </a:solidFill>
                <a:latin typeface="Arial"/>
              </a:defRPr>
            </a:pPr>
            <a:r>
              <a:t>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74736" y="4572000"/>
            <a:ext cx="3182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02135"/>
                </a:solidFill>
                <a:latin typeface="Arial"/>
              </a:defRPr>
            </a:pPr>
            <a:r>
              <a:t>Use the matching monthly PDF for the evidence, three creative briefs and measurement plan.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945C6"/>
                </a:solidFill>
                <a:latin typeface="Arial"/>
              </a:defRPr>
            </a:pPr>
            <a:r>
              <a:t>MANAGEMENT BRIEFING • JUNE–SEPTEMBER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202135"/>
                </a:solidFill>
                <a:latin typeface="Arial"/>
              </a:defRPr>
            </a:pPr>
            <a:r>
              <a:t>August | The brand opportunity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26579"/>
                </a:solidFill>
                <a:latin typeface="Arial"/>
              </a:defRPr>
            </a:pPr>
            <a:r>
              <a:t>C2 • Public-source intelligence | Reconstructed 8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26579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3529584" cy="1865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020824"/>
            <a:ext cx="3182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945C6"/>
                </a:solidFill>
                <a:latin typeface="Arial"/>
              </a:defRPr>
            </a:pPr>
            <a:r>
              <a:t>Americana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514600"/>
            <a:ext cx="3182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02135"/>
                </a:solidFill>
                <a:latin typeface="Arial"/>
              </a:defRPr>
            </a:pPr>
            <a:r>
              <a:t>Occasional enjoyment in a budget-aware month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9392" y="1874519"/>
            <a:ext cx="3529584" cy="1865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43983" y="2020824"/>
            <a:ext cx="3182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945C6"/>
                </a:solidFill>
                <a:latin typeface="Arial"/>
              </a:defRPr>
            </a:pPr>
            <a:r>
              <a:t>California Garden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983" y="2514600"/>
            <a:ext cx="3182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02135"/>
                </a:solidFill>
                <a:latin typeface="Arial"/>
              </a:defRPr>
            </a:pPr>
            <a:r>
              <a:t>Useful meals for time and budget pressure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10144" y="1874519"/>
            <a:ext cx="3529584" cy="1865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74736" y="2020824"/>
            <a:ext cx="3182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945C6"/>
                </a:solidFill>
                <a:latin typeface="Arial"/>
              </a:defRPr>
            </a:pPr>
            <a:r>
              <a:t>ZOOM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74736" y="2514600"/>
            <a:ext cx="3182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02135"/>
                </a:solidFill>
                <a:latin typeface="Arial"/>
              </a:defRPr>
            </a:pPr>
            <a:r>
              <a:t>Useful convenience, with a clear value proposition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931920"/>
            <a:ext cx="3529584" cy="1865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078224"/>
            <a:ext cx="3182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945C6"/>
                </a:solidFill>
                <a:latin typeface="Arial"/>
              </a:defRPr>
            </a:pPr>
            <a:r>
              <a:t>AutoPro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572000"/>
            <a:ext cx="3182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02135"/>
                </a:solidFill>
                <a:latin typeface="Arial"/>
              </a:defRPr>
            </a:pPr>
            <a:r>
              <a:t>Turn a real safety campaign into helpful content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79392" y="3931920"/>
            <a:ext cx="3529584" cy="1865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43983" y="4078224"/>
            <a:ext cx="3182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945C6"/>
                </a:solidFill>
                <a:latin typeface="Arial"/>
              </a:defRPr>
            </a:pPr>
            <a:r>
              <a:t>NXT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983" y="4572000"/>
            <a:ext cx="3182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02135"/>
                </a:solidFill>
                <a:latin typeface="Arial"/>
              </a:defRPr>
            </a:pPr>
            <a:r>
              <a:t>Show the car against a real everyday need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10144" y="3931920"/>
            <a:ext cx="3529584" cy="1865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74736" y="4078224"/>
            <a:ext cx="3182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945C6"/>
                </a:solidFill>
                <a:latin typeface="Arial"/>
              </a:defRPr>
            </a:pPr>
            <a:r>
              <a:t>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74736" y="4572000"/>
            <a:ext cx="3182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02135"/>
                </a:solidFill>
                <a:latin typeface="Arial"/>
              </a:defRPr>
            </a:pPr>
            <a:r>
              <a:t>Use the matching monthly PDF for the evidence, three creative briefs and measurement plan.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945C6"/>
                </a:solidFill>
                <a:latin typeface="Arial"/>
              </a:defRPr>
            </a:pPr>
            <a:r>
              <a:t>MANAGEMENT BRIEFING • JUNE–SEPTEMBER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202135"/>
                </a:solidFill>
                <a:latin typeface="Arial"/>
              </a:defRPr>
            </a:pPr>
            <a:r>
              <a:t>September | The brand opportunity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26579"/>
                </a:solidFill>
                <a:latin typeface="Arial"/>
              </a:defRPr>
            </a:pPr>
            <a:r>
              <a:t>C2 • Public-source intelligence | Reconstructed 8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26579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3529584" cy="1865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020824"/>
            <a:ext cx="3182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945C6"/>
                </a:solidFill>
                <a:latin typeface="Arial"/>
              </a:defRPr>
            </a:pPr>
            <a:r>
              <a:t>Americana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514600"/>
            <a:ext cx="3182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02135"/>
                </a:solidFill>
                <a:latin typeface="Arial"/>
              </a:defRPr>
            </a:pPr>
            <a:r>
              <a:t>Occasional cake enjoyment with credible information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9392" y="1874519"/>
            <a:ext cx="3529584" cy="1865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43983" y="2020824"/>
            <a:ext cx="3182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945C6"/>
                </a:solidFill>
                <a:latin typeface="Arial"/>
              </a:defRPr>
            </a:pPr>
            <a:r>
              <a:t>California Garden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983" y="2514600"/>
            <a:ext cx="3182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02135"/>
                </a:solidFill>
                <a:latin typeface="Arial"/>
              </a:defRPr>
            </a:pPr>
            <a:r>
              <a:t>Make organised meal preparation useful and credible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10144" y="1874519"/>
            <a:ext cx="3529584" cy="1865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74736" y="2020824"/>
            <a:ext cx="3182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945C6"/>
                </a:solidFill>
                <a:latin typeface="Arial"/>
              </a:defRPr>
            </a:pPr>
            <a:r>
              <a:t>ZOOM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74736" y="2514600"/>
            <a:ext cx="3182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02135"/>
                </a:solidFill>
                <a:latin typeface="Arial"/>
              </a:defRPr>
            </a:pPr>
            <a:r>
              <a:t>Be useful in the coffee routine, not generic about 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931920"/>
            <a:ext cx="3529584" cy="1865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078224"/>
            <a:ext cx="3182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945C6"/>
                </a:solidFill>
                <a:latin typeface="Arial"/>
              </a:defRPr>
            </a:pPr>
            <a:r>
              <a:t>AutoPro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572000"/>
            <a:ext cx="3182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02135"/>
                </a:solidFill>
                <a:latin typeface="Arial"/>
              </a:defRPr>
            </a:pPr>
            <a:r>
              <a:t>Show the care in a real transformation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79392" y="3931920"/>
            <a:ext cx="3529584" cy="1865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43983" y="4078224"/>
            <a:ext cx="3182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945C6"/>
                </a:solidFill>
                <a:latin typeface="Arial"/>
              </a:defRPr>
            </a:pPr>
            <a:r>
              <a:t>NXT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983" y="4572000"/>
            <a:ext cx="3182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02135"/>
                </a:solidFill>
                <a:latin typeface="Arial"/>
              </a:defRPr>
            </a:pPr>
            <a:r>
              <a:t>Proof and decision help in a flexible-mobility market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10144" y="3931920"/>
            <a:ext cx="3529584" cy="1865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74736" y="4078224"/>
            <a:ext cx="3182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945C6"/>
                </a:solidFill>
                <a:latin typeface="Arial"/>
              </a:defRPr>
            </a:pPr>
            <a:r>
              <a:t>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74736" y="4572000"/>
            <a:ext cx="3182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02135"/>
                </a:solidFill>
                <a:latin typeface="Arial"/>
              </a:defRPr>
            </a:pPr>
            <a:r>
              <a:t>Use the matching monthly PDF for the evidence, three creative briefs and measurement plan.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945C6"/>
                </a:solidFill>
                <a:latin typeface="Arial"/>
              </a:defRPr>
            </a:pPr>
            <a:r>
              <a:t>MANAGEMENT BRIEFING • JUNE–SEPTEMBER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202135"/>
                </a:solidFill>
                <a:latin typeface="Arial"/>
              </a:defRPr>
            </a:pPr>
            <a:r>
              <a:t>Americana | September creative direction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26579"/>
                </a:solidFill>
                <a:latin typeface="Arial"/>
              </a:defRPr>
            </a:pPr>
            <a:r>
              <a:t>C2 • Public-source intelligence | Reconstructed 8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26579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53035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02135"/>
                </a:solidFill>
                <a:latin typeface="Arial"/>
              </a:defRPr>
            </a:pPr>
            <a:r>
              <a:t>• Keep adult celebration and serving cues stronger than health or school-lunch claims.</a:t>
            </a:r>
          </a:p>
          <a:p>
            <a:pPr>
              <a:spcAft>
                <a:spcPts val="1000"/>
              </a:spcAft>
              <a:defRPr sz="1900" b="0">
                <a:solidFill>
                  <a:srgbClr val="202135"/>
                </a:solidFill>
                <a:latin typeface="Arial"/>
              </a:defRPr>
            </a:pPr>
            <a:r>
              <a:t>• Use clearly labelled ingredients, portions and added toppings.</a:t>
            </a:r>
          </a:p>
          <a:p>
            <a:pPr>
              <a:spcAft>
                <a:spcPts val="1000"/>
              </a:spcAft>
              <a:defRPr sz="1900" b="0">
                <a:solidFill>
                  <a:srgbClr val="202135"/>
                </a:solidFill>
                <a:latin typeface="Arial"/>
              </a:defRPr>
            </a:pPr>
            <a:r>
              <a:t>• Adapt preparation aesthetics without assuming cake belongs in every lunchbox.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828800"/>
            <a:ext cx="5349240" cy="4251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6945C6"/>
                </a:solidFill>
                <a:latin typeface="Arial"/>
              </a:defRPr>
            </a:pPr>
            <a:r>
              <a:t>The adult celebration tray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69748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02135"/>
                </a:solidFill>
                <a:latin typeface="Arial"/>
              </a:defRPr>
            </a:pPr>
            <a:r>
              <a:t>HOOK: A little celebration, arranged with care.</a:t>
            </a:r>
          </a:p>
          <a:p>
            <a:pPr>
              <a:spcAft>
                <a:spcPts val="1000"/>
              </a:spcAft>
              <a:defRPr sz="1800" b="0">
                <a:solidFill>
                  <a:srgbClr val="202135"/>
                </a:solidFill>
                <a:latin typeface="Arial"/>
              </a:defRPr>
            </a:pPr>
          </a:p>
          <a:p>
            <a:pPr>
              <a:spcAft>
                <a:spcPts val="1000"/>
              </a:spcAft>
              <a:defRPr sz="1800" b="0">
                <a:solidFill>
                  <a:srgbClr val="202135"/>
                </a:solidFill>
                <a:latin typeface="Arial"/>
              </a:defRPr>
            </a:pPr>
            <a:r>
              <a:t>EXECUTION: Arrange realistic cake portions on an adult sharing tray with all additions visible. Avoid school-lunch imagery or health endorsement.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3035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6945C6"/>
                </a:solidFill>
                <a:latin typeface="Arial"/>
              </a:defRPr>
            </a:pPr>
            <a:r>
              <a:t>Reel • Save for your next gathering.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945C6"/>
                </a:solidFill>
                <a:latin typeface="Arial"/>
              </a:defRPr>
            </a:pPr>
            <a:r>
              <a:t>MANAGEMENT BRIEFING • JUNE–SEPTEMBER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202135"/>
                </a:solidFill>
                <a:latin typeface="Arial"/>
              </a:defRPr>
            </a:pPr>
            <a:r>
              <a:t>California Garden | September creative direction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26579"/>
                </a:solidFill>
                <a:latin typeface="Arial"/>
              </a:defRPr>
            </a:pPr>
            <a:r>
              <a:t>C2 • Public-source intelligence | Reconstructed 8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26579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53035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02135"/>
                </a:solidFill>
                <a:latin typeface="Arial"/>
              </a:defRPr>
            </a:pPr>
            <a:r>
              <a:t>• Build a saveable adult meal-prep series with confirmed canned SKUs.</a:t>
            </a:r>
          </a:p>
          <a:p>
            <a:pPr>
              <a:spcAft>
                <a:spcPts val="1000"/>
              </a:spcAft>
              <a:defRPr sz="1900" b="0">
                <a:solidFill>
                  <a:srgbClr val="202135"/>
                </a:solidFill>
                <a:latin typeface="Arial"/>
              </a:defRPr>
            </a:pPr>
            <a:r>
              <a:t>• Use the bento evidence as a creative-format lead, not a UAE demand forecast.</a:t>
            </a:r>
          </a:p>
          <a:p>
            <a:pPr>
              <a:spcAft>
                <a:spcPts val="1000"/>
              </a:spcAft>
              <a:defRPr sz="1900" b="0">
                <a:solidFill>
                  <a:srgbClr val="202135"/>
                </a:solidFill>
                <a:latin typeface="Arial"/>
              </a:defRPr>
            </a:pPr>
            <a:r>
              <a:t>• Verify product and recipe claims against the full meal.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828800"/>
            <a:ext cx="5349240" cy="4251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6945C6"/>
                </a:solidFill>
                <a:latin typeface="Arial"/>
              </a:defRPr>
            </a:pPr>
            <a:r>
              <a:t>The organised lunch-prep edit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69748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02135"/>
                </a:solidFill>
                <a:latin typeface="Arial"/>
              </a:defRPr>
            </a:pPr>
            <a:r>
              <a:t>HOOK: A little preparation. A clearer week.</a:t>
            </a:r>
          </a:p>
          <a:p>
            <a:pPr>
              <a:spcAft>
                <a:spcPts val="1000"/>
              </a:spcAft>
              <a:defRPr sz="1800" b="0">
                <a:solidFill>
                  <a:srgbClr val="202135"/>
                </a:solidFill>
                <a:latin typeface="Arial"/>
              </a:defRPr>
            </a:pPr>
          </a:p>
          <a:p>
            <a:pPr>
              <a:spcAft>
                <a:spcPts val="1000"/>
              </a:spcAft>
              <a:defRPr sz="1800" b="0">
                <a:solidFill>
                  <a:srgbClr val="202135"/>
                </a:solidFill>
                <a:latin typeface="Arial"/>
              </a:defRPr>
            </a:pPr>
            <a:r>
              <a:t>EXECUTION: Create an adult meal-prep sequence using a verified canned ingredient, showing storage guidance reviewed for food safety. No implied school approval.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3035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6945C6"/>
                </a:solidFill>
                <a:latin typeface="Arial"/>
              </a:defRPr>
            </a:pPr>
            <a:r>
              <a:t>Reel / Short • Save the recipe steps.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945C6"/>
                </a:solidFill>
                <a:latin typeface="Arial"/>
              </a:defRPr>
            </a:pPr>
            <a:r>
              <a:t>MANAGEMENT BRIEFING • JUNE–SEPTEMBER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202135"/>
                </a:solidFill>
                <a:latin typeface="Arial"/>
              </a:defRPr>
            </a:pPr>
            <a:r>
              <a:t>ZOOM | September creative direction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26579"/>
                </a:solidFill>
                <a:latin typeface="Arial"/>
              </a:defRPr>
            </a:pPr>
            <a:r>
              <a:t>C2 • Public-source intelligence | Reconstructed 8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26579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53035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02135"/>
                </a:solidFill>
                <a:latin typeface="Arial"/>
              </a:defRPr>
            </a:pPr>
            <a:r>
              <a:t>• Explain a real coffee offer with process and taste cues.</a:t>
            </a:r>
          </a:p>
          <a:p>
            <a:pPr>
              <a:spcAft>
                <a:spcPts val="1000"/>
              </a:spcAft>
              <a:defRPr sz="1900" b="0">
                <a:solidFill>
                  <a:srgbClr val="202135"/>
                </a:solidFill>
                <a:latin typeface="Arial"/>
              </a:defRPr>
            </a:pPr>
            <a:r>
              <a:t>• Test store convenience against a product-only opening.</a:t>
            </a:r>
          </a:p>
          <a:p>
            <a:pPr>
              <a:spcAft>
                <a:spcPts val="1000"/>
              </a:spcAft>
              <a:defRPr sz="1900" b="0">
                <a:solidFill>
                  <a:srgbClr val="202135"/>
                </a:solidFill>
                <a:latin typeface="Arial"/>
              </a:defRPr>
            </a:pPr>
            <a:r>
              <a:t>• Use credible community responses and transparent availability.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828800"/>
            <a:ext cx="5349240" cy="4251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6945C6"/>
                </a:solidFill>
                <a:latin typeface="Arial"/>
              </a:defRPr>
            </a:pPr>
            <a:r>
              <a:t>Your coffee stop, explained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69748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02135"/>
                </a:solidFill>
                <a:latin typeface="Arial"/>
              </a:defRPr>
            </a:pPr>
            <a:r>
              <a:t>HOOK: What matters in your coffee moment?</a:t>
            </a:r>
          </a:p>
          <a:p>
            <a:pPr>
              <a:spcAft>
                <a:spcPts val="1000"/>
              </a:spcAft>
              <a:defRPr sz="1800" b="0">
                <a:solidFill>
                  <a:srgbClr val="202135"/>
                </a:solidFill>
                <a:latin typeface="Arial"/>
              </a:defRPr>
            </a:pPr>
          </a:p>
          <a:p>
            <a:pPr>
              <a:spcAft>
                <a:spcPts val="1000"/>
              </a:spcAft>
              <a:defRPr sz="1800" b="0">
                <a:solidFill>
                  <a:srgbClr val="202135"/>
                </a:solidFill>
                <a:latin typeface="Arial"/>
              </a:defRPr>
            </a:pPr>
            <a:r>
              <a:t>EXECUTION: Show an actual drink and approved preparation detail at a real store. Describe taste accurately without unsupported quality superiority.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3035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6945C6"/>
                </a:solidFill>
                <a:latin typeface="Arial"/>
              </a:defRPr>
            </a:pPr>
            <a:r>
              <a:t>Reel • Tell us your coffee preference.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945C6"/>
                </a:solidFill>
                <a:latin typeface="Arial"/>
              </a:defRPr>
            </a:pPr>
            <a:r>
              <a:t>MANAGEMENT BRIEFING • JUNE–SEPTEMBER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202135"/>
                </a:solidFill>
                <a:latin typeface="Arial"/>
              </a:defRPr>
            </a:pPr>
            <a:r>
              <a:t>AutoPro | September creative direction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26579"/>
                </a:solidFill>
                <a:latin typeface="Arial"/>
              </a:defRPr>
            </a:pPr>
            <a:r>
              <a:t>C2 • Public-source intelligence | Reconstructed 8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26579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53035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02135"/>
                </a:solidFill>
                <a:latin typeface="Arial"/>
              </a:defRPr>
            </a:pPr>
            <a:r>
              <a:t>• Pilot an original car-care demonstration with consistent before/after conditions.</a:t>
            </a:r>
          </a:p>
          <a:p>
            <a:pPr>
              <a:spcAft>
                <a:spcPts val="1000"/>
              </a:spcAft>
              <a:defRPr sz="1900" b="0">
                <a:solidFill>
                  <a:srgbClr val="202135"/>
                </a:solidFill>
                <a:latin typeface="Arial"/>
              </a:defRPr>
            </a:pPr>
            <a:r>
              <a:t>• Separate routine car wash from services not confirmed in AutoPro’s scope.</a:t>
            </a:r>
          </a:p>
          <a:p>
            <a:pPr>
              <a:spcAft>
                <a:spcPts val="1000"/>
              </a:spcAft>
              <a:defRPr sz="1900" b="0">
                <a:solidFill>
                  <a:srgbClr val="202135"/>
                </a:solidFill>
                <a:latin typeface="Arial"/>
              </a:defRPr>
            </a:pPr>
            <a:r>
              <a:t>• Pair satisfying creative with technician credibility and clear booking steps.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828800"/>
            <a:ext cx="5349240" cy="4251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6945C6"/>
                </a:solidFill>
                <a:latin typeface="Arial"/>
              </a:defRPr>
            </a:pPr>
            <a:r>
              <a:t>The honest clean transformation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69748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02135"/>
                </a:solidFill>
                <a:latin typeface="Arial"/>
              </a:defRPr>
            </a:pPr>
            <a:r>
              <a:t>HOOK: Watch the care, detail by detail.</a:t>
            </a:r>
          </a:p>
          <a:p>
            <a:pPr>
              <a:spcAft>
                <a:spcPts val="1000"/>
              </a:spcAft>
              <a:defRPr sz="1800" b="0">
                <a:solidFill>
                  <a:srgbClr val="202135"/>
                </a:solidFill>
                <a:latin typeface="Arial"/>
              </a:defRPr>
            </a:pPr>
          </a:p>
          <a:p>
            <a:pPr>
              <a:spcAft>
                <a:spcPts val="1000"/>
              </a:spcAft>
              <a:defRPr sz="1800" b="0">
                <a:solidFill>
                  <a:srgbClr val="202135"/>
                </a:solidFill>
                <a:latin typeface="Arial"/>
              </a:defRPr>
            </a:pPr>
            <a:r>
              <a:t>EXECUTION: Film a verified car-wash or care service with matched light, angles and camera settings before and after. Use original natural sound; no deceptive enhancement.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3035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6945C6"/>
                </a:solidFill>
                <a:latin typeface="Arial"/>
              </a:defRPr>
            </a:pPr>
            <a:r>
              <a:t>Reel / Short • Ask about the featured service.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945C6"/>
                </a:solidFill>
                <a:latin typeface="Arial"/>
              </a:defRPr>
            </a:pPr>
            <a:r>
              <a:t>MANAGEMENT BRIEFING • JUNE–SEPTEMBER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202135"/>
                </a:solidFill>
                <a:latin typeface="Arial"/>
              </a:defRPr>
            </a:pPr>
            <a:r>
              <a:t>NXT | September creative direction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26579"/>
                </a:solidFill>
                <a:latin typeface="Arial"/>
              </a:defRPr>
            </a:pPr>
            <a:r>
              <a:t>C2 • Public-source intelligence | Reconstructed 8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26579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53035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02135"/>
                </a:solidFill>
                <a:latin typeface="Arial"/>
              </a:defRPr>
            </a:pPr>
            <a:r>
              <a:t>• Explain ownership choices and running costs without pressure or guarantees.</a:t>
            </a:r>
          </a:p>
          <a:p>
            <a:pPr>
              <a:spcAft>
                <a:spcPts val="1000"/>
              </a:spcAft>
              <a:defRPr sz="1900" b="0">
                <a:solidFill>
                  <a:srgbClr val="202135"/>
                </a:solidFill>
                <a:latin typeface="Arial"/>
              </a:defRPr>
            </a:pPr>
            <a:r>
              <a:t>• Show documented condition and the actual preparation of a vehicle.</a:t>
            </a:r>
          </a:p>
          <a:p>
            <a:pPr>
              <a:spcAft>
                <a:spcPts val="1000"/>
              </a:spcAft>
              <a:defRPr sz="1900" b="0">
                <a:solidFill>
                  <a:srgbClr val="202135"/>
                </a:solidFill>
                <a:latin typeface="Arial"/>
              </a:defRPr>
            </a:pPr>
            <a:r>
              <a:t>• Treat resale data and regional EV news as scoped education.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828800"/>
            <a:ext cx="5349240" cy="4251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6945C6"/>
                </a:solidFill>
                <a:latin typeface="Arial"/>
              </a:defRPr>
            </a:pPr>
            <a:r>
              <a:t>Prepared, not airbrushed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69748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02135"/>
                </a:solidFill>
                <a:latin typeface="Arial"/>
              </a:defRPr>
            </a:pPr>
            <a:r>
              <a:t>HOOK: Here is how this vehicle is presented.</a:t>
            </a:r>
          </a:p>
          <a:p>
            <a:pPr>
              <a:spcAft>
                <a:spcPts val="1000"/>
              </a:spcAft>
              <a:defRPr sz="1800" b="0">
                <a:solidFill>
                  <a:srgbClr val="202135"/>
                </a:solidFill>
                <a:latin typeface="Arial"/>
              </a:defRPr>
            </a:pPr>
          </a:p>
          <a:p>
            <a:pPr>
              <a:spcAft>
                <a:spcPts val="1000"/>
              </a:spcAft>
              <a:defRPr sz="1800" b="0">
                <a:solidFill>
                  <a:srgbClr val="202135"/>
                </a:solidFill>
                <a:latin typeface="Arial"/>
              </a:defRPr>
            </a:pPr>
            <a:r>
              <a:t>EXECUTION: Show a real vehicle being cleaned under consistent light, then separately display verified condition information. Never equate cosmetic preparation with mechanical certification.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3035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6945C6"/>
                </a:solidFill>
                <a:latin typeface="Arial"/>
              </a:defRPr>
            </a:pPr>
            <a:r>
              <a:t>Reel • Request the inspection details.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945C6"/>
                </a:solidFill>
                <a:latin typeface="Arial"/>
              </a:defRPr>
            </a:pPr>
            <a:r>
              <a:t>MANAGEMENT BRIEFING • JUNE–SEPTEMBER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202135"/>
                </a:solidFill>
                <a:latin typeface="Arial"/>
              </a:defRPr>
            </a:pPr>
            <a:r>
              <a:t>UAE | Utility is a strong creative starting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26579"/>
                </a:solidFill>
                <a:latin typeface="Arial"/>
              </a:defRPr>
            </a:pPr>
            <a:r>
              <a:t>C2 • Public-source intelligence | Reconstructed 8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26579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3529584" cy="1865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020824"/>
            <a:ext cx="3182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945C6"/>
                </a:solidFill>
                <a:latin typeface="Arial"/>
              </a:defRPr>
            </a:pPr>
            <a:r>
              <a:t>Food information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514600"/>
            <a:ext cx="3182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02135"/>
                </a:solidFill>
                <a:latin typeface="Arial"/>
              </a:defRPr>
            </a:pPr>
            <a:r>
              <a:t>Translate price and labelling context into clear ingredients, actual portions and useful preparation.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9392" y="1874519"/>
            <a:ext cx="3529584" cy="1865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43983" y="2020824"/>
            <a:ext cx="3182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945C6"/>
                </a:solidFill>
                <a:latin typeface="Arial"/>
              </a:defRPr>
            </a:pPr>
            <a:r>
              <a:t>Daily routines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983" y="2514600"/>
            <a:ext cx="3182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02135"/>
                </a:solidFill>
                <a:latin typeface="Arial"/>
              </a:defRPr>
            </a:pPr>
            <a:r>
              <a:t>Build specific coffee stops, meal preparation and commute moments; avoid population-wide assumptions.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10144" y="1874519"/>
            <a:ext cx="3529584" cy="1865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74736" y="2020824"/>
            <a:ext cx="3182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945C6"/>
                </a:solidFill>
                <a:latin typeface="Arial"/>
              </a:defRPr>
            </a:pPr>
            <a:r>
              <a:t>Vehicle confidence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74736" y="2514600"/>
            <a:ext cx="3182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02135"/>
                </a:solidFill>
                <a:latin typeface="Arial"/>
              </a:defRPr>
            </a:pPr>
            <a:r>
              <a:t>Show real inspections, technical explanations and verified vehicle information.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945C6"/>
                </a:solidFill>
                <a:latin typeface="Arial"/>
              </a:defRPr>
            </a:pPr>
            <a:r>
              <a:t>MANAGEMENT BRIEFING • JUNE–SEPTEMBER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202135"/>
                </a:solidFill>
                <a:latin typeface="Arial"/>
              </a:defRPr>
            </a:pPr>
            <a:r>
              <a:t>GCC | Adapt country by country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26579"/>
                </a:solidFill>
                <a:latin typeface="Arial"/>
              </a:defRPr>
            </a:pPr>
            <a:r>
              <a:t>C2 • Public-source intelligence | Reconstructed 8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26579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3529584" cy="1865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020824"/>
            <a:ext cx="3182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945C6"/>
                </a:solidFill>
                <a:latin typeface="Arial"/>
              </a:defRPr>
            </a:pPr>
            <a:r>
              <a:t>Saudi Arabia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514600"/>
            <a:ext cx="3182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02135"/>
                </a:solidFill>
                <a:latin typeface="Arial"/>
              </a:defRPr>
            </a:pPr>
            <a:r>
              <a:t>National Day is 23 September. Use locally approved relevance; it is not a UAE occasion.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9392" y="1874519"/>
            <a:ext cx="3529584" cy="1865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43983" y="2020824"/>
            <a:ext cx="3182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945C6"/>
                </a:solidFill>
                <a:latin typeface="Arial"/>
              </a:defRPr>
            </a:pPr>
            <a:r>
              <a:t>Oman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983" y="2514600"/>
            <a:ext cx="3182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02135"/>
                </a:solidFill>
                <a:latin typeface="Arial"/>
              </a:defRPr>
            </a:pPr>
            <a:r>
              <a:t>Road-trip and allergen examples provide context. Neither is a quantified market-demand study.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10144" y="1874519"/>
            <a:ext cx="3529584" cy="1865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74736" y="2020824"/>
            <a:ext cx="3182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945C6"/>
                </a:solidFill>
                <a:latin typeface="Arial"/>
              </a:defRPr>
            </a:pPr>
            <a:r>
              <a:t>Aggregate ≠ local proof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74736" y="2514600"/>
            <a:ext cx="3182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02135"/>
                </a:solidFill>
                <a:latin typeface="Arial"/>
              </a:defRPr>
            </a:pPr>
            <a:r>
              <a:t>GCC company results may include UAE. They do not establish sales for these brands or categories.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945C6"/>
                </a:solidFill>
                <a:latin typeface="Arial"/>
              </a:defRPr>
            </a:pPr>
            <a:r>
              <a:t>MANAGEMENT BRIEFING • JUNE–SEPTEMBER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202135"/>
                </a:solidFill>
                <a:latin typeface="Arial"/>
              </a:defRPr>
            </a:pPr>
            <a:r>
              <a:t>Global | Useful mechanics, carefully scoped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26579"/>
                </a:solidFill>
                <a:latin typeface="Arial"/>
              </a:defRPr>
            </a:pPr>
            <a:r>
              <a:t>C2 • Public-source intelligence | Reconstructed 8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26579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3529584" cy="1865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020824"/>
            <a:ext cx="3182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945C6"/>
                </a:solidFill>
                <a:latin typeface="Arial"/>
              </a:defRPr>
            </a:pPr>
            <a:r>
              <a:t>250M+ views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514600"/>
            <a:ext cx="3182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02135"/>
                </a:solidFill>
                <a:latin typeface="Arial"/>
              </a:defRPr>
            </a:pPr>
            <a:r>
              <a:t>YouTube bento-related videos, globally in Jan–Jun 2026. Published September. Recipe inspiration, not UAE demand.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9392" y="1874519"/>
            <a:ext cx="3529584" cy="1865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43983" y="2020824"/>
            <a:ext cx="3182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945C6"/>
                </a:solidFill>
                <a:latin typeface="Arial"/>
              </a:defRPr>
            </a:pPr>
            <a:r>
              <a:t>150M+ 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983" y="2514600"/>
            <a:ext cx="3182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02135"/>
                </a:solidFill>
                <a:latin typeface="Arial"/>
              </a:defRPr>
            </a:pPr>
            <a:r>
              <a:t>YouTube auto-detailing ASMR, globally in Jan–Jun 2026. Published September. Test sensory service content.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10144" y="1874519"/>
            <a:ext cx="3529584" cy="1865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74736" y="2020824"/>
            <a:ext cx="3182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945C6"/>
                </a:solidFill>
                <a:latin typeface="Arial"/>
              </a:defRPr>
            </a:pPr>
            <a:r>
              <a:t>450K+ uploads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74736" y="2514600"/>
            <a:ext cx="3182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02135"/>
                </a:solidFill>
                <a:latin typeface="Arial"/>
              </a:defRPr>
            </a:pPr>
            <a:r>
              <a:t>YouTube morning-routine videos, globally in Jan–Jun 2026. Published August. Creator supply, not audience demand.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976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135"/>
                </a:solidFill>
                <a:latin typeface="Arial"/>
              </a:defRPr>
            </a:pPr>
            <a:r>
              <a:t>Adapt the mechanic: finished-meal payoff, satisfying process, useful routines.</a:t>
            </a:r>
          </a:p>
          <a:p>
            <a:pPr>
              <a:spcAft>
                <a:spcPts val="1000"/>
              </a:spcAft>
              <a:defRPr sz="2300" b="0">
                <a:solidFill>
                  <a:srgbClr val="202135"/>
                </a:solidFill>
                <a:latin typeface="Arial"/>
              </a:defRPr>
            </a:pPr>
            <a:r>
              <a:t>Do not transfer global volumes into projected brand reach.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945C6"/>
                </a:solidFill>
                <a:latin typeface="Arial"/>
              </a:defRPr>
            </a:pPr>
            <a:r>
              <a:t>MANAGEMENT BRIEFING • JUNE–SEPTEMBER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202135"/>
                </a:solidFill>
                <a:latin typeface="Arial"/>
              </a:defRPr>
            </a:pPr>
            <a:r>
              <a:t>Five pilots worth discussing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26579"/>
                </a:solidFill>
                <a:latin typeface="Arial"/>
              </a:defRPr>
            </a:pPr>
            <a:r>
              <a:t>C2 • Public-source intelligence | Reconstructed 8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26579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3529584" cy="1865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020824"/>
            <a:ext cx="3182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945C6"/>
                </a:solidFill>
                <a:latin typeface="Arial"/>
              </a:defRPr>
            </a:pPr>
            <a:r>
              <a:t>Americana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514600"/>
            <a:ext cx="3182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02135"/>
                </a:solidFill>
                <a:latin typeface="Arial"/>
              </a:defRPr>
            </a:pPr>
            <a:r>
              <a:t>The adult celebration tray</a:t>
            </a:r>
          </a:p>
          <a:p>
            <a:pPr>
              <a:spcAft>
                <a:spcPts val="1000"/>
              </a:spcAft>
              <a:defRPr sz="1500" b="0">
                <a:solidFill>
                  <a:srgbClr val="202135"/>
                </a:solidFill>
                <a:latin typeface="Arial"/>
              </a:defRPr>
            </a:pPr>
            <a:r>
              <a:t>A little celebration, arranged with care.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9392" y="1874519"/>
            <a:ext cx="3529584" cy="1865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43983" y="2020824"/>
            <a:ext cx="3182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945C6"/>
                </a:solidFill>
                <a:latin typeface="Arial"/>
              </a:defRPr>
            </a:pPr>
            <a:r>
              <a:t>California Garden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983" y="2514600"/>
            <a:ext cx="3182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02135"/>
                </a:solidFill>
                <a:latin typeface="Arial"/>
              </a:defRPr>
            </a:pPr>
            <a:r>
              <a:t>The organised lunch-prep edit</a:t>
            </a:r>
          </a:p>
          <a:p>
            <a:pPr>
              <a:spcAft>
                <a:spcPts val="1000"/>
              </a:spcAft>
              <a:defRPr sz="1500" b="0">
                <a:solidFill>
                  <a:srgbClr val="202135"/>
                </a:solidFill>
                <a:latin typeface="Arial"/>
              </a:defRPr>
            </a:pPr>
            <a:r>
              <a:t>A little preparation. A clearer week.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10144" y="1874519"/>
            <a:ext cx="3529584" cy="1865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74736" y="2020824"/>
            <a:ext cx="3182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945C6"/>
                </a:solidFill>
                <a:latin typeface="Arial"/>
              </a:defRPr>
            </a:pPr>
            <a:r>
              <a:t>ZOOM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74736" y="2514600"/>
            <a:ext cx="3182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02135"/>
                </a:solidFill>
                <a:latin typeface="Arial"/>
              </a:defRPr>
            </a:pPr>
            <a:r>
              <a:t>Your coffee stop, explained</a:t>
            </a:r>
          </a:p>
          <a:p>
            <a:pPr>
              <a:spcAft>
                <a:spcPts val="1000"/>
              </a:spcAft>
              <a:defRPr sz="1500" b="0">
                <a:solidFill>
                  <a:srgbClr val="202135"/>
                </a:solidFill>
                <a:latin typeface="Arial"/>
              </a:defRPr>
            </a:pPr>
            <a:r>
              <a:t>What matters in your coffee moment?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931920"/>
            <a:ext cx="3529584" cy="1865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078224"/>
            <a:ext cx="3182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945C6"/>
                </a:solidFill>
                <a:latin typeface="Arial"/>
              </a:defRPr>
            </a:pPr>
            <a:r>
              <a:t>AutoPro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572000"/>
            <a:ext cx="3182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02135"/>
                </a:solidFill>
                <a:latin typeface="Arial"/>
              </a:defRPr>
            </a:pPr>
            <a:r>
              <a:t>The honest clean transformation</a:t>
            </a:r>
          </a:p>
          <a:p>
            <a:pPr>
              <a:spcAft>
                <a:spcPts val="1000"/>
              </a:spcAft>
              <a:defRPr sz="1500" b="0">
                <a:solidFill>
                  <a:srgbClr val="202135"/>
                </a:solidFill>
                <a:latin typeface="Arial"/>
              </a:defRPr>
            </a:pPr>
            <a:r>
              <a:t>Watch the care, detail by detail.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79392" y="3931920"/>
            <a:ext cx="3529584" cy="1865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43983" y="4078224"/>
            <a:ext cx="3182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945C6"/>
                </a:solidFill>
                <a:latin typeface="Arial"/>
              </a:defRPr>
            </a:pPr>
            <a:r>
              <a:t>NXT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983" y="4572000"/>
            <a:ext cx="3182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02135"/>
                </a:solidFill>
                <a:latin typeface="Arial"/>
              </a:defRPr>
            </a:pPr>
            <a:r>
              <a:t>Prepared, not airbrushed</a:t>
            </a:r>
          </a:p>
          <a:p>
            <a:pPr>
              <a:spcAft>
                <a:spcPts val="1000"/>
              </a:spcAft>
              <a:defRPr sz="1500" b="0">
                <a:solidFill>
                  <a:srgbClr val="202135"/>
                </a:solidFill>
                <a:latin typeface="Arial"/>
              </a:defRPr>
            </a:pPr>
            <a:r>
              <a:t>Here is how this vehicle is presented.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10144" y="3931920"/>
            <a:ext cx="3529584" cy="1865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74736" y="4078224"/>
            <a:ext cx="3182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945C6"/>
                </a:solidFill>
                <a:latin typeface="Arial"/>
              </a:defRPr>
            </a:pPr>
            <a:r>
              <a:t>Pilot approach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74736" y="4572000"/>
            <a:ext cx="3182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02135"/>
                </a:solidFill>
                <a:latin typeface="Arial"/>
              </a:defRPr>
            </a:pPr>
            <a:r>
              <a:t>Approve one concept per brand, define a baseline and compare like-for-like formats.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945C6"/>
                </a:solidFill>
                <a:latin typeface="Arial"/>
              </a:defRPr>
            </a:pPr>
            <a:r>
              <a:t>MANAGEMENT BRIEFING • JUNE–SEPTEMBER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202135"/>
                </a:solidFill>
                <a:latin typeface="Arial"/>
              </a:defRPr>
            </a:pPr>
            <a:r>
              <a:t>Measure usefulness before scaling volume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26579"/>
                </a:solidFill>
                <a:latin typeface="Arial"/>
              </a:defRPr>
            </a:pPr>
            <a:r>
              <a:t>C2 • Public-source intelligence | Reconstructed 8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26579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3529584" cy="1865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020824"/>
            <a:ext cx="3182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945C6"/>
                </a:solidFill>
                <a:latin typeface="Arial"/>
              </a:defRPr>
            </a:pPr>
            <a:r>
              <a:t>Americana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514600"/>
            <a:ext cx="3182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02135"/>
                </a:solidFill>
                <a:latin typeface="Arial"/>
              </a:defRPr>
            </a:pPr>
            <a:r>
              <a:t>Saves per reached account and meaningful adult occasion comments.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9392" y="1874519"/>
            <a:ext cx="3529584" cy="1865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43983" y="2020824"/>
            <a:ext cx="3182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945C6"/>
                </a:solidFill>
                <a:latin typeface="Arial"/>
              </a:defRPr>
            </a:pPr>
            <a:r>
              <a:t>California Garden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983" y="2514600"/>
            <a:ext cx="3182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02135"/>
                </a:solidFill>
                <a:latin typeface="Arial"/>
              </a:defRPr>
            </a:pPr>
            <a:r>
              <a:t>Saves per reached account, shares and meaningful preparation questions.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10144" y="1874519"/>
            <a:ext cx="3529584" cy="1865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74736" y="2020824"/>
            <a:ext cx="3182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945C6"/>
                </a:solidFill>
                <a:latin typeface="Arial"/>
              </a:defRPr>
            </a:pPr>
            <a:r>
              <a:t>ZOOM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74736" y="2514600"/>
            <a:ext cx="3182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02135"/>
                </a:solidFill>
                <a:latin typeface="Arial"/>
              </a:defRPr>
            </a:pPr>
            <a:r>
              <a:t>Meaningful routine comments and qualified geographic reach where available.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931920"/>
            <a:ext cx="3529584" cy="1865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078224"/>
            <a:ext cx="3182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945C6"/>
                </a:solidFill>
                <a:latin typeface="Arial"/>
              </a:defRPr>
            </a:pPr>
            <a:r>
              <a:t>AutoPro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572000"/>
            <a:ext cx="3182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02135"/>
                </a:solidFill>
                <a:latin typeface="Arial"/>
              </a:defRPr>
            </a:pPr>
            <a:r>
              <a:t>Completion rate, saves and relevant technical questions.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79392" y="3931920"/>
            <a:ext cx="3529584" cy="1865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43983" y="4078224"/>
            <a:ext cx="3182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945C6"/>
                </a:solidFill>
                <a:latin typeface="Arial"/>
              </a:defRPr>
            </a:pPr>
            <a:r>
              <a:t>NXT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983" y="4572000"/>
            <a:ext cx="3182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02135"/>
                </a:solidFill>
                <a:latin typeface="Arial"/>
              </a:defRPr>
            </a:pPr>
            <a:r>
              <a:t>Checklist saves and relevant vehicle questions.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10144" y="3931920"/>
            <a:ext cx="3529584" cy="1865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74736" y="4078224"/>
            <a:ext cx="3182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945C6"/>
                </a:solidFill>
                <a:latin typeface="Arial"/>
              </a:defRPr>
            </a:pPr>
            <a:r>
              <a:t>No invented ROI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74736" y="4572000"/>
            <a:ext cx="3182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02135"/>
                </a:solidFill>
                <a:latin typeface="Arial"/>
              </a:defRPr>
            </a:pPr>
            <a:r>
              <a:t>Use account analytics and approved UTM links. Compare format, length and spend consistently.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945C6"/>
                </a:solidFill>
                <a:latin typeface="Arial"/>
              </a:defRPr>
            </a:pPr>
            <a:r>
              <a:t>MANAGEMENT BRIEFING • JUNE–SEPTEMBER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202135"/>
                </a:solidFill>
                <a:latin typeface="Arial"/>
              </a:defRPr>
            </a:pPr>
            <a:r>
              <a:t>The report pack | Ready for agency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26579"/>
                </a:solidFill>
                <a:latin typeface="Arial"/>
              </a:defRPr>
            </a:pPr>
            <a:r>
              <a:t>C2 • Public-source intelligence | Reconstructed 8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26579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3529584" cy="1865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020824"/>
            <a:ext cx="3182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945C6"/>
                </a:solidFill>
                <a:latin typeface="Arial"/>
              </a:defRPr>
            </a:pPr>
            <a:r>
              <a:t>20 monthly PDFs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514600"/>
            <a:ext cx="3182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02135"/>
                </a:solidFill>
                <a:latin typeface="Arial"/>
              </a:defRPr>
            </a:pPr>
            <a:r>
              <a:t>Seven pages each: executive priorities, UAE, GCC, global, briefs, measurement and sources.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9392" y="1874519"/>
            <a:ext cx="3529584" cy="1865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43983" y="2020824"/>
            <a:ext cx="3182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945C6"/>
                </a:solidFill>
                <a:latin typeface="Arial"/>
              </a:defRPr>
            </a:pPr>
            <a:r>
              <a:t>60 creative briefs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983" y="2514600"/>
            <a:ext cx="3182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02135"/>
                </a:solidFill>
                <a:latin typeface="Arial"/>
              </a:defRPr>
            </a:pPr>
            <a:r>
              <a:t>Opening hook, execution sequence, recommended format and CTA.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10144" y="1874519"/>
            <a:ext cx="3529584" cy="1865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74736" y="2020824"/>
            <a:ext cx="3182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945C6"/>
                </a:solidFill>
                <a:latin typeface="Arial"/>
              </a:defRPr>
            </a:pPr>
            <a:r>
              <a:t>Traceable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74736" y="2514600"/>
            <a:ext cx="3182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02135"/>
                </a:solidFill>
                <a:latin typeface="Arial"/>
              </a:defRPr>
            </a:pPr>
            <a:r>
              <a:t>Source register plus report/source mapping and content opportunity CSVs.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945C6"/>
                </a:solidFill>
                <a:latin typeface="Arial"/>
              </a:defRPr>
            </a:pPr>
            <a:r>
              <a:t>MANAGEMENT BRIEFING • JUNE–SEPTEMBER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202135"/>
                </a:solidFill>
                <a:latin typeface="Arial"/>
              </a:defRPr>
            </a:pPr>
            <a:r>
              <a:t>Example | Local evidence to brand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26579"/>
                </a:solidFill>
                <a:latin typeface="Arial"/>
              </a:defRPr>
            </a:pPr>
            <a:r>
              <a:t>C2 • Public-source intelligence | Reconstructed 8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26579"/>
                </a:solidFill>
                <a:latin typeface="Arial"/>
              </a:defRPr>
            </a:pPr>
            <a:r>
              <a:t>19</a:t>
            </a:r>
          </a:p>
        </p:txBody>
      </p:sp>
      <p:pic>
        <p:nvPicPr>
          <p:cNvPr id="6" name="Picture 5" descr="autopro-2026-08-pag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737360"/>
            <a:ext cx="323341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945C6"/>
                </a:solidFill>
                <a:latin typeface="Arial"/>
              </a:defRPr>
            </a:pPr>
            <a:r>
              <a:t>MANAGEMENT BRIEFING • JUNE–SEPTEMBER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202135"/>
                </a:solidFill>
                <a:latin typeface="Arial"/>
              </a:defRPr>
            </a:pPr>
            <a:r>
              <a:t>Example | Global evidence with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26579"/>
                </a:solidFill>
                <a:latin typeface="Arial"/>
              </a:defRPr>
            </a:pPr>
            <a:r>
              <a:t>C2 • Public-source intelligence | Reconstructed 8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26579"/>
                </a:solidFill>
                <a:latin typeface="Arial"/>
              </a:defRPr>
            </a:pPr>
            <a:r>
              <a:t>20</a:t>
            </a:r>
          </a:p>
        </p:txBody>
      </p:sp>
      <p:pic>
        <p:nvPicPr>
          <p:cNvPr id="6" name="Picture 5" descr="california-garden-2026-09-pag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737360"/>
            <a:ext cx="323341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945C6"/>
                </a:solidFill>
                <a:latin typeface="Arial"/>
              </a:defRPr>
            </a:pPr>
            <a:r>
              <a:t>MANAGEMENT BRIEFING • JUNE–SEPTEMBER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202135"/>
                </a:solidFill>
                <a:latin typeface="Arial"/>
              </a:defRPr>
            </a:pPr>
            <a:r>
              <a:t>Monthly delivery | Proposed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26579"/>
                </a:solidFill>
                <a:latin typeface="Arial"/>
              </a:defRPr>
            </a:pPr>
            <a:r>
              <a:t>C2 • Public-source intelligence | Reconstructed 8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26579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3529584" cy="1865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020824"/>
            <a:ext cx="3182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945C6"/>
                </a:solidFill>
                <a:latin typeface="Arial"/>
              </a:defRPr>
            </a:pPr>
            <a:r>
              <a:t>Research &amp; screening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514600"/>
            <a:ext cx="3182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02135"/>
                </a:solidFill>
                <a:latin typeface="Arial"/>
              </a:defRPr>
            </a:pPr>
            <a:r>
              <a:t>Collect allowed public sources; verify geography, publication dates, claims and source quality.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9392" y="1874519"/>
            <a:ext cx="3529584" cy="1865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43983" y="2020824"/>
            <a:ext cx="3182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945C6"/>
                </a:solidFill>
                <a:latin typeface="Arial"/>
              </a:defRPr>
            </a:pPr>
            <a:r>
              <a:t>Brand interpretation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983" y="2514600"/>
            <a:ext cx="3182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02135"/>
                </a:solidFill>
                <a:latin typeface="Arial"/>
              </a:defRPr>
            </a:pPr>
            <a:r>
              <a:t>Draft the three geographic sections against approved products, positioning and client priorities.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10144" y="1874519"/>
            <a:ext cx="3529584" cy="1865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74736" y="2020824"/>
            <a:ext cx="3182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945C6"/>
                </a:solidFill>
                <a:latin typeface="Arial"/>
              </a:defRPr>
            </a:pPr>
            <a:r>
              <a:t>Human review &amp; delivery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74736" y="2514600"/>
            <a:ext cx="3182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02135"/>
                </a:solidFill>
                <a:latin typeface="Arial"/>
              </a:defRPr>
            </a:pPr>
            <a:r>
              <a:t>Editor checks recommendations, then publishes reports and emails the approved download link.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434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02135"/>
                </a:solidFill>
                <a:latin typeface="Arial"/>
              </a:defRPr>
            </a:pPr>
            <a:r>
              <a:t>Monthly scheduling and email delivery are not activated.</a:t>
            </a:r>
          </a:p>
          <a:p>
            <a:pPr>
              <a:spcAft>
                <a:spcPts val="1000"/>
              </a:spcAft>
              <a:defRPr sz="2200" b="0">
                <a:solidFill>
                  <a:srgbClr val="202135"/>
                </a:solidFill>
                <a:latin typeface="Arial"/>
              </a:defRPr>
            </a:pPr>
            <a:r>
              <a:t>Next implementation requires a scheduler, storage and an authorised mail service.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945C6"/>
                </a:solidFill>
                <a:latin typeface="Arial"/>
              </a:defRPr>
            </a:pPr>
            <a:r>
              <a:t>MANAGEMENT BRIEFING • JUNE–SEPTEMBER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202135"/>
                </a:solidFill>
                <a:latin typeface="Arial"/>
              </a:defRPr>
            </a:pPr>
            <a:r>
              <a:t>The management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26579"/>
                </a:solidFill>
                <a:latin typeface="Arial"/>
              </a:defRPr>
            </a:pPr>
            <a:r>
              <a:t>C2 • Public-source intelligence | Reconstructed 8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26579"/>
                </a:solidFill>
                <a:latin typeface="Arial"/>
              </a:defRPr>
            </a:pPr>
            <a: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515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 b="0">
                <a:solidFill>
                  <a:srgbClr val="202135"/>
                </a:solidFill>
                <a:latin typeface="Arial"/>
              </a:defRPr>
            </a:pPr>
            <a:r>
              <a:t>1. Approve a small content pilot for each brand.</a:t>
            </a:r>
          </a:p>
          <a:p>
            <a:pPr>
              <a:spcAft>
                <a:spcPts val="1000"/>
              </a:spcAft>
              <a:defRPr sz="2600" b="0">
                <a:solidFill>
                  <a:srgbClr val="202135"/>
                </a:solidFill>
                <a:latin typeface="Arial"/>
              </a:defRPr>
            </a:pPr>
            <a:r>
              <a:t>2. Supply approved SKUs, claims, campaign priorities and account baselines.</a:t>
            </a:r>
          </a:p>
          <a:p>
            <a:pPr>
              <a:spcAft>
                <a:spcPts val="1000"/>
              </a:spcAft>
              <a:defRPr sz="2600" b="0">
                <a:solidFill>
                  <a:srgbClr val="202135"/>
                </a:solidFill>
                <a:latin typeface="Arial"/>
              </a:defRPr>
            </a:pPr>
            <a:r>
              <a:t>3. Review pilot results before adopting a recurring monthly reporting service.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945C6"/>
                </a:solidFill>
                <a:latin typeface="Arial"/>
              </a:defRPr>
            </a:pPr>
            <a:r>
              <a:t>MANAGEMENT BRIEFING • JUNE–SEPTEMBER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202135"/>
                </a:solidFill>
                <a:latin typeface="Arial"/>
              </a:defRPr>
            </a:pPr>
            <a:r>
              <a:t>Sources and deeper 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26579"/>
                </a:solidFill>
                <a:latin typeface="Arial"/>
              </a:defRPr>
            </a:pPr>
            <a:r>
              <a:t>C2 • Public-source intelligence | Reconstructed 8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26579"/>
                </a:solidFill>
                <a:latin typeface="Arial"/>
              </a:defRPr>
            </a:pPr>
            <a: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607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02135"/>
                </a:solidFill>
                <a:latin typeface="Arial"/>
              </a:defRPr>
            </a:pPr>
            <a:r>
              <a:t>Read the matching brand/month PDF for cited evidence and detailed briefs.</a:t>
            </a:r>
          </a:p>
          <a:p>
            <a:pPr>
              <a:spcAft>
                <a:spcPts val="1000"/>
              </a:spcAft>
              <a:defRPr sz="2200" b="0">
                <a:solidFill>
                  <a:srgbClr val="202135"/>
                </a:solidFill>
                <a:latin typeface="Arial"/>
              </a:defRPr>
            </a:pPr>
          </a:p>
          <a:p>
            <a:pPr>
              <a:spcAft>
                <a:spcPts val="1000"/>
              </a:spcAft>
              <a:defRPr sz="2200" b="0">
                <a:solidFill>
                  <a:srgbClr val="202135"/>
                </a:solidFill>
                <a:latin typeface="Arial"/>
              </a:defRPr>
            </a:pPr>
            <a:r>
              <a:t>SOURCE-REGISTER.csv contains 45 reviewed source records.</a:t>
            </a:r>
          </a:p>
          <a:p>
            <a:pPr>
              <a:spcAft>
                <a:spcPts val="1000"/>
              </a:spcAft>
              <a:defRPr sz="2200" b="0">
                <a:solidFill>
                  <a:srgbClr val="202135"/>
                </a:solidFill>
                <a:latin typeface="Arial"/>
              </a:defRPr>
            </a:pPr>
            <a:r>
              <a:t>REPORT-SOURCE-MAPPING.csv identifies the evidence used in each edition.</a:t>
            </a:r>
          </a:p>
          <a:p>
            <a:pPr>
              <a:spcAft>
                <a:spcPts val="1000"/>
              </a:spcAft>
              <a:defRPr sz="2200" b="0">
                <a:solidFill>
                  <a:srgbClr val="202135"/>
                </a:solidFill>
                <a:latin typeface="Arial"/>
              </a:defRPr>
            </a:pPr>
            <a:r>
              <a:t>CONTENT-OPPORTUNITIES.csv provides the 60 creative briefs in one working sheet.</a:t>
            </a:r>
          </a:p>
          <a:p>
            <a:pPr>
              <a:spcAft>
                <a:spcPts val="1000"/>
              </a:spcAft>
              <a:defRPr sz="2200" b="0">
                <a:solidFill>
                  <a:srgbClr val="202135"/>
                </a:solidFill>
                <a:latin typeface="Arial"/>
              </a:defRPr>
            </a:pPr>
          </a:p>
          <a:p>
            <a:pPr>
              <a:spcAft>
                <a:spcPts val="1000"/>
              </a:spcAft>
              <a:defRPr sz="2200" b="0">
                <a:solidFill>
                  <a:srgbClr val="202135"/>
                </a:solidFill>
                <a:latin typeface="Arial"/>
              </a:defRPr>
            </a:pPr>
            <a:r>
              <a:t>Source links and limitations also appear in the speaker notes of relevant slides.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
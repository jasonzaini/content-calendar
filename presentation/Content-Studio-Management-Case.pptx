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proposal is about improving how the agency operates its monthly content workflow. It is a working internal prototype, not a production rollout. Three fictional brand workspaces show the experience. The core presentation is slides 1–23; slides 24–33 are the detailed screenshot appendix. Allow 15–20 minutes for the core story, then use the appendix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workflow the agency described, not an invented time study. Highlight downloads, repeated uploads, comment transfer, searching for the latest file and packaging videos. No measured cost or ROI is being claimed yet. Ask management to assess the amount of administrative effort in the current process.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architectural principle in ordinary language: we do not maintain separate decks for each team. A planned social post holds its idea, copy, media and feedback. Calendar, board and client presentation are different views of that record. Exports are secondary and rich media remains in the web portal.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management through the complete lifecycle before the screens. The important point is continuity: a client change request remains on the same post and returns directly to the production team. Internal and client review have separate visibility and approval states.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Command centre tab. Counts are calculated from the current demo records, not fictitious performance results. The initial seed has 34 posts across three October calendars. The presentation captures a fresh demo state; browser edits can change live counts.</a:t>
            </a:r>
          </a:p>
          <a:p/>
          <a:p>
            <a:r>
              <a:t>SCREENSHOT: 01-command-centre.png.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Portfolio photography is illustrative stock imagery, not approved client artwork. Real brand guidelines have not been invented. The seed includes placeholder settings that the agency can replace. Brand, client and agency hierarchy is designed to allow additional brands.</a:t>
            </a:r>
          </a:p>
          <a:p/>
          <a:p>
            <a:r>
              <a:t>SCREENSHOT: 02-brand-portfolio.png.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planning studio is a working local creation workflow supported by deterministic category templates. It is not connected to an AI provider or live trend research. The mix is editable and the total must match the requested post count. Account Managers and Admins create calendars. Demonstrate November 2026 if switching to the live HTML; October remains the seeded review calendar.</a:t>
            </a:r>
          </a:p>
          <a:p/>
          <a:p>
            <a:r>
              <a:t>SCREENSHOT: 03-planning-studio.png.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AutoPro October as the concrete example. The calendar contains 12 demonstration posts. Emphasise that an edit to a caption or an uploaded version appears in the same post across the views. Appendix includes the monthly date grid and workspace dashboard.</a:t>
            </a:r>
          </a:p>
          <a:p/>
          <a:p>
            <a:r>
              <a:t>SCREENSHOT: 12-calendar-grid.png.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 provides a nine-stage board. Board status alone is not proof that every deliverable is approved; separate idea, copy, artwork, video, internal and client approval dimensions remain on the post. Published is a workflow status, not a connected social publishing action.</a:t>
            </a:r>
          </a:p>
          <a:p/>
          <a:p>
            <a:r>
              <a:t>SCREENSHOT: 14-production-board.png.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post from the calendar or a conversation. This drawer demonstrates the idea-to-execution record. Use the asset and history appendix for more detail. Content is fictional and brand settings are configurable; the interface does not imply official approved guidelines.</a:t>
            </a:r>
          </a:p>
          <a:p/>
          <a:p>
            <a:r>
              <a:t>SCREENSHOT: 17-post-brief.png.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Ahmed to demonstrate the copywriter perspective during a live walkthrough if desired. Assigned-role permissions still apply. Arabic samples should be reviewed by a native-language copywriter; an RTL field is not a claim of translation quality.</a:t>
            </a:r>
          </a:p>
          <a:p/>
          <a:p>
            <a:r>
              <a:t>SCREENSHOT: 15-copy-desk.png.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working browser-demo workflow. Nothing is saved until the user selects and confirms the rows. CSV supports quoted commas and multiline cells. Native Excel parsing is not implemented; export Excel to CSV. Saving revisions resets approval states, preserving the audit trail.</a:t>
            </a:r>
          </a:p>
          <a:p/>
          <a:p>
            <a:r>
              <a:t>SCREENSHOT: 05-caption-import.png.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inbox is rule-based, not a live AI matcher. Scores describe filename signals, not calibrated statistical confidence. Attach creates a new version on the post; it never automatically attaches a low-confidence file. The portable HTML limits files to 2 MB; the server prototype validates files with a higher configured limit. Previous versions remain available.</a:t>
            </a:r>
          </a:p>
          <a:p/>
          <a:p>
            <a:r>
              <a:t>SCREENSHOT: 04-asset-inbox.png.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is an actual view over the same content records. Full-screen presentation is available in the browser. The PPT deck being delivered is a management case, not an automatically generated approved client content export. Secure URLs belong to the server-backed application; local HTML perspective switching is simulated.</a:t>
            </a:r>
          </a:p>
          <a:p/>
          <a:p>
            <a:r>
              <a:t>SCREENSHOT: 16-client-presentation.png.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an ENOC client comment, then switch to Jason and reopen the same post. Client interfaces hide internal comments. The HTML contains fictional embedded seed data and is not a security boundary. Strict client access enforcement must use the authenticated server and its scoped APIs.</a:t>
            </a:r>
          </a:p>
          <a:p/>
          <a:p>
            <a:r>
              <a:t>SCREENSHOT: 18-connected-feedback.png.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Calendar health flags specific problems in the current demo records. It complements separate deliverable approval states. It should not be described as comprehensive legal, brand or cultural compliance. The agency still needs to agree its submission rules and mandatory brand checks.</a:t>
            </a:r>
          </a:p>
          <a:p/>
          <a:p>
            <a:r>
              <a:t>SCREENSHOT: 21-health-check.png.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Clearly call this a concept lab: caption directions use deterministic templates, not an external AI provider. Previous-content search retrieves actual local records by text; semantic similarity is future work. General learning resources are attributed; no social post discovery or engagement-performance claim is made. UAE occasion examples appear in the appendix.</a:t>
            </a:r>
          </a:p>
          <a:p/>
          <a:p>
            <a:r>
              <a:t>SCREENSHOT: 06-creative-intelligence.png.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current-record metrics, not longitudinal performance analytics. The prototype does not yet provide measured average approval time, revision trends or actual time saved. Those require real workflow history and reliable instrumentation. Workload is assignment count, not a staff capacity estimate.</a:t>
            </a:r>
          </a:p>
          <a:p/>
          <a:p>
            <a:r>
              <a:t>SCREENSHOT: 08-agency-insights.png.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calculator displays 6.8 hours after rounding 6.75 to one decimal place. This is addressable assumed repetitive work, not a verified saving. Include adoption effort, review effort and operational overhead when evaluating actual ROI. The pilot should capture a baseline and comparable results; the prototype contains no observed time-savings evidence.</a:t>
            </a:r>
          </a:p>
          <a:p/>
          <a:p>
            <a:r>
              <a:t>SCREENSHOT: 09-workload-savings.png.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HTML roles demonstrate interface behaviour and local simulated permission rules. All seed data is inspectable in the portable file. Do not claim that sharing this HTML is secure client isolation. The server-backed prototype implements authenticated client scopes and private media routes; production security review and identity lifecycle work are release gates.</a:t>
            </a:r>
          </a:p>
          <a:p/>
          <a:p>
            <a:r>
              <a:t>SCREENSHOT: 24-client-scope.png. Captured from the fictional interactive HTML demo. Text and shapes are editable; screenshots are raster images.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Explicitly separate the local HTML, the server-backed prototype and the future production service. HTML is useful for demos, not confidential client operations. Advanced provider-connected AI, reference research, notification delivery, native Excel parsing, PDF/PPTX content exports and social scheduling are not completed production capabilities. A successful prototype build is not a security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proposal, not a committed release date. Gate the pilot on secure deployment readiness and real client permissions. Suggested ownership: an Account Manager sponsor, a creative lead, a client reviewer and a technical owner. Capture baseline measures before the pilot and agree what success means with management; do not invent thresholds or a delivery budget.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concrete decision requested: sponsorship for a controlled pilot and scoped production hardening. Do not imply an approved budget or promise a timeline that has not been estimated. The appendix contains all remaining screens, so management can explore the depth of the prototype during questions. Return to the live HTML if they want to see edits persist.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A familiar workspace overview, alongside the richer command centre.</a:t>
            </a:r>
          </a:p>
          <a:p>
            <a:r>
              <a:t>Captured from the fictional local demo: 11-workspace-dashboard.png.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Content timing and publishing dates in a traditional monthly grid.</a:t>
            </a:r>
          </a:p>
          <a:p>
            <a:r>
              <a:t>Captured from the fictional local demo: 13-month-view.png.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Configurable profile fields; real guidelines must be entered by the agency.</a:t>
            </a:r>
          </a:p>
          <a:p>
            <a:r>
              <a:t>Captured from the fictional local demo: 22-brand-profile.png.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Find a previous idea directly from the global workspace search.</a:t>
            </a:r>
          </a:p>
          <a:p>
            <a:r>
              <a:t>Captured from the fictional local demo: 23-global-search.png.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Review the latest media and keep earlier versions accessible.</a:t>
            </a:r>
          </a:p>
          <a:p>
            <a:r>
              <a:t>Captured from the fictional local demo: 19-asset-versions.png.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Who changed the record, what changed and when it happened.</a:t>
            </a:r>
          </a:p>
          <a:p>
            <a:r>
              <a:t>Captured from the fictional local demo: 20-version-history.png.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Client-visible feedback and approval actions attached to a post.</a:t>
            </a:r>
          </a:p>
          <a:p>
            <a:r>
              <a:t>Captured from the fictional local demo: 25-client-approval.png.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Illustrative relevance and attributed learning resources, not live research.</a:t>
            </a:r>
          </a:p>
          <a:p>
            <a:r>
              <a:t>Captured from the fictional local demo: 07-references-occasions.png.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Browser presentation mode with navigation and presenter support.</a:t>
            </a:r>
          </a:p>
          <a:p>
            <a:r>
              <a:t>Captured from the fictional local demo: 10-case-presentation.png.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deep dive. A focused client experience on a smaller screen.</a:t>
            </a:r>
          </a:p>
          <a:p>
            <a:r>
              <a:t>Captured from the fictional local demo: 26-mobile-review.png. No production capability should be inferred beyond the maturity map on slide 21. All tab-level screens are covered in the core presentation; this appendix provides additional detail.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92336"/>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B7A5CD"/>
                </a:solidFill>
                <a:latin typeface="Arial"/>
              </a:defRPr>
            </a:pPr>
            <a:r>
              <a:t>CONTENT / STUDIO · A CONNECTED AGENCY WORKFLOW</a:t>
            </a:r>
          </a:p>
        </p:txBody>
      </p:sp>
      <p:sp>
        <p:nvSpPr>
          <p:cNvPr id="3" name="Rectangle 2"/>
          <p:cNvSpPr/>
          <p:nvPr/>
        </p:nvSpPr>
        <p:spPr>
          <a:xfrm>
            <a:off x="487679" y="563879"/>
            <a:ext cx="11216639" cy="7619"/>
          </a:xfrm>
          <a:prstGeom prst="rect">
            <a:avLst/>
          </a:prstGeom>
          <a:solidFill>
            <a:srgbClr val="51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B7A5CD"/>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B7A5CD"/>
                </a:solidFill>
                <a:latin typeface="Arial"/>
              </a:defRPr>
            </a:pPr>
            <a:r>
              <a:t>01</a:t>
            </a:r>
          </a:p>
        </p:txBody>
      </p:sp>
      <p:sp>
        <p:nvSpPr>
          <p:cNvPr id="6" name="TextBox 5"/>
          <p:cNvSpPr txBox="1"/>
          <p:nvPr/>
        </p:nvSpPr>
        <p:spPr>
          <a:xfrm>
            <a:off x="487679" y="1005839"/>
            <a:ext cx="6095999" cy="1621535"/>
          </a:xfrm>
          <a:prstGeom prst="rect">
            <a:avLst/>
          </a:prstGeom>
          <a:noFill/>
        </p:spPr>
        <p:txBody>
          <a:bodyPr wrap="none" lIns="0" rIns="0" tIns="0" bIns="0">
            <a:spAutoFit/>
          </a:bodyPr>
          <a:lstStyle/>
          <a:p>
            <a:pPr>
              <a:lnSpc>
                <a:spcPct val="112000"/>
              </a:lnSpc>
              <a:spcBef>
                <a:spcPts val="0"/>
              </a:spcBef>
              <a:spcAft>
                <a:spcPts val="0"/>
              </a:spcAft>
              <a:defRPr sz="4680" b="1">
                <a:solidFill>
                  <a:srgbClr val="FFFFFF"/>
                </a:solidFill>
                <a:latin typeface="Arial"/>
              </a:defRPr>
            </a:pPr>
            <a:r>
              <a:t>The calendar</a:t>
            </a:r>
          </a:p>
          <a:p>
            <a:pPr>
              <a:lnSpc>
                <a:spcPct val="112000"/>
              </a:lnSpc>
              <a:spcBef>
                <a:spcPts val="0"/>
              </a:spcBef>
              <a:spcAft>
                <a:spcPts val="0"/>
              </a:spcAft>
              <a:defRPr sz="4680" b="1">
                <a:solidFill>
                  <a:srgbClr val="FFFFFF"/>
                </a:solidFill>
                <a:latin typeface="Arial"/>
              </a:defRPr>
            </a:pPr>
            <a:r>
              <a:t>is alive.</a:t>
            </a:r>
          </a:p>
        </p:txBody>
      </p:sp>
      <p:sp>
        <p:nvSpPr>
          <p:cNvPr id="7" name="TextBox 6"/>
          <p:cNvSpPr txBox="1"/>
          <p:nvPr/>
        </p:nvSpPr>
        <p:spPr>
          <a:xfrm>
            <a:off x="487679" y="2727959"/>
            <a:ext cx="4800599" cy="878585"/>
          </a:xfrm>
          <a:prstGeom prst="rect">
            <a:avLst/>
          </a:prstGeom>
          <a:noFill/>
        </p:spPr>
        <p:txBody>
          <a:bodyPr wrap="none" lIns="0" rIns="0" tIns="0" bIns="0">
            <a:spAutoFit/>
          </a:bodyPr>
          <a:lstStyle/>
          <a:p>
            <a:pPr>
              <a:lnSpc>
                <a:spcPct val="112000"/>
              </a:lnSpc>
              <a:spcBef>
                <a:spcPts val="0"/>
              </a:spcBef>
              <a:spcAft>
                <a:spcPts val="0"/>
              </a:spcAft>
              <a:defRPr sz="1620" b="0">
                <a:solidFill>
                  <a:srgbClr val="C8B6DC"/>
                </a:solidFill>
                <a:latin typeface="Arial"/>
              </a:defRPr>
            </a:pPr>
            <a:r>
              <a:t>A management case for replacing deck</a:t>
            </a:r>
          </a:p>
          <a:p>
            <a:pPr>
              <a:lnSpc>
                <a:spcPct val="112000"/>
              </a:lnSpc>
              <a:spcBef>
                <a:spcPts val="0"/>
              </a:spcBef>
              <a:spcAft>
                <a:spcPts val="0"/>
              </a:spcAft>
              <a:defRPr sz="1620" b="0">
                <a:solidFill>
                  <a:srgbClr val="C8B6DC"/>
                </a:solidFill>
                <a:latin typeface="Arial"/>
              </a:defRPr>
            </a:pPr>
            <a:r>
              <a:t>administration with a shared content</a:t>
            </a:r>
          </a:p>
          <a:p>
            <a:pPr>
              <a:lnSpc>
                <a:spcPct val="112000"/>
              </a:lnSpc>
              <a:spcBef>
                <a:spcPts val="0"/>
              </a:spcBef>
              <a:spcAft>
                <a:spcPts val="0"/>
              </a:spcAft>
              <a:defRPr sz="1620" b="0">
                <a:solidFill>
                  <a:srgbClr val="C8B6DC"/>
                </a:solidFill>
                <a:latin typeface="Arial"/>
              </a:defRPr>
            </a:pPr>
            <a:r>
              <a:t>operations platform.</a:t>
            </a:r>
          </a:p>
        </p:txBody>
      </p:sp>
      <p:sp>
        <p:nvSpPr>
          <p:cNvPr id="8" name="Rounded Rectangle 7"/>
          <p:cNvSpPr/>
          <p:nvPr/>
        </p:nvSpPr>
        <p:spPr>
          <a:xfrm>
            <a:off x="487679" y="4168139"/>
            <a:ext cx="4114799" cy="472439"/>
          </a:xfrm>
          <a:prstGeom prst="roundRect">
            <a:avLst>
              <a:gd name="adj" fmla="val 8000"/>
            </a:avLst>
          </a:prstGeom>
          <a:solidFill>
            <a:srgbClr val="D3B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79" y="4282439"/>
            <a:ext cx="3848099" cy="284225"/>
          </a:xfrm>
          <a:prstGeom prst="rect">
            <a:avLst/>
          </a:prstGeom>
          <a:noFill/>
        </p:spPr>
        <p:txBody>
          <a:bodyPr wrap="none" lIns="0" rIns="0" tIns="0" bIns="0">
            <a:spAutoFit/>
          </a:bodyPr>
          <a:lstStyle/>
          <a:p>
            <a:pPr>
              <a:lnSpc>
                <a:spcPct val="112000"/>
              </a:lnSpc>
              <a:spcBef>
                <a:spcPts val="0"/>
              </a:spcBef>
              <a:spcAft>
                <a:spcPts val="0"/>
              </a:spcAft>
              <a:defRPr sz="1260" b="1">
                <a:solidFill>
                  <a:srgbClr val="292336"/>
                </a:solidFill>
                <a:latin typeface="Arial"/>
              </a:defRPr>
            </a:pPr>
            <a:r>
              <a:t>Ideas → production → review → approval</a:t>
            </a:r>
          </a:p>
        </p:txBody>
      </p:sp>
      <p:sp>
        <p:nvSpPr>
          <p:cNvPr id="10" name="TextBox 9"/>
          <p:cNvSpPr txBox="1"/>
          <p:nvPr/>
        </p:nvSpPr>
        <p:spPr>
          <a:xfrm>
            <a:off x="487679" y="4937759"/>
            <a:ext cx="4952999" cy="244601"/>
          </a:xfrm>
          <a:prstGeom prst="rect">
            <a:avLst/>
          </a:prstGeom>
          <a:noFill/>
        </p:spPr>
        <p:txBody>
          <a:bodyPr wrap="none" lIns="0" rIns="0" tIns="0" bIns="0">
            <a:spAutoFit/>
          </a:bodyPr>
          <a:lstStyle/>
          <a:p>
            <a:pPr>
              <a:lnSpc>
                <a:spcPct val="112000"/>
              </a:lnSpc>
              <a:spcBef>
                <a:spcPts val="0"/>
              </a:spcBef>
              <a:spcAft>
                <a:spcPts val="0"/>
              </a:spcAft>
              <a:defRPr sz="1019" b="0">
                <a:solidFill>
                  <a:srgbClr val="C8B6DC"/>
                </a:solidFill>
                <a:latin typeface="Arial"/>
              </a:defRPr>
            </a:pPr>
            <a:r>
              <a:t>ZOOM / ENOC · AutoPro / ENOC · NXT / AWR</a:t>
            </a:r>
          </a:p>
        </p:txBody>
      </p:sp>
      <p:sp>
        <p:nvSpPr>
          <p:cNvPr id="11" name="TextBox 10"/>
          <p:cNvSpPr txBox="1"/>
          <p:nvPr/>
        </p:nvSpPr>
        <p:spPr>
          <a:xfrm>
            <a:off x="487679" y="5280659"/>
            <a:ext cx="4952999" cy="234695"/>
          </a:xfrm>
          <a:prstGeom prst="rect">
            <a:avLst/>
          </a:prstGeom>
          <a:noFill/>
        </p:spPr>
        <p:txBody>
          <a:bodyPr wrap="none" lIns="0" rIns="0" tIns="0" bIns="0">
            <a:spAutoFit/>
          </a:bodyPr>
          <a:lstStyle/>
          <a:p>
            <a:pPr>
              <a:lnSpc>
                <a:spcPct val="112000"/>
              </a:lnSpc>
              <a:spcBef>
                <a:spcPts val="0"/>
              </a:spcBef>
              <a:spcAft>
                <a:spcPts val="0"/>
              </a:spcAft>
              <a:defRPr sz="960" b="0">
                <a:solidFill>
                  <a:srgbClr val="A895BD"/>
                </a:solidFill>
                <a:latin typeface="Arial"/>
              </a:defRPr>
            </a:pPr>
            <a:r>
              <a:t>Working internal prototype · fictional demo content</a:t>
            </a:r>
          </a:p>
        </p:txBody>
      </p:sp>
      <p:pic>
        <p:nvPicPr>
          <p:cNvPr id="12" name="Picture 11" descr="01-command-centre.png"/>
          <p:cNvPicPr>
            <a:picLocks noChangeAspect="1"/>
          </p:cNvPicPr>
          <p:nvPr/>
        </p:nvPicPr>
        <p:blipFill>
          <a:blip r:embed="rId2"/>
          <a:stretch>
            <a:fillRect/>
          </a:stretch>
        </p:blipFill>
        <p:spPr>
          <a:xfrm>
            <a:off x="5791199" y="1645919"/>
            <a:ext cx="5943599" cy="371855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THE MANAGEMENT CASE</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02</a:t>
            </a:r>
          </a:p>
        </p:txBody>
      </p:sp>
      <p:sp>
        <p:nvSpPr>
          <p:cNvPr id="6" name="TextBox 5"/>
          <p:cNvSpPr txBox="1"/>
          <p:nvPr/>
        </p:nvSpPr>
        <p:spPr>
          <a:xfrm>
            <a:off x="487679" y="853439"/>
            <a:ext cx="11048999" cy="591311"/>
          </a:xfrm>
          <a:prstGeom prst="rect">
            <a:avLst/>
          </a:prstGeom>
          <a:noFill/>
        </p:spPr>
        <p:txBody>
          <a:bodyPr wrap="none" lIns="0" rIns="0" tIns="0" bIns="0">
            <a:spAutoFit/>
          </a:bodyPr>
          <a:lstStyle/>
          <a:p>
            <a:pPr>
              <a:lnSpc>
                <a:spcPct val="112000"/>
              </a:lnSpc>
              <a:spcBef>
                <a:spcPts val="0"/>
              </a:spcBef>
              <a:spcAft>
                <a:spcPts val="0"/>
              </a:spcAft>
              <a:defRPr sz="3120" b="1">
                <a:solidFill>
                  <a:srgbClr val="292336"/>
                </a:solidFill>
                <a:latin typeface="Arial"/>
              </a:defRPr>
            </a:pPr>
            <a:r>
              <a:t>The cost is in the handoffs.</a:t>
            </a:r>
          </a:p>
        </p:txBody>
      </p:sp>
      <p:sp>
        <p:nvSpPr>
          <p:cNvPr id="7" name="TextBox 6"/>
          <p:cNvSpPr txBox="1"/>
          <p:nvPr/>
        </p:nvSpPr>
        <p:spPr>
          <a:xfrm>
            <a:off x="487679" y="1447799"/>
            <a:ext cx="11048999" cy="333755"/>
          </a:xfrm>
          <a:prstGeom prst="rect">
            <a:avLst/>
          </a:prstGeom>
          <a:noFill/>
        </p:spPr>
        <p:txBody>
          <a:bodyPr wrap="none" lIns="0" rIns="0" tIns="0" bIns="0">
            <a:spAutoFit/>
          </a:bodyPr>
          <a:lstStyle/>
          <a:p>
            <a:pPr>
              <a:lnSpc>
                <a:spcPct val="112000"/>
              </a:lnSpc>
              <a:spcBef>
                <a:spcPts val="0"/>
              </a:spcBef>
              <a:spcAft>
                <a:spcPts val="0"/>
              </a:spcAft>
              <a:defRPr sz="1560" b="0">
                <a:solidFill>
                  <a:srgbClr val="74697F"/>
                </a:solidFill>
                <a:latin typeface="Arial"/>
              </a:defRPr>
            </a:pPr>
            <a:r>
              <a:t>A single revision can trigger another round of deck and file administration.</a:t>
            </a:r>
          </a:p>
        </p:txBody>
      </p:sp>
      <p:sp>
        <p:nvSpPr>
          <p:cNvPr id="8" name="Rounded Rectangle 7"/>
          <p:cNvSpPr/>
          <p:nvPr/>
        </p:nvSpPr>
        <p:spPr>
          <a:xfrm>
            <a:off x="487679" y="2247899"/>
            <a:ext cx="3581399" cy="211835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799" y="2453639"/>
            <a:ext cx="31622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7454CE"/>
                </a:solidFill>
                <a:latin typeface="Arial"/>
              </a:defRPr>
            </a:pPr>
            <a:r>
              <a:t>01</a:t>
            </a:r>
          </a:p>
        </p:txBody>
      </p:sp>
      <p:sp>
        <p:nvSpPr>
          <p:cNvPr id="10" name="TextBox 9"/>
          <p:cNvSpPr txBox="1"/>
          <p:nvPr/>
        </p:nvSpPr>
        <p:spPr>
          <a:xfrm>
            <a:off x="685799" y="2857499"/>
            <a:ext cx="3162299" cy="353567"/>
          </a:xfrm>
          <a:prstGeom prst="rect">
            <a:avLst/>
          </a:prstGeom>
          <a:noFill/>
        </p:spPr>
        <p:txBody>
          <a:bodyPr wrap="none" lIns="0" rIns="0" tIns="0" bIns="0">
            <a:spAutoFit/>
          </a:bodyPr>
          <a:lstStyle/>
          <a:p>
            <a:pPr>
              <a:lnSpc>
                <a:spcPct val="112000"/>
              </a:lnSpc>
              <a:spcBef>
                <a:spcPts val="0"/>
              </a:spcBef>
              <a:spcAft>
                <a:spcPts val="0"/>
              </a:spcAft>
              <a:defRPr sz="1680" b="1">
                <a:solidFill>
                  <a:srgbClr val="292336"/>
                </a:solidFill>
                <a:latin typeface="Arial"/>
              </a:defRPr>
            </a:pPr>
            <a:r>
              <a:t>Build the deck</a:t>
            </a:r>
          </a:p>
        </p:txBody>
      </p:sp>
      <p:sp>
        <p:nvSpPr>
          <p:cNvPr id="11" name="TextBox 10"/>
          <p:cNvSpPr txBox="1"/>
          <p:nvPr/>
        </p:nvSpPr>
        <p:spPr>
          <a:xfrm>
            <a:off x="685799" y="3276599"/>
            <a:ext cx="3124199" cy="531875"/>
          </a:xfrm>
          <a:prstGeom prst="rect">
            <a:avLst/>
          </a:prstGeom>
          <a:noFill/>
        </p:spPr>
        <p:txBody>
          <a:bodyPr wrap="none" lIns="0" rIns="0" tIns="0" bIns="0">
            <a:spAutoFit/>
          </a:bodyPr>
          <a:lstStyle/>
          <a:p>
            <a:pPr>
              <a:lnSpc>
                <a:spcPct val="112000"/>
              </a:lnSpc>
              <a:spcBef>
                <a:spcPts val="0"/>
              </a:spcBef>
              <a:spcAft>
                <a:spcPts val="0"/>
              </a:spcAft>
              <a:defRPr sz="1380" b="0">
                <a:solidFill>
                  <a:srgbClr val="74697F"/>
                </a:solidFill>
                <a:latin typeface="Arial"/>
              </a:defRPr>
            </a:pPr>
            <a:r>
              <a:t>Ideas, references and captions are</a:t>
            </a:r>
          </a:p>
          <a:p>
            <a:pPr>
              <a:lnSpc>
                <a:spcPct val="112000"/>
              </a:lnSpc>
              <a:spcBef>
                <a:spcPts val="0"/>
              </a:spcBef>
              <a:spcAft>
                <a:spcPts val="0"/>
              </a:spcAft>
              <a:defRPr sz="1380" b="0">
                <a:solidFill>
                  <a:srgbClr val="74697F"/>
                </a:solidFill>
                <a:latin typeface="Arial"/>
              </a:defRPr>
            </a:pPr>
            <a:r>
              <a:t>assembled manually.</a:t>
            </a:r>
          </a:p>
        </p:txBody>
      </p:sp>
      <p:sp>
        <p:nvSpPr>
          <p:cNvPr id="12" name="Rounded Rectangle 11"/>
          <p:cNvSpPr/>
          <p:nvPr/>
        </p:nvSpPr>
        <p:spPr>
          <a:xfrm>
            <a:off x="4267199" y="2247899"/>
            <a:ext cx="3581399" cy="211835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5319" y="2453639"/>
            <a:ext cx="31622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7454CE"/>
                </a:solidFill>
                <a:latin typeface="Arial"/>
              </a:defRPr>
            </a:pPr>
            <a:r>
              <a:t>02</a:t>
            </a:r>
          </a:p>
        </p:txBody>
      </p:sp>
      <p:sp>
        <p:nvSpPr>
          <p:cNvPr id="14" name="TextBox 13"/>
          <p:cNvSpPr txBox="1"/>
          <p:nvPr/>
        </p:nvSpPr>
        <p:spPr>
          <a:xfrm>
            <a:off x="4465319" y="2857499"/>
            <a:ext cx="3162299" cy="353567"/>
          </a:xfrm>
          <a:prstGeom prst="rect">
            <a:avLst/>
          </a:prstGeom>
          <a:noFill/>
        </p:spPr>
        <p:txBody>
          <a:bodyPr wrap="none" lIns="0" rIns="0" tIns="0" bIns="0">
            <a:spAutoFit/>
          </a:bodyPr>
          <a:lstStyle/>
          <a:p>
            <a:pPr>
              <a:lnSpc>
                <a:spcPct val="112000"/>
              </a:lnSpc>
              <a:spcBef>
                <a:spcPts val="0"/>
              </a:spcBef>
              <a:spcAft>
                <a:spcPts val="0"/>
              </a:spcAft>
              <a:defRPr sz="1680" b="1">
                <a:solidFill>
                  <a:srgbClr val="292336"/>
                </a:solidFill>
                <a:latin typeface="Arial"/>
              </a:defRPr>
            </a:pPr>
            <a:r>
              <a:t>Transfer feedback</a:t>
            </a:r>
          </a:p>
        </p:txBody>
      </p:sp>
      <p:sp>
        <p:nvSpPr>
          <p:cNvPr id="15" name="TextBox 14"/>
          <p:cNvSpPr txBox="1"/>
          <p:nvPr/>
        </p:nvSpPr>
        <p:spPr>
          <a:xfrm>
            <a:off x="4465319" y="3276599"/>
            <a:ext cx="3124199" cy="531875"/>
          </a:xfrm>
          <a:prstGeom prst="rect">
            <a:avLst/>
          </a:prstGeom>
          <a:noFill/>
        </p:spPr>
        <p:txBody>
          <a:bodyPr wrap="none" lIns="0" rIns="0" tIns="0" bIns="0">
            <a:spAutoFit/>
          </a:bodyPr>
          <a:lstStyle/>
          <a:p>
            <a:pPr>
              <a:lnSpc>
                <a:spcPct val="112000"/>
              </a:lnSpc>
              <a:spcBef>
                <a:spcPts val="0"/>
              </a:spcBef>
              <a:spcAft>
                <a:spcPts val="0"/>
              </a:spcAft>
              <a:defRPr sz="1380" b="0">
                <a:solidFill>
                  <a:srgbClr val="74697F"/>
                </a:solidFill>
                <a:latin typeface="Arial"/>
              </a:defRPr>
            </a:pPr>
            <a:r>
              <a:t>Client comments are copied back</a:t>
            </a:r>
          </a:p>
          <a:p>
            <a:pPr>
              <a:lnSpc>
                <a:spcPct val="112000"/>
              </a:lnSpc>
              <a:spcBef>
                <a:spcPts val="0"/>
              </a:spcBef>
              <a:spcAft>
                <a:spcPts val="0"/>
              </a:spcAft>
              <a:defRPr sz="1380" b="0">
                <a:solidFill>
                  <a:srgbClr val="74697F"/>
                </a:solidFill>
                <a:latin typeface="Arial"/>
              </a:defRPr>
            </a:pPr>
            <a:r>
              <a:t>into an internal version.</a:t>
            </a:r>
          </a:p>
        </p:txBody>
      </p:sp>
      <p:sp>
        <p:nvSpPr>
          <p:cNvPr id="16" name="Rounded Rectangle 15"/>
          <p:cNvSpPr/>
          <p:nvPr/>
        </p:nvSpPr>
        <p:spPr>
          <a:xfrm>
            <a:off x="8046719" y="2247899"/>
            <a:ext cx="3581399" cy="211835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4839" y="2453639"/>
            <a:ext cx="31622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7454CE"/>
                </a:solidFill>
                <a:latin typeface="Arial"/>
              </a:defRPr>
            </a:pPr>
            <a:r>
              <a:t>03</a:t>
            </a:r>
          </a:p>
        </p:txBody>
      </p:sp>
      <p:sp>
        <p:nvSpPr>
          <p:cNvPr id="18" name="TextBox 17"/>
          <p:cNvSpPr txBox="1"/>
          <p:nvPr/>
        </p:nvSpPr>
        <p:spPr>
          <a:xfrm>
            <a:off x="8244839" y="2857499"/>
            <a:ext cx="3162299" cy="353567"/>
          </a:xfrm>
          <a:prstGeom prst="rect">
            <a:avLst/>
          </a:prstGeom>
          <a:noFill/>
        </p:spPr>
        <p:txBody>
          <a:bodyPr wrap="none" lIns="0" rIns="0" tIns="0" bIns="0">
            <a:spAutoFit/>
          </a:bodyPr>
          <a:lstStyle/>
          <a:p>
            <a:pPr>
              <a:lnSpc>
                <a:spcPct val="112000"/>
              </a:lnSpc>
              <a:spcBef>
                <a:spcPts val="0"/>
              </a:spcBef>
              <a:spcAft>
                <a:spcPts val="0"/>
              </a:spcAft>
              <a:defRPr sz="1680" b="1">
                <a:solidFill>
                  <a:srgbClr val="292336"/>
                </a:solidFill>
                <a:latin typeface="Arial"/>
              </a:defRPr>
            </a:pPr>
            <a:r>
              <a:t>Rebuild and resend</a:t>
            </a:r>
          </a:p>
        </p:txBody>
      </p:sp>
      <p:sp>
        <p:nvSpPr>
          <p:cNvPr id="19" name="TextBox 18"/>
          <p:cNvSpPr txBox="1"/>
          <p:nvPr/>
        </p:nvSpPr>
        <p:spPr>
          <a:xfrm>
            <a:off x="8244839" y="3276599"/>
            <a:ext cx="3124199" cy="531875"/>
          </a:xfrm>
          <a:prstGeom prst="rect">
            <a:avLst/>
          </a:prstGeom>
          <a:noFill/>
        </p:spPr>
        <p:txBody>
          <a:bodyPr wrap="none" lIns="0" rIns="0" tIns="0" bIns="0">
            <a:spAutoFit/>
          </a:bodyPr>
          <a:lstStyle/>
          <a:p>
            <a:pPr>
              <a:lnSpc>
                <a:spcPct val="112000"/>
              </a:lnSpc>
              <a:spcBef>
                <a:spcPts val="0"/>
              </a:spcBef>
              <a:spcAft>
                <a:spcPts val="0"/>
              </a:spcAft>
              <a:defRPr sz="1380" b="0">
                <a:solidFill>
                  <a:srgbClr val="74697F"/>
                </a:solidFill>
                <a:latin typeface="Arial"/>
              </a:defRPr>
            </a:pPr>
            <a:r>
              <a:t>Assets, videos and captions are</a:t>
            </a:r>
          </a:p>
          <a:p>
            <a:pPr>
              <a:lnSpc>
                <a:spcPct val="112000"/>
              </a:lnSpc>
              <a:spcBef>
                <a:spcPts val="0"/>
              </a:spcBef>
              <a:spcAft>
                <a:spcPts val="0"/>
              </a:spcAft>
              <a:defRPr sz="1380" b="0">
                <a:solidFill>
                  <a:srgbClr val="74697F"/>
                </a:solidFill>
                <a:latin typeface="Arial"/>
              </a:defRPr>
            </a:pPr>
            <a:r>
              <a:t>repackaged for another review.</a:t>
            </a:r>
          </a:p>
        </p:txBody>
      </p:sp>
      <p:sp>
        <p:nvSpPr>
          <p:cNvPr id="20" name="Rounded Rectangle 19"/>
          <p:cNvSpPr/>
          <p:nvPr/>
        </p:nvSpPr>
        <p:spPr>
          <a:xfrm>
            <a:off x="487679" y="4831079"/>
            <a:ext cx="11216639" cy="883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3419" y="5021579"/>
            <a:ext cx="10805159" cy="611123"/>
          </a:xfrm>
          <a:prstGeom prst="rect">
            <a:avLst/>
          </a:prstGeom>
          <a:noFill/>
        </p:spPr>
        <p:txBody>
          <a:bodyPr wrap="none" lIns="0" rIns="0" tIns="0" bIns="0">
            <a:spAutoFit/>
          </a:bodyPr>
          <a:lstStyle/>
          <a:p>
            <a:pPr>
              <a:lnSpc>
                <a:spcPct val="112000"/>
              </a:lnSpc>
              <a:spcBef>
                <a:spcPts val="0"/>
              </a:spcBef>
              <a:spcAft>
                <a:spcPts val="0"/>
              </a:spcAft>
              <a:defRPr sz="1620" b="1">
                <a:solidFill>
                  <a:srgbClr val="FFFFFF"/>
                </a:solidFill>
                <a:latin typeface="Arial"/>
              </a:defRPr>
            </a:pPr>
            <a:r>
              <a:t>Business opportunity: reduce repetitive admin while keeping creative work, feedback and</a:t>
            </a:r>
          </a:p>
          <a:p>
            <a:pPr>
              <a:lnSpc>
                <a:spcPct val="112000"/>
              </a:lnSpc>
              <a:spcBef>
                <a:spcPts val="0"/>
              </a:spcBef>
              <a:spcAft>
                <a:spcPts val="0"/>
              </a:spcAft>
              <a:defRPr sz="1620" b="1">
                <a:solidFill>
                  <a:srgbClr val="FFFFFF"/>
                </a:solidFill>
                <a:latin typeface="Arial"/>
              </a:defRPr>
            </a:pPr>
            <a:r>
              <a:t>decisions connected.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THE MANAGEMENT CASE</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03</a:t>
            </a:r>
          </a:p>
        </p:txBody>
      </p:sp>
      <p:sp>
        <p:nvSpPr>
          <p:cNvPr id="6" name="TextBox 5"/>
          <p:cNvSpPr txBox="1"/>
          <p:nvPr/>
        </p:nvSpPr>
        <p:spPr>
          <a:xfrm>
            <a:off x="487679" y="853439"/>
            <a:ext cx="11048999" cy="541781"/>
          </a:xfrm>
          <a:prstGeom prst="rect">
            <a:avLst/>
          </a:prstGeom>
          <a:noFill/>
        </p:spPr>
        <p:txBody>
          <a:bodyPr wrap="none" lIns="0" rIns="0" tIns="0" bIns="0">
            <a:spAutoFit/>
          </a:bodyPr>
          <a:lstStyle/>
          <a:p>
            <a:pPr>
              <a:lnSpc>
                <a:spcPct val="112000"/>
              </a:lnSpc>
              <a:spcBef>
                <a:spcPts val="0"/>
              </a:spcBef>
              <a:spcAft>
                <a:spcPts val="0"/>
              </a:spcAft>
              <a:defRPr sz="2820" b="1">
                <a:solidFill>
                  <a:srgbClr val="292336"/>
                </a:solidFill>
                <a:latin typeface="Arial"/>
              </a:defRPr>
            </a:pPr>
            <a:r>
              <a:t>One content item. One source of truth.</a:t>
            </a:r>
          </a:p>
        </p:txBody>
      </p:sp>
      <p:sp>
        <p:nvSpPr>
          <p:cNvPr id="7" name="TextBox 6"/>
          <p:cNvSpPr txBox="1"/>
          <p:nvPr/>
        </p:nvSpPr>
        <p:spPr>
          <a:xfrm>
            <a:off x="487679" y="1394459"/>
            <a:ext cx="11048999" cy="313943"/>
          </a:xfrm>
          <a:prstGeom prst="rect">
            <a:avLst/>
          </a:prstGeom>
          <a:noFill/>
        </p:spPr>
        <p:txBody>
          <a:bodyPr wrap="none" lIns="0" rIns="0" tIns="0" bIns="0">
            <a:spAutoFit/>
          </a:bodyPr>
          <a:lstStyle/>
          <a:p>
            <a:pPr>
              <a:lnSpc>
                <a:spcPct val="112000"/>
              </a:lnSpc>
              <a:spcBef>
                <a:spcPts val="0"/>
              </a:spcBef>
              <a:spcAft>
                <a:spcPts val="0"/>
              </a:spcAft>
              <a:defRPr sz="1439" b="0">
                <a:solidFill>
                  <a:srgbClr val="74697F"/>
                </a:solidFill>
                <a:latin typeface="Arial"/>
              </a:defRPr>
            </a:pPr>
            <a:r>
              <a:t>The database is organised around posts, rather than PowerPoint slides.</a:t>
            </a:r>
          </a:p>
        </p:txBody>
      </p:sp>
      <p:sp>
        <p:nvSpPr>
          <p:cNvPr id="8" name="Rounded Rectangle 7"/>
          <p:cNvSpPr/>
          <p:nvPr/>
        </p:nvSpPr>
        <p:spPr>
          <a:xfrm>
            <a:off x="3901439" y="2270759"/>
            <a:ext cx="4389119" cy="190499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60519" y="2522219"/>
            <a:ext cx="3886199" cy="343661"/>
          </a:xfrm>
          <a:prstGeom prst="rect">
            <a:avLst/>
          </a:prstGeom>
          <a:noFill/>
        </p:spPr>
        <p:txBody>
          <a:bodyPr wrap="none" lIns="0" rIns="0" tIns="0" bIns="0">
            <a:spAutoFit/>
          </a:bodyPr>
          <a:lstStyle/>
          <a:p>
            <a:pPr>
              <a:lnSpc>
                <a:spcPct val="112000"/>
              </a:lnSpc>
              <a:spcBef>
                <a:spcPts val="0"/>
              </a:spcBef>
              <a:spcAft>
                <a:spcPts val="0"/>
              </a:spcAft>
              <a:defRPr sz="1620" b="1">
                <a:solidFill>
                  <a:srgbClr val="FFFFFF"/>
                </a:solidFill>
                <a:latin typeface="Arial"/>
              </a:defRPr>
            </a:pPr>
            <a:r>
              <a:t>CONTENT ITEM / POST</a:t>
            </a:r>
          </a:p>
        </p:txBody>
      </p:sp>
      <p:sp>
        <p:nvSpPr>
          <p:cNvPr id="10" name="TextBox 9"/>
          <p:cNvSpPr txBox="1"/>
          <p:nvPr/>
        </p:nvSpPr>
        <p:spPr>
          <a:xfrm>
            <a:off x="4160519" y="2956559"/>
            <a:ext cx="3886199" cy="759713"/>
          </a:xfrm>
          <a:prstGeom prst="rect">
            <a:avLst/>
          </a:prstGeom>
          <a:noFill/>
        </p:spPr>
        <p:txBody>
          <a:bodyPr wrap="none" lIns="0" rIns="0" tIns="0" bIns="0">
            <a:spAutoFit/>
          </a:bodyPr>
          <a:lstStyle/>
          <a:p>
            <a:pPr>
              <a:lnSpc>
                <a:spcPct val="112000"/>
              </a:lnSpc>
              <a:spcBef>
                <a:spcPts val="0"/>
              </a:spcBef>
              <a:spcAft>
                <a:spcPts val="0"/>
              </a:spcAft>
              <a:defRPr sz="1380" b="0">
                <a:solidFill>
                  <a:srgbClr val="D6C4E9"/>
                </a:solidFill>
                <a:latin typeface="Arial"/>
              </a:defRPr>
            </a:pPr>
            <a:r>
              <a:t>Idea + reference + bilingual copy</a:t>
            </a:r>
          </a:p>
          <a:p>
            <a:pPr>
              <a:lnSpc>
                <a:spcPct val="112000"/>
              </a:lnSpc>
              <a:spcBef>
                <a:spcPts val="0"/>
              </a:spcBef>
              <a:spcAft>
                <a:spcPts val="0"/>
              </a:spcAft>
              <a:defRPr sz="1380" b="0">
                <a:solidFill>
                  <a:srgbClr val="D6C4E9"/>
                </a:solidFill>
                <a:latin typeface="Arial"/>
              </a:defRPr>
            </a:pPr>
            <a:r>
              <a:t>Assets + owners + due dates</a:t>
            </a:r>
          </a:p>
          <a:p>
            <a:pPr>
              <a:lnSpc>
                <a:spcPct val="112000"/>
              </a:lnSpc>
              <a:spcBef>
                <a:spcPts val="0"/>
              </a:spcBef>
              <a:spcAft>
                <a:spcPts val="0"/>
              </a:spcAft>
              <a:defRPr sz="1380" b="0">
                <a:solidFill>
                  <a:srgbClr val="D6C4E9"/>
                </a:solidFill>
                <a:latin typeface="Arial"/>
              </a:defRPr>
            </a:pPr>
            <a:r>
              <a:t>Feedback + approval + history</a:t>
            </a:r>
          </a:p>
        </p:txBody>
      </p:sp>
      <p:sp>
        <p:nvSpPr>
          <p:cNvPr id="11" name="Rounded Rectangle 10"/>
          <p:cNvSpPr/>
          <p:nvPr/>
        </p:nvSpPr>
        <p:spPr>
          <a:xfrm>
            <a:off x="487679" y="2285999"/>
            <a:ext cx="2926079" cy="647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0559" y="2468879"/>
            <a:ext cx="2552699" cy="313943"/>
          </a:xfrm>
          <a:prstGeom prst="rect">
            <a:avLst/>
          </a:prstGeom>
          <a:noFill/>
        </p:spPr>
        <p:txBody>
          <a:bodyPr wrap="none" lIns="0" rIns="0" tIns="0" bIns="0">
            <a:spAutoFit/>
          </a:bodyPr>
          <a:lstStyle/>
          <a:p>
            <a:pPr>
              <a:lnSpc>
                <a:spcPct val="112000"/>
              </a:lnSpc>
              <a:spcBef>
                <a:spcPts val="0"/>
              </a:spcBef>
              <a:spcAft>
                <a:spcPts val="0"/>
              </a:spcAft>
              <a:defRPr sz="1439" b="1">
                <a:solidFill>
                  <a:srgbClr val="292336"/>
                </a:solidFill>
                <a:latin typeface="Arial"/>
              </a:defRPr>
            </a:pPr>
            <a:r>
              <a:t>Calendar view</a:t>
            </a:r>
          </a:p>
        </p:txBody>
      </p:sp>
      <p:sp>
        <p:nvSpPr>
          <p:cNvPr id="13" name="Rounded Rectangle 12"/>
          <p:cNvSpPr/>
          <p:nvPr/>
        </p:nvSpPr>
        <p:spPr>
          <a:xfrm>
            <a:off x="487679" y="3200399"/>
            <a:ext cx="2926079" cy="647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559" y="3383279"/>
            <a:ext cx="2552699" cy="313943"/>
          </a:xfrm>
          <a:prstGeom prst="rect">
            <a:avLst/>
          </a:prstGeom>
          <a:noFill/>
        </p:spPr>
        <p:txBody>
          <a:bodyPr wrap="none" lIns="0" rIns="0" tIns="0" bIns="0">
            <a:spAutoFit/>
          </a:bodyPr>
          <a:lstStyle/>
          <a:p>
            <a:pPr>
              <a:lnSpc>
                <a:spcPct val="112000"/>
              </a:lnSpc>
              <a:spcBef>
                <a:spcPts val="0"/>
              </a:spcBef>
              <a:spcAft>
                <a:spcPts val="0"/>
              </a:spcAft>
              <a:defRPr sz="1439" b="1">
                <a:solidFill>
                  <a:srgbClr val="292336"/>
                </a:solidFill>
                <a:latin typeface="Arial"/>
              </a:defRPr>
            </a:pPr>
            <a:r>
              <a:t>Production board</a:t>
            </a:r>
          </a:p>
        </p:txBody>
      </p:sp>
      <p:sp>
        <p:nvSpPr>
          <p:cNvPr id="15" name="Rounded Rectangle 14"/>
          <p:cNvSpPr/>
          <p:nvPr/>
        </p:nvSpPr>
        <p:spPr>
          <a:xfrm>
            <a:off x="487679" y="4114799"/>
            <a:ext cx="2926079" cy="647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0559" y="4297679"/>
            <a:ext cx="2552699" cy="313943"/>
          </a:xfrm>
          <a:prstGeom prst="rect">
            <a:avLst/>
          </a:prstGeom>
          <a:noFill/>
        </p:spPr>
        <p:txBody>
          <a:bodyPr wrap="none" lIns="0" rIns="0" tIns="0" bIns="0">
            <a:spAutoFit/>
          </a:bodyPr>
          <a:lstStyle/>
          <a:p>
            <a:pPr>
              <a:lnSpc>
                <a:spcPct val="112000"/>
              </a:lnSpc>
              <a:spcBef>
                <a:spcPts val="0"/>
              </a:spcBef>
              <a:spcAft>
                <a:spcPts val="0"/>
              </a:spcAft>
              <a:defRPr sz="1439" b="1">
                <a:solidFill>
                  <a:srgbClr val="292336"/>
                </a:solidFill>
                <a:latin typeface="Arial"/>
              </a:defRPr>
            </a:pPr>
            <a:r>
              <a:t>Copywriting desk</a:t>
            </a:r>
          </a:p>
        </p:txBody>
      </p:sp>
      <p:sp>
        <p:nvSpPr>
          <p:cNvPr id="17" name="Rounded Rectangle 16"/>
          <p:cNvSpPr/>
          <p:nvPr/>
        </p:nvSpPr>
        <p:spPr>
          <a:xfrm>
            <a:off x="8778239" y="2285999"/>
            <a:ext cx="2926079" cy="647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19" y="2468879"/>
            <a:ext cx="2552699" cy="313943"/>
          </a:xfrm>
          <a:prstGeom prst="rect">
            <a:avLst/>
          </a:prstGeom>
          <a:noFill/>
        </p:spPr>
        <p:txBody>
          <a:bodyPr wrap="none" lIns="0" rIns="0" tIns="0" bIns="0">
            <a:spAutoFit/>
          </a:bodyPr>
          <a:lstStyle/>
          <a:p>
            <a:pPr>
              <a:lnSpc>
                <a:spcPct val="112000"/>
              </a:lnSpc>
              <a:spcBef>
                <a:spcPts val="0"/>
              </a:spcBef>
              <a:spcAft>
                <a:spcPts val="0"/>
              </a:spcAft>
              <a:defRPr sz="1439" b="1">
                <a:solidFill>
                  <a:srgbClr val="292336"/>
                </a:solidFill>
                <a:latin typeface="Arial"/>
              </a:defRPr>
            </a:pPr>
            <a:r>
              <a:t>Client presentation</a:t>
            </a:r>
          </a:p>
        </p:txBody>
      </p:sp>
      <p:sp>
        <p:nvSpPr>
          <p:cNvPr id="19" name="Rounded Rectangle 18"/>
          <p:cNvSpPr/>
          <p:nvPr/>
        </p:nvSpPr>
        <p:spPr>
          <a:xfrm>
            <a:off x="8778239" y="3200399"/>
            <a:ext cx="2926079" cy="647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19" y="3383279"/>
            <a:ext cx="2552699" cy="313943"/>
          </a:xfrm>
          <a:prstGeom prst="rect">
            <a:avLst/>
          </a:prstGeom>
          <a:noFill/>
        </p:spPr>
        <p:txBody>
          <a:bodyPr wrap="none" lIns="0" rIns="0" tIns="0" bIns="0">
            <a:spAutoFit/>
          </a:bodyPr>
          <a:lstStyle/>
          <a:p>
            <a:pPr>
              <a:lnSpc>
                <a:spcPct val="112000"/>
              </a:lnSpc>
              <a:spcBef>
                <a:spcPts val="0"/>
              </a:spcBef>
              <a:spcAft>
                <a:spcPts val="0"/>
              </a:spcAft>
              <a:defRPr sz="1439" b="1">
                <a:solidFill>
                  <a:srgbClr val="292336"/>
                </a:solidFill>
                <a:latin typeface="Arial"/>
              </a:defRPr>
            </a:pPr>
            <a:r>
              <a:t>Review &amp; approval</a:t>
            </a:r>
          </a:p>
        </p:txBody>
      </p:sp>
      <p:sp>
        <p:nvSpPr>
          <p:cNvPr id="21" name="Rounded Rectangle 20"/>
          <p:cNvSpPr/>
          <p:nvPr/>
        </p:nvSpPr>
        <p:spPr>
          <a:xfrm>
            <a:off x="8778239" y="4114799"/>
            <a:ext cx="2926079" cy="647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19" y="4297679"/>
            <a:ext cx="2552699" cy="313943"/>
          </a:xfrm>
          <a:prstGeom prst="rect">
            <a:avLst/>
          </a:prstGeom>
          <a:noFill/>
        </p:spPr>
        <p:txBody>
          <a:bodyPr wrap="none" lIns="0" rIns="0" tIns="0" bIns="0">
            <a:spAutoFit/>
          </a:bodyPr>
          <a:lstStyle/>
          <a:p>
            <a:pPr>
              <a:lnSpc>
                <a:spcPct val="112000"/>
              </a:lnSpc>
              <a:spcBef>
                <a:spcPts val="0"/>
              </a:spcBef>
              <a:spcAft>
                <a:spcPts val="0"/>
              </a:spcAft>
              <a:defRPr sz="1439" b="1">
                <a:solidFill>
                  <a:srgbClr val="292336"/>
                </a:solidFill>
                <a:latin typeface="Arial"/>
              </a:defRPr>
            </a:pPr>
            <a:r>
              <a:t>Agency dashboard</a:t>
            </a:r>
          </a:p>
        </p:txBody>
      </p:sp>
      <p:sp>
        <p:nvSpPr>
          <p:cNvPr id="23" name="TextBox 22"/>
          <p:cNvSpPr txBox="1"/>
          <p:nvPr/>
        </p:nvSpPr>
        <p:spPr>
          <a:xfrm>
            <a:off x="487679" y="5425439"/>
            <a:ext cx="11048999" cy="373379"/>
          </a:xfrm>
          <a:prstGeom prst="rect">
            <a:avLst/>
          </a:prstGeom>
          <a:noFill/>
        </p:spPr>
        <p:txBody>
          <a:bodyPr wrap="none" lIns="0" rIns="0" tIns="0" bIns="0">
            <a:spAutoFit/>
          </a:bodyPr>
          <a:lstStyle/>
          <a:p>
            <a:pPr>
              <a:lnSpc>
                <a:spcPct val="112000"/>
              </a:lnSpc>
              <a:spcBef>
                <a:spcPts val="0"/>
              </a:spcBef>
              <a:spcAft>
                <a:spcPts val="0"/>
              </a:spcAft>
              <a:defRPr sz="1800" b="1">
                <a:solidFill>
                  <a:srgbClr val="7454CE"/>
                </a:solidFill>
                <a:latin typeface="Arial"/>
              </a:defRPr>
            </a:pPr>
            <a:r>
              <a:t>Update the post once. Every view reflects the same content.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THE MANAGEMENT CASE</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04</a:t>
            </a:r>
          </a:p>
        </p:txBody>
      </p:sp>
      <p:sp>
        <p:nvSpPr>
          <p:cNvPr id="6" name="TextBox 5"/>
          <p:cNvSpPr txBox="1"/>
          <p:nvPr/>
        </p:nvSpPr>
        <p:spPr>
          <a:xfrm>
            <a:off x="487679" y="85343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A connected journey from brief to sign-off.</a:t>
            </a:r>
          </a:p>
        </p:txBody>
      </p:sp>
      <p:sp>
        <p:nvSpPr>
          <p:cNvPr id="7" name="TextBox 6"/>
          <p:cNvSpPr txBox="1"/>
          <p:nvPr/>
        </p:nvSpPr>
        <p:spPr>
          <a:xfrm>
            <a:off x="487679" y="1409699"/>
            <a:ext cx="11048999" cy="313943"/>
          </a:xfrm>
          <a:prstGeom prst="rect">
            <a:avLst/>
          </a:prstGeom>
          <a:noFill/>
        </p:spPr>
        <p:txBody>
          <a:bodyPr wrap="none" lIns="0" rIns="0" tIns="0" bIns="0">
            <a:spAutoFit/>
          </a:bodyPr>
          <a:lstStyle/>
          <a:p>
            <a:pPr>
              <a:lnSpc>
                <a:spcPct val="112000"/>
              </a:lnSpc>
              <a:spcBef>
                <a:spcPts val="0"/>
              </a:spcBef>
              <a:spcAft>
                <a:spcPts val="0"/>
              </a:spcAft>
              <a:defRPr sz="1439" b="0">
                <a:solidFill>
                  <a:srgbClr val="74697F"/>
                </a:solidFill>
                <a:latin typeface="Arial"/>
              </a:defRPr>
            </a:pPr>
            <a:r>
              <a:t>Clear handoffs across the agency and the client.</a:t>
            </a:r>
          </a:p>
        </p:txBody>
      </p:sp>
      <p:sp>
        <p:nvSpPr>
          <p:cNvPr id="8" name="Rounded Rectangle 7"/>
          <p:cNvSpPr/>
          <p:nvPr/>
        </p:nvSpPr>
        <p:spPr>
          <a:xfrm>
            <a:off x="487679" y="2209799"/>
            <a:ext cx="2087879" cy="2933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5319" y="2407919"/>
            <a:ext cx="1752599" cy="393191"/>
          </a:xfrm>
          <a:prstGeom prst="rect">
            <a:avLst/>
          </a:prstGeom>
          <a:noFill/>
        </p:spPr>
        <p:txBody>
          <a:bodyPr wrap="none" lIns="0" rIns="0" tIns="0" bIns="0">
            <a:spAutoFit/>
          </a:bodyPr>
          <a:lstStyle/>
          <a:p>
            <a:pPr>
              <a:lnSpc>
                <a:spcPct val="112000"/>
              </a:lnSpc>
              <a:spcBef>
                <a:spcPts val="0"/>
              </a:spcBef>
              <a:spcAft>
                <a:spcPts val="0"/>
              </a:spcAft>
              <a:defRPr sz="1920" b="1">
                <a:solidFill>
                  <a:srgbClr val="7454CE"/>
                </a:solidFill>
                <a:latin typeface="Arial"/>
              </a:defRPr>
            </a:pPr>
            <a:r>
              <a:t>01</a:t>
            </a:r>
          </a:p>
        </p:txBody>
      </p:sp>
      <p:sp>
        <p:nvSpPr>
          <p:cNvPr id="10" name="TextBox 9"/>
          <p:cNvSpPr txBox="1"/>
          <p:nvPr/>
        </p:nvSpPr>
        <p:spPr>
          <a:xfrm>
            <a:off x="655319" y="2865119"/>
            <a:ext cx="1752599" cy="363473"/>
          </a:xfrm>
          <a:prstGeom prst="rect">
            <a:avLst/>
          </a:prstGeom>
          <a:noFill/>
        </p:spPr>
        <p:txBody>
          <a:bodyPr wrap="none" lIns="0" rIns="0" tIns="0" bIns="0">
            <a:spAutoFit/>
          </a:bodyPr>
          <a:lstStyle/>
          <a:p>
            <a:pPr>
              <a:lnSpc>
                <a:spcPct val="112000"/>
              </a:lnSpc>
              <a:spcBef>
                <a:spcPts val="0"/>
              </a:spcBef>
              <a:spcAft>
                <a:spcPts val="0"/>
              </a:spcAft>
              <a:defRPr sz="1739" b="1">
                <a:solidFill>
                  <a:srgbClr val="292336"/>
                </a:solidFill>
                <a:latin typeface="Arial"/>
              </a:defRPr>
            </a:pPr>
            <a:r>
              <a:t>Plan</a:t>
            </a:r>
          </a:p>
        </p:txBody>
      </p:sp>
      <p:sp>
        <p:nvSpPr>
          <p:cNvPr id="11" name="TextBox 10"/>
          <p:cNvSpPr txBox="1"/>
          <p:nvPr/>
        </p:nvSpPr>
        <p:spPr>
          <a:xfrm>
            <a:off x="655319" y="3368039"/>
            <a:ext cx="17525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Account Manager</a:t>
            </a:r>
          </a:p>
        </p:txBody>
      </p:sp>
      <p:sp>
        <p:nvSpPr>
          <p:cNvPr id="12" name="TextBox 11"/>
          <p:cNvSpPr txBox="1"/>
          <p:nvPr/>
        </p:nvSpPr>
        <p:spPr>
          <a:xfrm>
            <a:off x="655319" y="3848099"/>
            <a:ext cx="1752599" cy="729995"/>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Objectives, pillars</a:t>
            </a:r>
          </a:p>
          <a:p>
            <a:pPr>
              <a:lnSpc>
                <a:spcPct val="112000"/>
              </a:lnSpc>
              <a:spcBef>
                <a:spcPts val="0"/>
              </a:spcBef>
              <a:spcAft>
                <a:spcPts val="0"/>
              </a:spcAft>
              <a:defRPr sz="1320" b="0">
                <a:solidFill>
                  <a:srgbClr val="74697F"/>
                </a:solidFill>
                <a:latin typeface="Arial"/>
              </a:defRPr>
            </a:pPr>
            <a:r>
              <a:t>and monthly</a:t>
            </a:r>
          </a:p>
          <a:p>
            <a:pPr>
              <a:lnSpc>
                <a:spcPct val="112000"/>
              </a:lnSpc>
              <a:spcBef>
                <a:spcPts val="0"/>
              </a:spcBef>
              <a:spcAft>
                <a:spcPts val="0"/>
              </a:spcAft>
              <a:defRPr sz="1320" b="0">
                <a:solidFill>
                  <a:srgbClr val="74697F"/>
                </a:solidFill>
                <a:latin typeface="Arial"/>
              </a:defRPr>
            </a:pPr>
            <a:r>
              <a:t>calendar</a:t>
            </a:r>
          </a:p>
        </p:txBody>
      </p:sp>
      <p:sp>
        <p:nvSpPr>
          <p:cNvPr id="13" name="Rounded Rectangle 12"/>
          <p:cNvSpPr/>
          <p:nvPr/>
        </p:nvSpPr>
        <p:spPr>
          <a:xfrm>
            <a:off x="2758439" y="2209799"/>
            <a:ext cx="2087879" cy="2933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79" y="2407919"/>
            <a:ext cx="1752599" cy="393191"/>
          </a:xfrm>
          <a:prstGeom prst="rect">
            <a:avLst/>
          </a:prstGeom>
          <a:noFill/>
        </p:spPr>
        <p:txBody>
          <a:bodyPr wrap="none" lIns="0" rIns="0" tIns="0" bIns="0">
            <a:spAutoFit/>
          </a:bodyPr>
          <a:lstStyle/>
          <a:p>
            <a:pPr>
              <a:lnSpc>
                <a:spcPct val="112000"/>
              </a:lnSpc>
              <a:spcBef>
                <a:spcPts val="0"/>
              </a:spcBef>
              <a:spcAft>
                <a:spcPts val="0"/>
              </a:spcAft>
              <a:defRPr sz="1920" b="1">
                <a:solidFill>
                  <a:srgbClr val="7454CE"/>
                </a:solidFill>
                <a:latin typeface="Arial"/>
              </a:defRPr>
            </a:pPr>
            <a:r>
              <a:t>02</a:t>
            </a:r>
          </a:p>
        </p:txBody>
      </p:sp>
      <p:sp>
        <p:nvSpPr>
          <p:cNvPr id="15" name="TextBox 14"/>
          <p:cNvSpPr txBox="1"/>
          <p:nvPr/>
        </p:nvSpPr>
        <p:spPr>
          <a:xfrm>
            <a:off x="2926079" y="2865119"/>
            <a:ext cx="1752599" cy="363473"/>
          </a:xfrm>
          <a:prstGeom prst="rect">
            <a:avLst/>
          </a:prstGeom>
          <a:noFill/>
        </p:spPr>
        <p:txBody>
          <a:bodyPr wrap="none" lIns="0" rIns="0" tIns="0" bIns="0">
            <a:spAutoFit/>
          </a:bodyPr>
          <a:lstStyle/>
          <a:p>
            <a:pPr>
              <a:lnSpc>
                <a:spcPct val="112000"/>
              </a:lnSpc>
              <a:spcBef>
                <a:spcPts val="0"/>
              </a:spcBef>
              <a:spcAft>
                <a:spcPts val="0"/>
              </a:spcAft>
              <a:defRPr sz="1739" b="1">
                <a:solidFill>
                  <a:srgbClr val="292336"/>
                </a:solidFill>
                <a:latin typeface="Arial"/>
              </a:defRPr>
            </a:pPr>
            <a:r>
              <a:t>Create</a:t>
            </a:r>
          </a:p>
        </p:txBody>
      </p:sp>
      <p:sp>
        <p:nvSpPr>
          <p:cNvPr id="16" name="TextBox 15"/>
          <p:cNvSpPr txBox="1"/>
          <p:nvPr/>
        </p:nvSpPr>
        <p:spPr>
          <a:xfrm>
            <a:off x="2926079" y="3368039"/>
            <a:ext cx="17525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Creative + Copy</a:t>
            </a:r>
          </a:p>
        </p:txBody>
      </p:sp>
      <p:sp>
        <p:nvSpPr>
          <p:cNvPr id="17" name="TextBox 16"/>
          <p:cNvSpPr txBox="1"/>
          <p:nvPr/>
        </p:nvSpPr>
        <p:spPr>
          <a:xfrm>
            <a:off x="2926079" y="3848099"/>
            <a:ext cx="1752599" cy="729995"/>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Assigned work,</a:t>
            </a:r>
          </a:p>
          <a:p>
            <a:pPr>
              <a:lnSpc>
                <a:spcPct val="112000"/>
              </a:lnSpc>
              <a:spcBef>
                <a:spcPts val="0"/>
              </a:spcBef>
              <a:spcAft>
                <a:spcPts val="0"/>
              </a:spcAft>
              <a:defRPr sz="1320" b="0">
                <a:solidFill>
                  <a:srgbClr val="74697F"/>
                </a:solidFill>
                <a:latin typeface="Arial"/>
              </a:defRPr>
            </a:pPr>
            <a:r>
              <a:t>references and</a:t>
            </a:r>
          </a:p>
          <a:p>
            <a:pPr>
              <a:lnSpc>
                <a:spcPct val="112000"/>
              </a:lnSpc>
              <a:spcBef>
                <a:spcPts val="0"/>
              </a:spcBef>
              <a:spcAft>
                <a:spcPts val="0"/>
              </a:spcAft>
              <a:defRPr sz="1320" b="0">
                <a:solidFill>
                  <a:srgbClr val="74697F"/>
                </a:solidFill>
                <a:latin typeface="Arial"/>
              </a:defRPr>
            </a:pPr>
            <a:r>
              <a:t>bilingual captions</a:t>
            </a:r>
          </a:p>
        </p:txBody>
      </p:sp>
      <p:sp>
        <p:nvSpPr>
          <p:cNvPr id="18" name="Rounded Rectangle 17"/>
          <p:cNvSpPr/>
          <p:nvPr/>
        </p:nvSpPr>
        <p:spPr>
          <a:xfrm>
            <a:off x="5029199" y="2209799"/>
            <a:ext cx="2087879" cy="2933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6839" y="2407919"/>
            <a:ext cx="1752599" cy="393191"/>
          </a:xfrm>
          <a:prstGeom prst="rect">
            <a:avLst/>
          </a:prstGeom>
          <a:noFill/>
        </p:spPr>
        <p:txBody>
          <a:bodyPr wrap="none" lIns="0" rIns="0" tIns="0" bIns="0">
            <a:spAutoFit/>
          </a:bodyPr>
          <a:lstStyle/>
          <a:p>
            <a:pPr>
              <a:lnSpc>
                <a:spcPct val="112000"/>
              </a:lnSpc>
              <a:spcBef>
                <a:spcPts val="0"/>
              </a:spcBef>
              <a:spcAft>
                <a:spcPts val="0"/>
              </a:spcAft>
              <a:defRPr sz="1920" b="1">
                <a:solidFill>
                  <a:srgbClr val="7454CE"/>
                </a:solidFill>
                <a:latin typeface="Arial"/>
              </a:defRPr>
            </a:pPr>
            <a:r>
              <a:t>03</a:t>
            </a:r>
          </a:p>
        </p:txBody>
      </p:sp>
      <p:sp>
        <p:nvSpPr>
          <p:cNvPr id="20" name="TextBox 19"/>
          <p:cNvSpPr txBox="1"/>
          <p:nvPr/>
        </p:nvSpPr>
        <p:spPr>
          <a:xfrm>
            <a:off x="5196839" y="2865119"/>
            <a:ext cx="1752599" cy="363473"/>
          </a:xfrm>
          <a:prstGeom prst="rect">
            <a:avLst/>
          </a:prstGeom>
          <a:noFill/>
        </p:spPr>
        <p:txBody>
          <a:bodyPr wrap="none" lIns="0" rIns="0" tIns="0" bIns="0">
            <a:spAutoFit/>
          </a:bodyPr>
          <a:lstStyle/>
          <a:p>
            <a:pPr>
              <a:lnSpc>
                <a:spcPct val="112000"/>
              </a:lnSpc>
              <a:spcBef>
                <a:spcPts val="0"/>
              </a:spcBef>
              <a:spcAft>
                <a:spcPts val="0"/>
              </a:spcAft>
              <a:defRPr sz="1739" b="1">
                <a:solidFill>
                  <a:srgbClr val="292336"/>
                </a:solidFill>
                <a:latin typeface="Arial"/>
              </a:defRPr>
            </a:pPr>
            <a:r>
              <a:t>Check</a:t>
            </a:r>
          </a:p>
        </p:txBody>
      </p:sp>
      <p:sp>
        <p:nvSpPr>
          <p:cNvPr id="21" name="TextBox 20"/>
          <p:cNvSpPr txBox="1"/>
          <p:nvPr/>
        </p:nvSpPr>
        <p:spPr>
          <a:xfrm>
            <a:off x="5196839" y="3368039"/>
            <a:ext cx="1752599" cy="432815"/>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Creative Director +</a:t>
            </a:r>
          </a:p>
          <a:p>
            <a:pPr>
              <a:lnSpc>
                <a:spcPct val="112000"/>
              </a:lnSpc>
              <a:spcBef>
                <a:spcPts val="0"/>
              </a:spcBef>
              <a:spcAft>
                <a:spcPts val="0"/>
              </a:spcAft>
              <a:defRPr sz="1080" b="1">
                <a:solidFill>
                  <a:srgbClr val="7454CE"/>
                </a:solidFill>
                <a:latin typeface="Arial"/>
              </a:defRPr>
            </a:pPr>
            <a:r>
              <a:t>AM</a:t>
            </a:r>
          </a:p>
        </p:txBody>
      </p:sp>
      <p:sp>
        <p:nvSpPr>
          <p:cNvPr id="22" name="TextBox 21"/>
          <p:cNvSpPr txBox="1"/>
          <p:nvPr/>
        </p:nvSpPr>
        <p:spPr>
          <a:xfrm>
            <a:off x="5196839" y="3848099"/>
            <a:ext cx="1752599" cy="512063"/>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Deliverable approval</a:t>
            </a:r>
          </a:p>
          <a:p>
            <a:pPr>
              <a:lnSpc>
                <a:spcPct val="112000"/>
              </a:lnSpc>
              <a:spcBef>
                <a:spcPts val="0"/>
              </a:spcBef>
              <a:spcAft>
                <a:spcPts val="0"/>
              </a:spcAft>
              <a:defRPr sz="1320" b="0">
                <a:solidFill>
                  <a:srgbClr val="74697F"/>
                </a:solidFill>
                <a:latin typeface="Arial"/>
              </a:defRPr>
            </a:pPr>
            <a:r>
              <a:t>and health check</a:t>
            </a:r>
          </a:p>
        </p:txBody>
      </p:sp>
      <p:sp>
        <p:nvSpPr>
          <p:cNvPr id="23" name="Rounded Rectangle 22"/>
          <p:cNvSpPr/>
          <p:nvPr/>
        </p:nvSpPr>
        <p:spPr>
          <a:xfrm>
            <a:off x="7299959" y="2209799"/>
            <a:ext cx="2087879" cy="2933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67599" y="2407919"/>
            <a:ext cx="1752599" cy="393191"/>
          </a:xfrm>
          <a:prstGeom prst="rect">
            <a:avLst/>
          </a:prstGeom>
          <a:noFill/>
        </p:spPr>
        <p:txBody>
          <a:bodyPr wrap="none" lIns="0" rIns="0" tIns="0" bIns="0">
            <a:spAutoFit/>
          </a:bodyPr>
          <a:lstStyle/>
          <a:p>
            <a:pPr>
              <a:lnSpc>
                <a:spcPct val="112000"/>
              </a:lnSpc>
              <a:spcBef>
                <a:spcPts val="0"/>
              </a:spcBef>
              <a:spcAft>
                <a:spcPts val="0"/>
              </a:spcAft>
              <a:defRPr sz="1920" b="1">
                <a:solidFill>
                  <a:srgbClr val="7454CE"/>
                </a:solidFill>
                <a:latin typeface="Arial"/>
              </a:defRPr>
            </a:pPr>
            <a:r>
              <a:t>04</a:t>
            </a:r>
          </a:p>
        </p:txBody>
      </p:sp>
      <p:sp>
        <p:nvSpPr>
          <p:cNvPr id="25" name="TextBox 24"/>
          <p:cNvSpPr txBox="1"/>
          <p:nvPr/>
        </p:nvSpPr>
        <p:spPr>
          <a:xfrm>
            <a:off x="7467599" y="2865119"/>
            <a:ext cx="1752599" cy="363473"/>
          </a:xfrm>
          <a:prstGeom prst="rect">
            <a:avLst/>
          </a:prstGeom>
          <a:noFill/>
        </p:spPr>
        <p:txBody>
          <a:bodyPr wrap="none" lIns="0" rIns="0" tIns="0" bIns="0">
            <a:spAutoFit/>
          </a:bodyPr>
          <a:lstStyle/>
          <a:p>
            <a:pPr>
              <a:lnSpc>
                <a:spcPct val="112000"/>
              </a:lnSpc>
              <a:spcBef>
                <a:spcPts val="0"/>
              </a:spcBef>
              <a:spcAft>
                <a:spcPts val="0"/>
              </a:spcAft>
              <a:defRPr sz="1739" b="1">
                <a:solidFill>
                  <a:srgbClr val="292336"/>
                </a:solidFill>
                <a:latin typeface="Arial"/>
              </a:defRPr>
            </a:pPr>
            <a:r>
              <a:t>Review</a:t>
            </a:r>
          </a:p>
        </p:txBody>
      </p:sp>
      <p:sp>
        <p:nvSpPr>
          <p:cNvPr id="26" name="TextBox 25"/>
          <p:cNvSpPr txBox="1"/>
          <p:nvPr/>
        </p:nvSpPr>
        <p:spPr>
          <a:xfrm>
            <a:off x="7467599" y="3368039"/>
            <a:ext cx="17525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Client</a:t>
            </a:r>
          </a:p>
        </p:txBody>
      </p:sp>
      <p:sp>
        <p:nvSpPr>
          <p:cNvPr id="27" name="TextBox 26"/>
          <p:cNvSpPr txBox="1"/>
          <p:nvPr/>
        </p:nvSpPr>
        <p:spPr>
          <a:xfrm>
            <a:off x="7467599" y="3848099"/>
            <a:ext cx="1752599" cy="729995"/>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Presentation,</a:t>
            </a:r>
          </a:p>
          <a:p>
            <a:pPr>
              <a:lnSpc>
                <a:spcPct val="112000"/>
              </a:lnSpc>
              <a:spcBef>
                <a:spcPts val="0"/>
              </a:spcBef>
              <a:spcAft>
                <a:spcPts val="0"/>
              </a:spcAft>
              <a:defRPr sz="1320" b="0">
                <a:solidFill>
                  <a:srgbClr val="74697F"/>
                </a:solidFill>
                <a:latin typeface="Arial"/>
              </a:defRPr>
            </a:pPr>
            <a:r>
              <a:t>comments and</a:t>
            </a:r>
          </a:p>
          <a:p>
            <a:pPr>
              <a:lnSpc>
                <a:spcPct val="112000"/>
              </a:lnSpc>
              <a:spcBef>
                <a:spcPts val="0"/>
              </a:spcBef>
              <a:spcAft>
                <a:spcPts val="0"/>
              </a:spcAft>
              <a:defRPr sz="1320" b="0">
                <a:solidFill>
                  <a:srgbClr val="74697F"/>
                </a:solidFill>
                <a:latin typeface="Arial"/>
              </a:defRPr>
            </a:pPr>
            <a:r>
              <a:t>decisions</a:t>
            </a:r>
          </a:p>
        </p:txBody>
      </p:sp>
      <p:sp>
        <p:nvSpPr>
          <p:cNvPr id="28" name="Rounded Rectangle 27"/>
          <p:cNvSpPr/>
          <p:nvPr/>
        </p:nvSpPr>
        <p:spPr>
          <a:xfrm>
            <a:off x="9570719" y="2209799"/>
            <a:ext cx="2087879" cy="29336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38359" y="2407919"/>
            <a:ext cx="1752599" cy="393191"/>
          </a:xfrm>
          <a:prstGeom prst="rect">
            <a:avLst/>
          </a:prstGeom>
          <a:noFill/>
        </p:spPr>
        <p:txBody>
          <a:bodyPr wrap="none" lIns="0" rIns="0" tIns="0" bIns="0">
            <a:spAutoFit/>
          </a:bodyPr>
          <a:lstStyle/>
          <a:p>
            <a:pPr>
              <a:lnSpc>
                <a:spcPct val="112000"/>
              </a:lnSpc>
              <a:spcBef>
                <a:spcPts val="0"/>
              </a:spcBef>
              <a:spcAft>
                <a:spcPts val="0"/>
              </a:spcAft>
              <a:defRPr sz="1920" b="1">
                <a:solidFill>
                  <a:srgbClr val="7454CE"/>
                </a:solidFill>
                <a:latin typeface="Arial"/>
              </a:defRPr>
            </a:pPr>
            <a:r>
              <a:t>05</a:t>
            </a:r>
          </a:p>
        </p:txBody>
      </p:sp>
      <p:sp>
        <p:nvSpPr>
          <p:cNvPr id="30" name="TextBox 29"/>
          <p:cNvSpPr txBox="1"/>
          <p:nvPr/>
        </p:nvSpPr>
        <p:spPr>
          <a:xfrm>
            <a:off x="9738359" y="2865119"/>
            <a:ext cx="1752599" cy="363473"/>
          </a:xfrm>
          <a:prstGeom prst="rect">
            <a:avLst/>
          </a:prstGeom>
          <a:noFill/>
        </p:spPr>
        <p:txBody>
          <a:bodyPr wrap="none" lIns="0" rIns="0" tIns="0" bIns="0">
            <a:spAutoFit/>
          </a:bodyPr>
          <a:lstStyle/>
          <a:p>
            <a:pPr>
              <a:lnSpc>
                <a:spcPct val="112000"/>
              </a:lnSpc>
              <a:spcBef>
                <a:spcPts val="0"/>
              </a:spcBef>
              <a:spcAft>
                <a:spcPts val="0"/>
              </a:spcAft>
              <a:defRPr sz="1739" b="1">
                <a:solidFill>
                  <a:srgbClr val="292336"/>
                </a:solidFill>
                <a:latin typeface="Arial"/>
              </a:defRPr>
            </a:pPr>
            <a:r>
              <a:t>Deliver</a:t>
            </a:r>
          </a:p>
        </p:txBody>
      </p:sp>
      <p:sp>
        <p:nvSpPr>
          <p:cNvPr id="31" name="TextBox 30"/>
          <p:cNvSpPr txBox="1"/>
          <p:nvPr/>
        </p:nvSpPr>
        <p:spPr>
          <a:xfrm>
            <a:off x="9738359" y="3368039"/>
            <a:ext cx="17525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Agency</a:t>
            </a:r>
          </a:p>
        </p:txBody>
      </p:sp>
      <p:sp>
        <p:nvSpPr>
          <p:cNvPr id="32" name="TextBox 31"/>
          <p:cNvSpPr txBox="1"/>
          <p:nvPr/>
        </p:nvSpPr>
        <p:spPr>
          <a:xfrm>
            <a:off x="9738359" y="3848099"/>
            <a:ext cx="1752599" cy="729995"/>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Resolve revisions</a:t>
            </a:r>
          </a:p>
          <a:p>
            <a:pPr>
              <a:lnSpc>
                <a:spcPct val="112000"/>
              </a:lnSpc>
              <a:spcBef>
                <a:spcPts val="0"/>
              </a:spcBef>
              <a:spcAft>
                <a:spcPts val="0"/>
              </a:spcAft>
              <a:defRPr sz="1320" b="0">
                <a:solidFill>
                  <a:srgbClr val="74697F"/>
                </a:solidFill>
                <a:latin typeface="Arial"/>
              </a:defRPr>
            </a:pPr>
            <a:r>
              <a:t>and track approved</a:t>
            </a:r>
          </a:p>
          <a:p>
            <a:pPr>
              <a:lnSpc>
                <a:spcPct val="112000"/>
              </a:lnSpc>
              <a:spcBef>
                <a:spcPts val="0"/>
              </a:spcBef>
              <a:spcAft>
                <a:spcPts val="0"/>
              </a:spcAft>
              <a:defRPr sz="1320" b="0">
                <a:solidFill>
                  <a:srgbClr val="74697F"/>
                </a:solidFill>
                <a:latin typeface="Arial"/>
              </a:defRPr>
            </a:pPr>
            <a:r>
              <a:t>content</a:t>
            </a:r>
          </a:p>
        </p:txBody>
      </p:sp>
      <p:sp>
        <p:nvSpPr>
          <p:cNvPr id="33" name="TextBox 32"/>
          <p:cNvSpPr txBox="1"/>
          <p:nvPr/>
        </p:nvSpPr>
        <p:spPr>
          <a:xfrm>
            <a:off x="487679" y="5593079"/>
            <a:ext cx="11048999" cy="343661"/>
          </a:xfrm>
          <a:prstGeom prst="rect">
            <a:avLst/>
          </a:prstGeom>
          <a:noFill/>
        </p:spPr>
        <p:txBody>
          <a:bodyPr wrap="none" lIns="0" rIns="0" tIns="0" bIns="0">
            <a:spAutoFit/>
          </a:bodyPr>
          <a:lstStyle/>
          <a:p>
            <a:pPr>
              <a:lnSpc>
                <a:spcPct val="112000"/>
              </a:lnSpc>
              <a:spcBef>
                <a:spcPts val="0"/>
              </a:spcBef>
              <a:spcAft>
                <a:spcPts val="0"/>
              </a:spcAft>
              <a:defRPr sz="1620" b="1">
                <a:solidFill>
                  <a:srgbClr val="292336"/>
                </a:solidFill>
                <a:latin typeface="Arial"/>
              </a:defRPr>
            </a:pPr>
            <a:r>
              <a:t>Account Managers coordinate the work. The platform carries the context.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05</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The agency, connected.</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Command centre / the starting point for the agency.</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A shared overview</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Current content, production,</a:t>
            </a:r>
          </a:p>
          <a:p>
            <a:pPr>
              <a:lnSpc>
                <a:spcPct val="112000"/>
              </a:lnSpc>
              <a:spcBef>
                <a:spcPts val="0"/>
              </a:spcBef>
              <a:spcAft>
                <a:spcPts val="0"/>
              </a:spcAft>
              <a:defRPr sz="1080" b="0">
                <a:solidFill>
                  <a:srgbClr val="74697F"/>
                </a:solidFill>
                <a:latin typeface="Arial"/>
              </a:defRPr>
            </a:pPr>
            <a:r>
              <a:t>approvals and client conversations.</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Act from the dashboard</a:t>
            </a:r>
          </a:p>
        </p:txBody>
      </p:sp>
      <p:sp>
        <p:nvSpPr>
          <p:cNvPr id="13" name="TextBox 12"/>
          <p:cNvSpPr txBox="1"/>
          <p:nvPr/>
        </p:nvSpPr>
        <p:spPr>
          <a:xfrm>
            <a:off x="487679" y="3604259"/>
            <a:ext cx="2514599" cy="611123"/>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Open the post behind a</a:t>
            </a:r>
          </a:p>
          <a:p>
            <a:pPr>
              <a:lnSpc>
                <a:spcPct val="112000"/>
              </a:lnSpc>
              <a:spcBef>
                <a:spcPts val="0"/>
              </a:spcBef>
              <a:spcAft>
                <a:spcPts val="0"/>
              </a:spcAft>
              <a:defRPr sz="1080" b="0">
                <a:solidFill>
                  <a:srgbClr val="74697F"/>
                </a:solidFill>
                <a:latin typeface="Arial"/>
              </a:defRPr>
            </a:pPr>
            <a:r>
              <a:t>conversation or enter a brand</a:t>
            </a:r>
          </a:p>
          <a:p>
            <a:pPr>
              <a:lnSpc>
                <a:spcPct val="112000"/>
              </a:lnSpc>
              <a:spcBef>
                <a:spcPts val="0"/>
              </a:spcBef>
              <a:spcAft>
                <a:spcPts val="0"/>
              </a:spcAft>
              <a:defRPr sz="1080" b="0">
                <a:solidFill>
                  <a:srgbClr val="74697F"/>
                </a:solidFill>
                <a:latin typeface="Arial"/>
              </a:defRPr>
            </a:pPr>
            <a:r>
              <a:t>workspace.</a:t>
            </a:r>
          </a:p>
        </p:txBody>
      </p:sp>
      <p:sp>
        <p:nvSpPr>
          <p:cNvPr id="14" name="TextBox 13"/>
          <p:cNvSpPr txBox="1"/>
          <p:nvPr/>
        </p:nvSpPr>
        <p:spPr>
          <a:xfrm>
            <a:off x="487679" y="4383023"/>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One place to start</a:t>
            </a:r>
          </a:p>
        </p:txBody>
      </p:sp>
      <p:sp>
        <p:nvSpPr>
          <p:cNvPr id="15" name="TextBox 14"/>
          <p:cNvSpPr txBox="1"/>
          <p:nvPr/>
        </p:nvSpPr>
        <p:spPr>
          <a:xfrm>
            <a:off x="487679" y="4657343"/>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Jump into planning, batch tools,</a:t>
            </a:r>
          </a:p>
          <a:p>
            <a:pPr>
              <a:lnSpc>
                <a:spcPct val="112000"/>
              </a:lnSpc>
              <a:spcBef>
                <a:spcPts val="0"/>
              </a:spcBef>
              <a:spcAft>
                <a:spcPts val="0"/>
              </a:spcAft>
              <a:defRPr sz="1080" b="0">
                <a:solidFill>
                  <a:srgbClr val="74697F"/>
                </a:solidFill>
                <a:latin typeface="Arial"/>
              </a:defRPr>
            </a:pPr>
            <a:r>
              <a:t>insights or presentation.</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1-command-centre.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A clear starting point for every</a:t>
            </a:r>
          </a:p>
          <a:p>
            <a:pPr>
              <a:lnSpc>
                <a:spcPct val="112000"/>
              </a:lnSpc>
              <a:spcBef>
                <a:spcPts val="0"/>
              </a:spcBef>
              <a:spcAft>
                <a:spcPts val="0"/>
              </a:spcAft>
              <a:defRPr sz="960" b="1">
                <a:solidFill>
                  <a:srgbClr val="FFFFFF"/>
                </a:solidFill>
                <a:latin typeface="Arial"/>
              </a:defRPr>
            </a:pPr>
            <a:r>
              <a:t>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06</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Three brands. Distinct workspaces.</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Brand portfolio / built to grow beyond the first three brands.</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Separate brand contexts</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ZOOM and AutoPro belong to ENOC;</a:t>
            </a:r>
          </a:p>
          <a:p>
            <a:pPr>
              <a:lnSpc>
                <a:spcPct val="112000"/>
              </a:lnSpc>
              <a:spcBef>
                <a:spcPts val="0"/>
              </a:spcBef>
              <a:spcAft>
                <a:spcPts val="0"/>
              </a:spcAft>
              <a:defRPr sz="1080" b="0">
                <a:solidFill>
                  <a:srgbClr val="74697F"/>
                </a:solidFill>
                <a:latin typeface="Arial"/>
              </a:defRPr>
            </a:pPr>
            <a:r>
              <a:t>NXT belongs to AWR.</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Shared operating model</a:t>
            </a:r>
          </a:p>
        </p:txBody>
      </p:sp>
      <p:sp>
        <p:nvSpPr>
          <p:cNvPr id="13" name="TextBox 12"/>
          <p:cNvSpPr txBox="1"/>
          <p:nvPr/>
        </p:nvSpPr>
        <p:spPr>
          <a:xfrm>
            <a:off x="487679" y="3604259"/>
            <a:ext cx="2514599" cy="611123"/>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The same calendar, review and</a:t>
            </a:r>
          </a:p>
          <a:p>
            <a:pPr>
              <a:lnSpc>
                <a:spcPct val="112000"/>
              </a:lnSpc>
              <a:spcBef>
                <a:spcPts val="0"/>
              </a:spcBef>
              <a:spcAft>
                <a:spcPts val="0"/>
              </a:spcAft>
              <a:defRPr sz="1080" b="0">
                <a:solidFill>
                  <a:srgbClr val="74697F"/>
                </a:solidFill>
                <a:latin typeface="Arial"/>
              </a:defRPr>
            </a:pPr>
            <a:r>
              <a:t>production system serves every</a:t>
            </a:r>
          </a:p>
          <a:p>
            <a:pPr>
              <a:lnSpc>
                <a:spcPct val="112000"/>
              </a:lnSpc>
              <a:spcBef>
                <a:spcPts val="0"/>
              </a:spcBef>
              <a:spcAft>
                <a:spcPts val="0"/>
              </a:spcAft>
              <a:defRPr sz="1080" b="0">
                <a:solidFill>
                  <a:srgbClr val="74697F"/>
                </a:solidFill>
                <a:latin typeface="Arial"/>
              </a:defRPr>
            </a:pPr>
            <a:r>
              <a:t>brand.</a:t>
            </a:r>
          </a:p>
        </p:txBody>
      </p:sp>
      <p:sp>
        <p:nvSpPr>
          <p:cNvPr id="14" name="TextBox 13"/>
          <p:cNvSpPr txBox="1"/>
          <p:nvPr/>
        </p:nvSpPr>
        <p:spPr>
          <a:xfrm>
            <a:off x="487679" y="4383023"/>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Configurable knowledge</a:t>
            </a:r>
          </a:p>
        </p:txBody>
      </p:sp>
      <p:sp>
        <p:nvSpPr>
          <p:cNvPr id="15" name="TextBox 14"/>
          <p:cNvSpPr txBox="1"/>
          <p:nvPr/>
        </p:nvSpPr>
        <p:spPr>
          <a:xfrm>
            <a:off x="487679" y="4657343"/>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Profiles hold guidelines, terminology</a:t>
            </a:r>
          </a:p>
          <a:p>
            <a:pPr>
              <a:lnSpc>
                <a:spcPct val="112000"/>
              </a:lnSpc>
              <a:spcBef>
                <a:spcPts val="0"/>
              </a:spcBef>
              <a:spcAft>
                <a:spcPts val="0"/>
              </a:spcAft>
              <a:defRPr sz="1080" b="0">
                <a:solidFill>
                  <a:srgbClr val="74697F"/>
                </a:solidFill>
                <a:latin typeface="Arial"/>
              </a:defRPr>
            </a:pPr>
            <a:r>
              <a:t>and planning context.</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2-brand-portfolio.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Scale the structure, keep brand</a:t>
            </a:r>
          </a:p>
          <a:p>
            <a:pPr>
              <a:lnSpc>
                <a:spcPct val="112000"/>
              </a:lnSpc>
              <a:spcBef>
                <a:spcPts val="0"/>
              </a:spcBef>
              <a:spcAft>
                <a:spcPts val="0"/>
              </a:spcAft>
              <a:defRPr sz="960" b="1">
                <a:solidFill>
                  <a:srgbClr val="FFFFFF"/>
                </a:solidFill>
                <a:latin typeface="Arial"/>
              </a:defRPr>
            </a:pPr>
            <a:r>
              <a:t>context.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07</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Plan the mix before creating the month.</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Planning studio / turn the brief into editable draft content items.</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333755"/>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CREATION + RULE-BASED</a:t>
            </a:r>
          </a:p>
          <a:p>
            <a:pPr>
              <a:lnSpc>
                <a:spcPct val="112000"/>
              </a:lnSpc>
              <a:spcBef>
                <a:spcPts val="0"/>
              </a:spcBef>
              <a:spcAft>
                <a:spcPts val="0"/>
              </a:spcAft>
              <a:defRPr sz="780" b="1">
                <a:solidFill>
                  <a:srgbClr val="7454CE"/>
                </a:solidFill>
                <a:latin typeface="Arial"/>
              </a:defRPr>
            </a:pPr>
            <a:r>
              <a:t>SUGGESTIONS</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Set the direction</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Choose the brand, month,</a:t>
            </a:r>
          </a:p>
          <a:p>
            <a:pPr>
              <a:lnSpc>
                <a:spcPct val="112000"/>
              </a:lnSpc>
              <a:spcBef>
                <a:spcPts val="0"/>
              </a:spcBef>
              <a:spcAft>
                <a:spcPts val="0"/>
              </a:spcAft>
              <a:defRPr sz="1080" b="0">
                <a:solidFill>
                  <a:srgbClr val="74697F"/>
                </a:solidFill>
                <a:latin typeface="Arial"/>
              </a:defRPr>
            </a:pPr>
            <a:r>
              <a:t>objectives and required post count.</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Balance the workload</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Adjust pillar counts and formats</a:t>
            </a:r>
          </a:p>
          <a:p>
            <a:pPr>
              <a:lnSpc>
                <a:spcPct val="112000"/>
              </a:lnSpc>
              <a:spcBef>
                <a:spcPts val="0"/>
              </a:spcBef>
              <a:spcAft>
                <a:spcPts val="0"/>
              </a:spcAft>
              <a:defRPr sz="1080" b="0">
                <a:solidFill>
                  <a:srgbClr val="74697F"/>
                </a:solidFill>
                <a:latin typeface="Arial"/>
              </a:defRPr>
            </a:pPr>
            <a:r>
              <a:t>before committing the plan.</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Create draft records</a:t>
            </a:r>
          </a:p>
        </p:txBody>
      </p:sp>
      <p:sp>
        <p:nvSpPr>
          <p:cNvPr id="15" name="TextBox 14"/>
          <p:cNvSpPr txBox="1"/>
          <p:nvPr/>
        </p:nvSpPr>
        <p:spPr>
          <a:xfrm>
            <a:off x="487679" y="4632959"/>
            <a:ext cx="2514599" cy="611123"/>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Build the calendar with editable</a:t>
            </a:r>
          </a:p>
          <a:p>
            <a:pPr>
              <a:lnSpc>
                <a:spcPct val="112000"/>
              </a:lnSpc>
              <a:spcBef>
                <a:spcPts val="0"/>
              </a:spcBef>
              <a:spcAft>
                <a:spcPts val="0"/>
              </a:spcAft>
              <a:defRPr sz="1080" b="0">
                <a:solidFill>
                  <a:srgbClr val="74697F"/>
                </a:solidFill>
                <a:latin typeface="Arial"/>
              </a:defRPr>
            </a:pPr>
            <a:r>
              <a:t>posts; every approval remains</a:t>
            </a:r>
          </a:p>
          <a:p>
            <a:pPr>
              <a:lnSpc>
                <a:spcPct val="112000"/>
              </a:lnSpc>
              <a:spcBef>
                <a:spcPts val="0"/>
              </a:spcBef>
              <a:spcAft>
                <a:spcPts val="0"/>
              </a:spcAft>
              <a:defRPr sz="1080" b="0">
                <a:solidFill>
                  <a:srgbClr val="74697F"/>
                </a:solidFill>
                <a:latin typeface="Arial"/>
              </a:defRPr>
            </a:pPr>
            <a:r>
              <a:t>pending.</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3-planning-studio.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A faster start, with human</a:t>
            </a:r>
          </a:p>
          <a:p>
            <a:pPr>
              <a:lnSpc>
                <a:spcPct val="112000"/>
              </a:lnSpc>
              <a:spcBef>
                <a:spcPts val="0"/>
              </a:spcBef>
              <a:spcAft>
                <a:spcPts val="0"/>
              </a:spcAft>
              <a:defRPr sz="960" b="1">
                <a:solidFill>
                  <a:srgbClr val="FFFFFF"/>
                </a:solidFill>
                <a:latin typeface="Arial"/>
              </a:defRPr>
            </a:pPr>
            <a:r>
              <a:t>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08</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A calendar the whole team can use.</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Content workspace / monthly planning over structured posts.</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See the monthly mix</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Review post titles, formats, status</a:t>
            </a:r>
          </a:p>
          <a:p>
            <a:pPr>
              <a:lnSpc>
                <a:spcPct val="112000"/>
              </a:lnSpc>
              <a:spcBef>
                <a:spcPts val="0"/>
              </a:spcBef>
              <a:spcAft>
                <a:spcPts val="0"/>
              </a:spcAft>
              <a:defRPr sz="1080" b="0">
                <a:solidFill>
                  <a:srgbClr val="74697F"/>
                </a:solidFill>
                <a:latin typeface="Arial"/>
              </a:defRPr>
            </a:pPr>
            <a:r>
              <a:t>and attached creative.</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Open the real record</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Move from the calendar directly into</a:t>
            </a:r>
          </a:p>
          <a:p>
            <a:pPr>
              <a:lnSpc>
                <a:spcPct val="112000"/>
              </a:lnSpc>
              <a:spcBef>
                <a:spcPts val="0"/>
              </a:spcBef>
              <a:spcAft>
                <a:spcPts val="0"/>
              </a:spcAft>
              <a:defRPr sz="1080" b="0">
                <a:solidFill>
                  <a:srgbClr val="74697F"/>
                </a:solidFill>
                <a:latin typeface="Arial"/>
              </a:defRPr>
            </a:pPr>
            <a:r>
              <a:t>a post’s brief and deliverables.</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Change the perspective</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Calendar, board, copy and</a:t>
            </a:r>
          </a:p>
          <a:p>
            <a:pPr>
              <a:lnSpc>
                <a:spcPct val="112000"/>
              </a:lnSpc>
              <a:spcBef>
                <a:spcPts val="0"/>
              </a:spcBef>
              <a:spcAft>
                <a:spcPts val="0"/>
              </a:spcAft>
              <a:defRPr sz="1080" b="0">
                <a:solidFill>
                  <a:srgbClr val="74697F"/>
                </a:solidFill>
                <a:latin typeface="Arial"/>
              </a:defRPr>
            </a:pPr>
            <a:r>
              <a:t>presentation share the same posts.</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12-calendar-grid.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Stop rebuilding the calendar in</a:t>
            </a:r>
          </a:p>
          <a:p>
            <a:pPr>
              <a:lnSpc>
                <a:spcPct val="112000"/>
              </a:lnSpc>
              <a:spcBef>
                <a:spcPts val="0"/>
              </a:spcBef>
              <a:spcAft>
                <a:spcPts val="0"/>
              </a:spcAft>
              <a:defRPr sz="960" b="1">
                <a:solidFill>
                  <a:srgbClr val="FFFFFF"/>
                </a:solidFill>
                <a:latin typeface="Arial"/>
              </a:defRPr>
            </a:pPr>
            <a:r>
              <a:t>slides.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09</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Make the next action visible.</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Production board / a shared pipeline with ownership.</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Track the workflow</a:t>
            </a:r>
          </a:p>
        </p:txBody>
      </p:sp>
      <p:sp>
        <p:nvSpPr>
          <p:cNvPr id="11" name="TextBox 10"/>
          <p:cNvSpPr txBox="1"/>
          <p:nvPr/>
        </p:nvSpPr>
        <p:spPr>
          <a:xfrm>
            <a:off x="487679" y="2575559"/>
            <a:ext cx="2514599" cy="611123"/>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Idea through internal review,</a:t>
            </a:r>
          </a:p>
          <a:p>
            <a:pPr>
              <a:lnSpc>
                <a:spcPct val="112000"/>
              </a:lnSpc>
              <a:spcBef>
                <a:spcPts val="0"/>
              </a:spcBef>
              <a:spcAft>
                <a:spcPts val="0"/>
              </a:spcAft>
              <a:defRPr sz="1080" b="0">
                <a:solidFill>
                  <a:srgbClr val="74697F"/>
                </a:solidFill>
                <a:latin typeface="Arial"/>
              </a:defRPr>
            </a:pPr>
            <a:r>
              <a:t>production, client approval and</a:t>
            </a:r>
          </a:p>
          <a:p>
            <a:pPr>
              <a:lnSpc>
                <a:spcPct val="112000"/>
              </a:lnSpc>
              <a:spcBef>
                <a:spcPts val="0"/>
              </a:spcBef>
              <a:spcAft>
                <a:spcPts val="0"/>
              </a:spcAft>
              <a:defRPr sz="1080" b="0">
                <a:solidFill>
                  <a:srgbClr val="74697F"/>
                </a:solidFill>
                <a:latin typeface="Arial"/>
              </a:defRPr>
            </a:pPr>
            <a:r>
              <a:t>published.</a:t>
            </a:r>
          </a:p>
        </p:txBody>
      </p:sp>
      <p:sp>
        <p:nvSpPr>
          <p:cNvPr id="12" name="TextBox 11"/>
          <p:cNvSpPr txBox="1"/>
          <p:nvPr/>
        </p:nvSpPr>
        <p:spPr>
          <a:xfrm>
            <a:off x="487679" y="3354323"/>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Spot the queues</a:t>
            </a:r>
          </a:p>
        </p:txBody>
      </p:sp>
      <p:sp>
        <p:nvSpPr>
          <p:cNvPr id="13" name="TextBox 12"/>
          <p:cNvSpPr txBox="1"/>
          <p:nvPr/>
        </p:nvSpPr>
        <p:spPr>
          <a:xfrm>
            <a:off x="487679" y="3628643"/>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See where content is gathering</a:t>
            </a:r>
          </a:p>
          <a:p>
            <a:pPr>
              <a:lnSpc>
                <a:spcPct val="112000"/>
              </a:lnSpc>
              <a:spcBef>
                <a:spcPts val="0"/>
              </a:spcBef>
              <a:spcAft>
                <a:spcPts val="0"/>
              </a:spcAft>
              <a:defRPr sz="1080" b="0">
                <a:solidFill>
                  <a:srgbClr val="74697F"/>
                </a:solidFill>
                <a:latin typeface="Arial"/>
              </a:defRPr>
            </a:pPr>
            <a:r>
              <a:t>before the monthly delivery slips.</a:t>
            </a:r>
          </a:p>
        </p:txBody>
      </p:sp>
      <p:sp>
        <p:nvSpPr>
          <p:cNvPr id="14" name="TextBox 13"/>
          <p:cNvSpPr txBox="1"/>
          <p:nvPr/>
        </p:nvSpPr>
        <p:spPr>
          <a:xfrm>
            <a:off x="487679" y="4383023"/>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Assign the work</a:t>
            </a:r>
          </a:p>
        </p:txBody>
      </p:sp>
      <p:sp>
        <p:nvSpPr>
          <p:cNvPr id="15" name="TextBox 14"/>
          <p:cNvSpPr txBox="1"/>
          <p:nvPr/>
        </p:nvSpPr>
        <p:spPr>
          <a:xfrm>
            <a:off x="487679" y="4657343"/>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Post-level ownership and role</a:t>
            </a:r>
          </a:p>
          <a:p>
            <a:pPr>
              <a:lnSpc>
                <a:spcPct val="112000"/>
              </a:lnSpc>
              <a:spcBef>
                <a:spcPts val="0"/>
              </a:spcBef>
              <a:spcAft>
                <a:spcPts val="0"/>
              </a:spcAft>
              <a:defRPr sz="1080" b="0">
                <a:solidFill>
                  <a:srgbClr val="74697F"/>
                </a:solidFill>
                <a:latin typeface="Arial"/>
              </a:defRPr>
            </a:pPr>
            <a:r>
              <a:t>assignments give the team context.</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14-production-board.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Less chasing for status updates.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10</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Keep the entire brief with the post.</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Post detail / the working unit for everyone on the team.</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Structured context</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Idea, rationale, format, campaign</a:t>
            </a:r>
          </a:p>
          <a:p>
            <a:pPr>
              <a:lnSpc>
                <a:spcPct val="112000"/>
              </a:lnSpc>
              <a:spcBef>
                <a:spcPts val="0"/>
              </a:spcBef>
              <a:spcAft>
                <a:spcPts val="0"/>
              </a:spcAft>
              <a:defRPr sz="1080" b="0">
                <a:solidFill>
                  <a:srgbClr val="74697F"/>
                </a:solidFill>
                <a:latin typeface="Arial"/>
              </a:defRPr>
            </a:pPr>
            <a:r>
              <a:t>and objective stay together.</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Connected deliverables</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Captions, assets, feedback and</a:t>
            </a:r>
          </a:p>
          <a:p>
            <a:pPr>
              <a:lnSpc>
                <a:spcPct val="112000"/>
              </a:lnSpc>
              <a:spcBef>
                <a:spcPts val="0"/>
              </a:spcBef>
              <a:spcAft>
                <a:spcPts val="0"/>
              </a:spcAft>
              <a:defRPr sz="1080" b="0">
                <a:solidFill>
                  <a:srgbClr val="74697F"/>
                </a:solidFill>
                <a:latin typeface="Arial"/>
              </a:defRPr>
            </a:pPr>
            <a:r>
              <a:t>audit history are tabs on one record.</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Clear ownership</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Assignments and due dates support</a:t>
            </a:r>
          </a:p>
          <a:p>
            <a:pPr>
              <a:lnSpc>
                <a:spcPct val="112000"/>
              </a:lnSpc>
              <a:spcBef>
                <a:spcPts val="0"/>
              </a:spcBef>
              <a:spcAft>
                <a:spcPts val="0"/>
              </a:spcAft>
              <a:defRPr sz="1080" b="0">
                <a:solidFill>
                  <a:srgbClr val="74697F"/>
                </a:solidFill>
                <a:latin typeface="Arial"/>
              </a:defRPr>
            </a:pPr>
            <a:r>
              <a:t>the production handoff.</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17-post-brief.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No searching across decks and</a:t>
            </a:r>
          </a:p>
          <a:p>
            <a:pPr>
              <a:lnSpc>
                <a:spcPct val="112000"/>
              </a:lnSpc>
              <a:spcBef>
                <a:spcPts val="0"/>
              </a:spcBef>
              <a:spcAft>
                <a:spcPts val="0"/>
              </a:spcAft>
              <a:defRPr sz="960" b="1">
                <a:solidFill>
                  <a:srgbClr val="FFFFFF"/>
                </a:solidFill>
                <a:latin typeface="Arial"/>
              </a:defRPr>
            </a:pPr>
            <a:r>
              <a:t>folders.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11</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Give copywriters a useful workspace.</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Copy desk / English and Arabic across the monthly calendar.</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Write across posts</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Review several ideas and captions</a:t>
            </a:r>
          </a:p>
          <a:p>
            <a:pPr>
              <a:lnSpc>
                <a:spcPct val="112000"/>
              </a:lnSpc>
              <a:spcBef>
                <a:spcPts val="0"/>
              </a:spcBef>
              <a:spcAft>
                <a:spcPts val="0"/>
              </a:spcAft>
              <a:defRPr sz="1080" b="0">
                <a:solidFill>
                  <a:srgbClr val="74697F"/>
                </a:solidFill>
                <a:latin typeface="Arial"/>
              </a:defRPr>
            </a:pPr>
            <a:r>
              <a:t>without opening each slide.</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Bilingual by design</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Separate English and Arabic fields,</a:t>
            </a:r>
          </a:p>
          <a:p>
            <a:pPr>
              <a:lnSpc>
                <a:spcPct val="112000"/>
              </a:lnSpc>
              <a:spcBef>
                <a:spcPts val="0"/>
              </a:spcBef>
              <a:spcAft>
                <a:spcPts val="0"/>
              </a:spcAft>
              <a:defRPr sz="1080" b="0">
                <a:solidFill>
                  <a:srgbClr val="74697F"/>
                </a:solidFill>
                <a:latin typeface="Arial"/>
              </a:defRPr>
            </a:pPr>
            <a:r>
              <a:t>with RTL rendering.</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Protect the review state</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Revised copy resets downstream</a:t>
            </a:r>
          </a:p>
          <a:p>
            <a:pPr>
              <a:lnSpc>
                <a:spcPct val="112000"/>
              </a:lnSpc>
              <a:spcBef>
                <a:spcPts val="0"/>
              </a:spcBef>
              <a:spcAft>
                <a:spcPts val="0"/>
              </a:spcAft>
              <a:defRPr sz="1080" b="0">
                <a:solidFill>
                  <a:srgbClr val="74697F"/>
                </a:solidFill>
                <a:latin typeface="Arial"/>
              </a:defRPr>
            </a:pPr>
            <a:r>
              <a:t>approvals for renewed review.</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15-copy-desk.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Make caption editing part of the</a:t>
            </a:r>
          </a:p>
          <a:p>
            <a:pPr>
              <a:lnSpc>
                <a:spcPct val="112000"/>
              </a:lnSpc>
              <a:spcBef>
                <a:spcPts val="0"/>
              </a:spcBef>
              <a:spcAft>
                <a:spcPts val="0"/>
              </a:spcAft>
              <a:defRPr sz="960" b="1">
                <a:solidFill>
                  <a:srgbClr val="FFFFFF"/>
                </a:solidFill>
                <a:latin typeface="Arial"/>
              </a:defRPr>
            </a:pPr>
            <a:r>
              <a:t>workflow.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12</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Import the copy. Review the mapping.</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Bulk copy import / remove repetitive caption transfer.</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Bring a batch</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Paste Post / EN / AR blocks or</a:t>
            </a:r>
          </a:p>
          <a:p>
            <a:pPr>
              <a:lnSpc>
                <a:spcPct val="112000"/>
              </a:lnSpc>
              <a:spcBef>
                <a:spcPts val="0"/>
              </a:spcBef>
              <a:spcAft>
                <a:spcPts val="0"/>
              </a:spcAft>
              <a:defRPr sz="1080" b="0">
                <a:solidFill>
                  <a:srgbClr val="74697F"/>
                </a:solidFill>
                <a:latin typeface="Arial"/>
              </a:defRPr>
            </a:pPr>
            <a:r>
              <a:t>upload structured CSV.</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Check before saving</a:t>
            </a:r>
          </a:p>
        </p:txBody>
      </p:sp>
      <p:sp>
        <p:nvSpPr>
          <p:cNvPr id="13" name="TextBox 12"/>
          <p:cNvSpPr txBox="1"/>
          <p:nvPr/>
        </p:nvSpPr>
        <p:spPr>
          <a:xfrm>
            <a:off x="487679" y="3604259"/>
            <a:ext cx="2514599" cy="611123"/>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Preview post matches and flag</a:t>
            </a:r>
          </a:p>
          <a:p>
            <a:pPr>
              <a:lnSpc>
                <a:spcPct val="112000"/>
              </a:lnSpc>
              <a:spcBef>
                <a:spcPts val="0"/>
              </a:spcBef>
              <a:spcAft>
                <a:spcPts val="0"/>
              </a:spcAft>
              <a:defRPr sz="1080" b="0">
                <a:solidFill>
                  <a:srgbClr val="74697F"/>
                </a:solidFill>
                <a:latin typeface="Arial"/>
              </a:defRPr>
            </a:pPr>
            <a:r>
              <a:t>duplicates or missing language</a:t>
            </a:r>
          </a:p>
          <a:p>
            <a:pPr>
              <a:lnSpc>
                <a:spcPct val="112000"/>
              </a:lnSpc>
              <a:spcBef>
                <a:spcPts val="0"/>
              </a:spcBef>
              <a:spcAft>
                <a:spcPts val="0"/>
              </a:spcAft>
              <a:defRPr sz="1080" b="0">
                <a:solidFill>
                  <a:srgbClr val="74697F"/>
                </a:solidFill>
                <a:latin typeface="Arial"/>
              </a:defRPr>
            </a:pPr>
            <a:r>
              <a:t>pairs.</a:t>
            </a:r>
          </a:p>
        </p:txBody>
      </p:sp>
      <p:sp>
        <p:nvSpPr>
          <p:cNvPr id="14" name="TextBox 13"/>
          <p:cNvSpPr txBox="1"/>
          <p:nvPr/>
        </p:nvSpPr>
        <p:spPr>
          <a:xfrm>
            <a:off x="487679" y="4383023"/>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Save to the source</a:t>
            </a:r>
          </a:p>
        </p:txBody>
      </p:sp>
      <p:sp>
        <p:nvSpPr>
          <p:cNvPr id="15" name="TextBox 14"/>
          <p:cNvSpPr txBox="1"/>
          <p:nvPr/>
        </p:nvSpPr>
        <p:spPr>
          <a:xfrm>
            <a:off x="487679" y="4657343"/>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Selected captions are written to the</a:t>
            </a:r>
          </a:p>
          <a:p>
            <a:pPr>
              <a:lnSpc>
                <a:spcPct val="112000"/>
              </a:lnSpc>
              <a:spcBef>
                <a:spcPts val="0"/>
              </a:spcBef>
              <a:spcAft>
                <a:spcPts val="0"/>
              </a:spcAft>
              <a:defRPr sz="1080" b="0">
                <a:solidFill>
                  <a:srgbClr val="74697F"/>
                </a:solidFill>
                <a:latin typeface="Arial"/>
              </a:defRPr>
            </a:pPr>
            <a:r>
              <a:t>original content items.</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5-caption-import.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One reviewable import, many</a:t>
            </a:r>
          </a:p>
          <a:p>
            <a:pPr>
              <a:lnSpc>
                <a:spcPct val="112000"/>
              </a:lnSpc>
              <a:spcBef>
                <a:spcPts val="0"/>
              </a:spcBef>
              <a:spcAft>
                <a:spcPts val="0"/>
              </a:spcAft>
              <a:defRPr sz="960" b="1">
                <a:solidFill>
                  <a:srgbClr val="FFFFFF"/>
                </a:solidFill>
                <a:latin typeface="Arial"/>
              </a:defRPr>
            </a:pPr>
            <a:r>
              <a:t>posts.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13</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Route creative files to the right post.</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Asset inbox / review suggestions before attaching versions.</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Upload a batch</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Preview multiple images and</a:t>
            </a:r>
          </a:p>
          <a:p>
            <a:pPr>
              <a:lnSpc>
                <a:spcPct val="112000"/>
              </a:lnSpc>
              <a:spcBef>
                <a:spcPts val="0"/>
              </a:spcBef>
              <a:spcAft>
                <a:spcPts val="0"/>
              </a:spcAft>
              <a:defRPr sz="1080" b="0">
                <a:solidFill>
                  <a:srgbClr val="74697F"/>
                </a:solidFill>
                <a:latin typeface="Arial"/>
              </a:defRPr>
            </a:pPr>
            <a:r>
              <a:t>browser-playable video.</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Use filename signals</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Brand, post number, month and</a:t>
            </a:r>
          </a:p>
          <a:p>
            <a:pPr>
              <a:lnSpc>
                <a:spcPct val="112000"/>
              </a:lnSpc>
              <a:spcBef>
                <a:spcPts val="0"/>
              </a:spcBef>
              <a:spcAft>
                <a:spcPts val="0"/>
              </a:spcAft>
              <a:defRPr sz="1080" b="0">
                <a:solidFill>
                  <a:srgbClr val="74697F"/>
                </a:solidFill>
                <a:latin typeface="Arial"/>
              </a:defRPr>
            </a:pPr>
            <a:r>
              <a:t>version guide the recommendation.</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Confirm the destination</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Ambiguous files remain unassigned</a:t>
            </a:r>
          </a:p>
          <a:p>
            <a:pPr>
              <a:lnSpc>
                <a:spcPct val="112000"/>
              </a:lnSpc>
              <a:spcBef>
                <a:spcPts val="0"/>
              </a:spcBef>
              <a:spcAft>
                <a:spcPts val="0"/>
              </a:spcAft>
              <a:defRPr sz="1080" b="0">
                <a:solidFill>
                  <a:srgbClr val="74697F"/>
                </a:solidFill>
                <a:latin typeface="Arial"/>
              </a:defRPr>
            </a:pPr>
            <a:r>
              <a:t>until a person chooses.</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4-asset-inbox.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Remove manual artwork</a:t>
            </a:r>
          </a:p>
          <a:p>
            <a:pPr>
              <a:lnSpc>
                <a:spcPct val="112000"/>
              </a:lnSpc>
              <a:spcBef>
                <a:spcPts val="0"/>
              </a:spcBef>
              <a:spcAft>
                <a:spcPts val="0"/>
              </a:spcAft>
              <a:defRPr sz="960" b="1">
                <a:solidFill>
                  <a:srgbClr val="FFFFFF"/>
                </a:solidFill>
                <a:latin typeface="Arial"/>
              </a:defRPr>
            </a:pPr>
            <a:r>
              <a:t>placement.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14</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Present from the calendar itself.</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Client presentation / web review becomes the primary experience.</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A familiar review flow</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Move sequentially through</a:t>
            </a:r>
          </a:p>
          <a:p>
            <a:pPr>
              <a:lnSpc>
                <a:spcPct val="112000"/>
              </a:lnSpc>
              <a:spcBef>
                <a:spcPts val="0"/>
              </a:spcBef>
              <a:spcAft>
                <a:spcPts val="0"/>
              </a:spcAft>
              <a:defRPr sz="1080" b="0">
                <a:solidFill>
                  <a:srgbClr val="74697F"/>
                </a:solidFill>
                <a:latin typeface="Arial"/>
              </a:defRPr>
            </a:pPr>
            <a:r>
              <a:t>presentation-style content cards.</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Native media review</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View artwork and play video without</a:t>
            </a:r>
          </a:p>
          <a:p>
            <a:pPr>
              <a:lnSpc>
                <a:spcPct val="112000"/>
              </a:lnSpc>
              <a:spcBef>
                <a:spcPts val="0"/>
              </a:spcBef>
              <a:spcAft>
                <a:spcPts val="0"/>
              </a:spcAft>
              <a:defRPr sz="1080" b="0">
                <a:solidFill>
                  <a:srgbClr val="74697F"/>
                </a:solidFill>
                <a:latin typeface="Arial"/>
              </a:defRPr>
            </a:pPr>
            <a:r>
              <a:t>downloading a package.</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Decide in context</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Read the brief and copy, then</a:t>
            </a:r>
          </a:p>
          <a:p>
            <a:pPr>
              <a:lnSpc>
                <a:spcPct val="112000"/>
              </a:lnSpc>
              <a:spcBef>
                <a:spcPts val="0"/>
              </a:spcBef>
              <a:spcAft>
                <a:spcPts val="0"/>
              </a:spcAft>
              <a:defRPr sz="1080" b="0">
                <a:solidFill>
                  <a:srgbClr val="74697F"/>
                </a:solidFill>
                <a:latin typeface="Arial"/>
              </a:defRPr>
            </a:pPr>
            <a:r>
              <a:t>comment or approve the post.</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16-client-presentation.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Make the portal the preferred</a:t>
            </a:r>
          </a:p>
          <a:p>
            <a:pPr>
              <a:lnSpc>
                <a:spcPct val="112000"/>
              </a:lnSpc>
              <a:spcBef>
                <a:spcPts val="0"/>
              </a:spcBef>
              <a:spcAft>
                <a:spcPts val="0"/>
              </a:spcAft>
              <a:defRPr sz="960" b="1">
                <a:solidFill>
                  <a:srgbClr val="FFFFFF"/>
                </a:solidFill>
                <a:latin typeface="Arial"/>
              </a:defRPr>
            </a:pPr>
            <a:r>
              <a:t>review space.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15</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Feedback stays with the work.</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Connected conversations / the revision loop without comment transfer.</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Post-level discussion</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Authors, timestamps, replies and</a:t>
            </a:r>
          </a:p>
          <a:p>
            <a:pPr>
              <a:lnSpc>
                <a:spcPct val="112000"/>
              </a:lnSpc>
              <a:spcBef>
                <a:spcPts val="0"/>
              </a:spcBef>
              <a:spcAft>
                <a:spcPts val="0"/>
              </a:spcAft>
              <a:defRPr sz="1080" b="0">
                <a:solidFill>
                  <a:srgbClr val="74697F"/>
                </a:solidFill>
                <a:latin typeface="Arial"/>
              </a:defRPr>
            </a:pPr>
            <a:r>
              <a:t>resolved states retain context.</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Separate audiences</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Internal team discussion and</a:t>
            </a:r>
          </a:p>
          <a:p>
            <a:pPr>
              <a:lnSpc>
                <a:spcPct val="112000"/>
              </a:lnSpc>
              <a:spcBef>
                <a:spcPts val="0"/>
              </a:spcBef>
              <a:spcAft>
                <a:spcPts val="0"/>
              </a:spcAft>
              <a:defRPr sz="1080" b="0">
                <a:solidFill>
                  <a:srgbClr val="74697F"/>
                </a:solidFill>
                <a:latin typeface="Arial"/>
              </a:defRPr>
            </a:pPr>
            <a:r>
              <a:t>client-visible feedback are distinct.</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One revision loop</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The Account Manager and creative</a:t>
            </a:r>
          </a:p>
          <a:p>
            <a:pPr>
              <a:lnSpc>
                <a:spcPct val="112000"/>
              </a:lnSpc>
              <a:spcBef>
                <a:spcPts val="0"/>
              </a:spcBef>
              <a:spcAft>
                <a:spcPts val="0"/>
              </a:spcAft>
              <a:defRPr sz="1080" b="0">
                <a:solidFill>
                  <a:srgbClr val="74697F"/>
                </a:solidFill>
                <a:latin typeface="Arial"/>
              </a:defRPr>
            </a:pPr>
            <a:r>
              <a:t>team see the original client note.</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18-connected-feedback.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Stop copying comments between</a:t>
            </a:r>
          </a:p>
          <a:p>
            <a:pPr>
              <a:lnSpc>
                <a:spcPct val="112000"/>
              </a:lnSpc>
              <a:spcBef>
                <a:spcPts val="0"/>
              </a:spcBef>
              <a:spcAft>
                <a:spcPts val="0"/>
              </a:spcAft>
              <a:defRPr sz="960" b="1">
                <a:solidFill>
                  <a:srgbClr val="FFFFFF"/>
                </a:solidFill>
                <a:latin typeface="Arial"/>
              </a:defRPr>
            </a:pPr>
            <a:r>
              <a:t>versions.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16</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Catch the gaps before submission.</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Calendar health / clickable readiness checks.</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Check the essentials</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Missing copy, thumbnails, review</a:t>
            </a:r>
          </a:p>
          <a:p>
            <a:pPr>
              <a:lnSpc>
                <a:spcPct val="112000"/>
              </a:lnSpc>
              <a:spcBef>
                <a:spcPts val="0"/>
              </a:spcBef>
              <a:spcAft>
                <a:spcPts val="0"/>
              </a:spcAft>
              <a:defRPr sz="1080" b="0">
                <a:solidFill>
                  <a:srgbClr val="74697F"/>
                </a:solidFill>
                <a:latin typeface="Arial"/>
              </a:defRPr>
            </a:pPr>
            <a:r>
              <a:t>states and open feedback.</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Go straight to the issue</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Click the affected content item</a:t>
            </a:r>
          </a:p>
          <a:p>
            <a:pPr>
              <a:lnSpc>
                <a:spcPct val="112000"/>
              </a:lnSpc>
              <a:spcBef>
                <a:spcPts val="0"/>
              </a:spcBef>
              <a:spcAft>
                <a:spcPts val="0"/>
              </a:spcAft>
              <a:defRPr sz="1080" b="0">
                <a:solidFill>
                  <a:srgbClr val="74697F"/>
                </a:solidFill>
                <a:latin typeface="Arial"/>
              </a:defRPr>
            </a:pPr>
            <a:r>
              <a:t>instead of maintaining a checklist.</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Retain human sign-off</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Health readiness supports review; it</a:t>
            </a:r>
          </a:p>
          <a:p>
            <a:pPr>
              <a:lnSpc>
                <a:spcPct val="112000"/>
              </a:lnSpc>
              <a:spcBef>
                <a:spcPts val="0"/>
              </a:spcBef>
              <a:spcAft>
                <a:spcPts val="0"/>
              </a:spcAft>
              <a:defRPr sz="1080" b="0">
                <a:solidFill>
                  <a:srgbClr val="74697F"/>
                </a:solidFill>
                <a:latin typeface="Arial"/>
              </a:defRPr>
            </a:pPr>
            <a:r>
              <a:t>does not approve the work.</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21-health-check.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Replace a manual pre-flight</a:t>
            </a:r>
          </a:p>
          <a:p>
            <a:pPr>
              <a:lnSpc>
                <a:spcPct val="112000"/>
              </a:lnSpc>
              <a:spcBef>
                <a:spcPts val="0"/>
              </a:spcBef>
              <a:spcAft>
                <a:spcPts val="0"/>
              </a:spcAft>
              <a:defRPr sz="960" b="1">
                <a:solidFill>
                  <a:srgbClr val="FFFFFF"/>
                </a:solidFill>
                <a:latin typeface="Arial"/>
              </a:defRPr>
            </a:pPr>
            <a:r>
              <a:t>checklist.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17</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Give creativity a better starting point.</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Creative intelligence / context and previous work, with human review.</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333755"/>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SEARCH + LABELLED AI</a:t>
            </a:r>
          </a:p>
          <a:p>
            <a:pPr>
              <a:lnSpc>
                <a:spcPct val="112000"/>
              </a:lnSpc>
              <a:spcBef>
                <a:spcPts val="0"/>
              </a:spcBef>
              <a:spcAft>
                <a:spcPts val="0"/>
              </a:spcAft>
              <a:defRPr sz="780" b="1">
                <a:solidFill>
                  <a:srgbClr val="7454CE"/>
                </a:solidFill>
                <a:latin typeface="Arial"/>
              </a:defRPr>
            </a:pPr>
            <a:r>
              <a:t>CONCEPTS</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Find earlier work</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Search actual demo titles, ideas,</a:t>
            </a:r>
          </a:p>
          <a:p>
            <a:pPr>
              <a:lnSpc>
                <a:spcPct val="112000"/>
              </a:lnSpc>
              <a:spcBef>
                <a:spcPts val="0"/>
              </a:spcBef>
              <a:spcAft>
                <a:spcPts val="0"/>
              </a:spcAft>
              <a:defRPr sz="1080" b="0">
                <a:solidFill>
                  <a:srgbClr val="74697F"/>
                </a:solidFill>
                <a:latin typeface="Arial"/>
              </a:defRPr>
            </a:pPr>
            <a:r>
              <a:t>pillars and captions.</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Explore a direction</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Generate a deterministic caption</a:t>
            </a:r>
          </a:p>
          <a:p>
            <a:pPr>
              <a:lnSpc>
                <a:spcPct val="112000"/>
              </a:lnSpc>
              <a:spcBef>
                <a:spcPts val="0"/>
              </a:spcBef>
              <a:spcAft>
                <a:spcPts val="0"/>
              </a:spcAft>
              <a:defRPr sz="1080" b="0">
                <a:solidFill>
                  <a:srgbClr val="74697F"/>
                </a:solidFill>
                <a:latin typeface="Arial"/>
              </a:defRPr>
            </a:pPr>
            <a:r>
              <a:t>example and save it as a draft.</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Keep judgment visible</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Brand claims and Arabic samples</a:t>
            </a:r>
          </a:p>
          <a:p>
            <a:pPr>
              <a:lnSpc>
                <a:spcPct val="112000"/>
              </a:lnSpc>
              <a:spcBef>
                <a:spcPts val="0"/>
              </a:spcBef>
              <a:spcAft>
                <a:spcPts val="0"/>
              </a:spcAft>
              <a:defRPr sz="1080" b="0">
                <a:solidFill>
                  <a:srgbClr val="74697F"/>
                </a:solidFill>
                <a:latin typeface="Arial"/>
              </a:defRPr>
            </a:pPr>
            <a:r>
              <a:t>still require review.</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6-creative-intelligence.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Useful assistance without</a:t>
            </a:r>
          </a:p>
          <a:p>
            <a:pPr>
              <a:lnSpc>
                <a:spcPct val="112000"/>
              </a:lnSpc>
              <a:spcBef>
                <a:spcPts val="0"/>
              </a:spcBef>
              <a:spcAft>
                <a:spcPts val="0"/>
              </a:spcAft>
              <a:defRPr sz="960" b="1">
                <a:solidFill>
                  <a:srgbClr val="FFFFFF"/>
                </a:solidFill>
                <a:latin typeface="Arial"/>
              </a:defRPr>
            </a:pPr>
            <a:r>
              <a:t>automatic approval.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18</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Manage from the current work.</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Agency insights / approvals, readiness and bottlenecks.</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WORKING PROTOTYPE</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Real record counts</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Approval rates, health-ready posts</a:t>
            </a:r>
          </a:p>
          <a:p>
            <a:pPr>
              <a:lnSpc>
                <a:spcPct val="112000"/>
              </a:lnSpc>
              <a:spcBef>
                <a:spcPts val="0"/>
              </a:spcBef>
              <a:spcAft>
                <a:spcPts val="0"/>
              </a:spcAft>
              <a:defRPr sz="1080" b="0">
                <a:solidFill>
                  <a:srgbClr val="74697F"/>
                </a:solidFill>
                <a:latin typeface="Arial"/>
              </a:defRPr>
            </a:pPr>
            <a:r>
              <a:t>and unresolved conversations.</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Find the queue</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See the largest workflow stage and</a:t>
            </a:r>
          </a:p>
          <a:p>
            <a:pPr>
              <a:lnSpc>
                <a:spcPct val="112000"/>
              </a:lnSpc>
              <a:spcBef>
                <a:spcPts val="0"/>
              </a:spcBef>
              <a:spcAft>
                <a:spcPts val="0"/>
              </a:spcAft>
              <a:defRPr sz="1080" b="0">
                <a:solidFill>
                  <a:srgbClr val="74697F"/>
                </a:solidFill>
                <a:latin typeface="Arial"/>
              </a:defRPr>
            </a:pPr>
            <a:r>
              <a:t>brand-level progress.</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Make issues actionable</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Open the post behind a readiness</a:t>
            </a:r>
          </a:p>
          <a:p>
            <a:pPr>
              <a:lnSpc>
                <a:spcPct val="112000"/>
              </a:lnSpc>
              <a:spcBef>
                <a:spcPts val="0"/>
              </a:spcBef>
              <a:spcAft>
                <a:spcPts val="0"/>
              </a:spcAft>
              <a:defRPr sz="1080" b="0">
                <a:solidFill>
                  <a:srgbClr val="74697F"/>
                </a:solidFill>
                <a:latin typeface="Arial"/>
              </a:defRPr>
            </a:pPr>
            <a:r>
              <a:t>issue.</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8-agency-insights.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A management view with an</a:t>
            </a:r>
          </a:p>
          <a:p>
            <a:pPr>
              <a:lnSpc>
                <a:spcPct val="112000"/>
              </a:lnSpc>
              <a:spcBef>
                <a:spcPts val="0"/>
              </a:spcBef>
              <a:spcAft>
                <a:spcPts val="0"/>
              </a:spcAft>
              <a:defRPr sz="960" b="1">
                <a:solidFill>
                  <a:srgbClr val="FFFFFF"/>
                </a:solidFill>
                <a:latin typeface="Arial"/>
              </a:defRPr>
            </a:pPr>
            <a:r>
              <a:t>action attached.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19</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Make the value measurable.</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Workload and savings / a transparent scenario, followed by a real baseline.</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333755"/>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ILLUSTRATIVE SCENARIO · NOT MEASURED</a:t>
            </a:r>
          </a:p>
          <a:p>
            <a:pPr>
              <a:lnSpc>
                <a:spcPct val="112000"/>
              </a:lnSpc>
              <a:spcBef>
                <a:spcPts val="0"/>
              </a:spcBef>
              <a:spcAft>
                <a:spcPts val="0"/>
              </a:spcAft>
              <a:defRPr sz="780" b="1">
                <a:solidFill>
                  <a:srgbClr val="7454CE"/>
                </a:solidFill>
                <a:latin typeface="Arial"/>
              </a:defRPr>
            </a:pPr>
            <a:r>
              <a:t>ROI</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Illustrate the opportunity</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Calendars × rounds × manual</a:t>
            </a:r>
          </a:p>
          <a:p>
            <a:pPr>
              <a:lnSpc>
                <a:spcPct val="112000"/>
              </a:lnSpc>
              <a:spcBef>
                <a:spcPts val="0"/>
              </a:spcBef>
              <a:spcAft>
                <a:spcPts val="0"/>
              </a:spcAft>
              <a:defRPr sz="1080" b="0">
                <a:solidFill>
                  <a:srgbClr val="74697F"/>
                </a:solidFill>
                <a:latin typeface="Arial"/>
              </a:defRPr>
            </a:pPr>
            <a:r>
              <a:t>minutes ÷ 60.</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Use agency assumptions</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Three calendars, three rounds, 45</a:t>
            </a:r>
          </a:p>
          <a:p>
            <a:pPr>
              <a:lnSpc>
                <a:spcPct val="112000"/>
              </a:lnSpc>
              <a:spcBef>
                <a:spcPts val="0"/>
              </a:spcBef>
              <a:spcAft>
                <a:spcPts val="0"/>
              </a:spcAft>
              <a:defRPr sz="1080" b="0">
                <a:solidFill>
                  <a:srgbClr val="74697F"/>
                </a:solidFill>
                <a:latin typeface="Arial"/>
              </a:defRPr>
            </a:pPr>
            <a:r>
              <a:t>minutes = 6.75 hours per month.</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Validate in a pilot</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Measure actual admin time and</a:t>
            </a:r>
          </a:p>
          <a:p>
            <a:pPr>
              <a:lnSpc>
                <a:spcPct val="112000"/>
              </a:lnSpc>
              <a:spcBef>
                <a:spcPts val="0"/>
              </a:spcBef>
              <a:spcAft>
                <a:spcPts val="0"/>
              </a:spcAft>
              <a:defRPr sz="1080" b="0">
                <a:solidFill>
                  <a:srgbClr val="74697F"/>
                </a:solidFill>
                <a:latin typeface="Arial"/>
              </a:defRPr>
            </a:pPr>
            <a:r>
              <a:t>turnaround before claiming ROI.</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9-workload-savings.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A hypothesis to test, not a</a:t>
            </a:r>
          </a:p>
          <a:p>
            <a:pPr>
              <a:lnSpc>
                <a:spcPct val="112000"/>
              </a:lnSpc>
              <a:spcBef>
                <a:spcPts val="0"/>
              </a:spcBef>
              <a:spcAft>
                <a:spcPts val="0"/>
              </a:spcAft>
              <a:defRPr sz="960" b="1">
                <a:solidFill>
                  <a:srgbClr val="FFFFFF"/>
                </a:solidFill>
                <a:latin typeface="Arial"/>
              </a:defRPr>
            </a:pPr>
            <a:r>
              <a:t>savings claim.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PRODUCT WALKTHROUGH</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20</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Match the experience to the person.</a:t>
            </a:r>
          </a:p>
        </p:txBody>
      </p:sp>
      <p:sp>
        <p:nvSpPr>
          <p:cNvPr id="7" name="TextBox 6"/>
          <p:cNvSpPr txBox="1"/>
          <p:nvPr/>
        </p:nvSpPr>
        <p:spPr>
          <a:xfrm>
            <a:off x="487679" y="133349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Roles and client boundaries / staff collaboration, focused client review.</a:t>
            </a:r>
          </a:p>
        </p:txBody>
      </p:sp>
      <p:sp>
        <p:nvSpPr>
          <p:cNvPr id="8" name="Rounded Rectangle 7"/>
          <p:cNvSpPr/>
          <p:nvPr/>
        </p:nvSpPr>
        <p:spPr>
          <a:xfrm>
            <a:off x="487679" y="1844039"/>
            <a:ext cx="2666999" cy="236219"/>
          </a:xfrm>
          <a:prstGeom prst="roundRect">
            <a:avLst>
              <a:gd name="adj" fmla="val 8000"/>
            </a:avLst>
          </a:prstGeom>
          <a:solidFill>
            <a:srgbClr val="EAE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 y="1882139"/>
            <a:ext cx="2476499" cy="204977"/>
          </a:xfrm>
          <a:prstGeom prst="rect">
            <a:avLst/>
          </a:prstGeom>
          <a:noFill/>
        </p:spPr>
        <p:txBody>
          <a:bodyPr wrap="none" lIns="0" rIns="0" tIns="0" bIns="0">
            <a:spAutoFit/>
          </a:bodyPr>
          <a:lstStyle/>
          <a:p>
            <a:pPr>
              <a:lnSpc>
                <a:spcPct val="112000"/>
              </a:lnSpc>
              <a:spcBef>
                <a:spcPts val="0"/>
              </a:spcBef>
              <a:spcAft>
                <a:spcPts val="0"/>
              </a:spcAft>
              <a:defRPr sz="780" b="1">
                <a:solidFill>
                  <a:srgbClr val="7454CE"/>
                </a:solidFill>
                <a:latin typeface="Arial"/>
              </a:defRPr>
            </a:pPr>
            <a:r>
              <a:t>ROLE SIMULATION IN HTML</a:t>
            </a:r>
          </a:p>
        </p:txBody>
      </p:sp>
      <p:sp>
        <p:nvSpPr>
          <p:cNvPr id="10" name="TextBox 9"/>
          <p:cNvSpPr txBox="1"/>
          <p:nvPr/>
        </p:nvSpPr>
        <p:spPr>
          <a:xfrm>
            <a:off x="487679" y="23012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Agency roles</a:t>
            </a:r>
          </a:p>
        </p:txBody>
      </p:sp>
      <p:sp>
        <p:nvSpPr>
          <p:cNvPr id="11" name="TextBox 10"/>
          <p:cNvSpPr txBox="1"/>
          <p:nvPr/>
        </p:nvSpPr>
        <p:spPr>
          <a:xfrm>
            <a:off x="487679" y="25755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Admin, AM, director, designer,</a:t>
            </a:r>
          </a:p>
          <a:p>
            <a:pPr>
              <a:lnSpc>
                <a:spcPct val="112000"/>
              </a:lnSpc>
              <a:spcBef>
                <a:spcPts val="0"/>
              </a:spcBef>
              <a:spcAft>
                <a:spcPts val="0"/>
              </a:spcAft>
              <a:defRPr sz="1080" b="0">
                <a:solidFill>
                  <a:srgbClr val="74697F"/>
                </a:solidFill>
                <a:latin typeface="Arial"/>
              </a:defRPr>
            </a:pPr>
            <a:r>
              <a:t>animator, creator and copywriter.</a:t>
            </a:r>
          </a:p>
        </p:txBody>
      </p:sp>
      <p:sp>
        <p:nvSpPr>
          <p:cNvPr id="12" name="TextBox 11"/>
          <p:cNvSpPr txBox="1"/>
          <p:nvPr/>
        </p:nvSpPr>
        <p:spPr>
          <a:xfrm>
            <a:off x="487679" y="33299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Client-specific scope</a:t>
            </a:r>
          </a:p>
        </p:txBody>
      </p:sp>
      <p:sp>
        <p:nvSpPr>
          <p:cNvPr id="13" name="TextBox 12"/>
          <p:cNvSpPr txBox="1"/>
          <p:nvPr/>
        </p:nvSpPr>
        <p:spPr>
          <a:xfrm>
            <a:off x="487679" y="36042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ENOC reviews ZOOM + AutoPro;</a:t>
            </a:r>
          </a:p>
          <a:p>
            <a:pPr>
              <a:lnSpc>
                <a:spcPct val="112000"/>
              </a:lnSpc>
              <a:spcBef>
                <a:spcPts val="0"/>
              </a:spcBef>
              <a:spcAft>
                <a:spcPts val="0"/>
              </a:spcAft>
              <a:defRPr sz="1080" b="0">
                <a:solidFill>
                  <a:srgbClr val="74697F"/>
                </a:solidFill>
                <a:latin typeface="Arial"/>
              </a:defRPr>
            </a:pPr>
            <a:r>
              <a:t>AWR reviews NXT.</a:t>
            </a:r>
          </a:p>
        </p:txBody>
      </p:sp>
      <p:sp>
        <p:nvSpPr>
          <p:cNvPr id="14" name="TextBox 13"/>
          <p:cNvSpPr txBox="1"/>
          <p:nvPr/>
        </p:nvSpPr>
        <p:spPr>
          <a:xfrm>
            <a:off x="487679" y="4358639"/>
            <a:ext cx="2514599" cy="294131"/>
          </a:xfrm>
          <a:prstGeom prst="rect">
            <a:avLst/>
          </a:prstGeom>
          <a:noFill/>
        </p:spPr>
        <p:txBody>
          <a:bodyPr wrap="none" lIns="0" rIns="0" tIns="0" bIns="0">
            <a:spAutoFit/>
          </a:bodyPr>
          <a:lstStyle/>
          <a:p>
            <a:pPr>
              <a:lnSpc>
                <a:spcPct val="112000"/>
              </a:lnSpc>
              <a:spcBef>
                <a:spcPts val="0"/>
              </a:spcBef>
              <a:spcAft>
                <a:spcPts val="0"/>
              </a:spcAft>
              <a:defRPr sz="1320" b="1">
                <a:solidFill>
                  <a:srgbClr val="292336"/>
                </a:solidFill>
                <a:latin typeface="Arial"/>
              </a:defRPr>
            </a:pPr>
            <a:r>
              <a:t>Internal visibility</a:t>
            </a:r>
          </a:p>
        </p:txBody>
      </p:sp>
      <p:sp>
        <p:nvSpPr>
          <p:cNvPr id="15" name="TextBox 14"/>
          <p:cNvSpPr txBox="1"/>
          <p:nvPr/>
        </p:nvSpPr>
        <p:spPr>
          <a:xfrm>
            <a:off x="487679" y="4632959"/>
            <a:ext cx="2514599" cy="432815"/>
          </a:xfrm>
          <a:prstGeom prst="rect">
            <a:avLst/>
          </a:prstGeom>
          <a:noFill/>
        </p:spPr>
        <p:txBody>
          <a:bodyPr wrap="none" lIns="0" rIns="0" tIns="0" bIns="0">
            <a:spAutoFit/>
          </a:bodyPr>
          <a:lstStyle/>
          <a:p>
            <a:pPr>
              <a:lnSpc>
                <a:spcPct val="112000"/>
              </a:lnSpc>
              <a:spcBef>
                <a:spcPts val="0"/>
              </a:spcBef>
              <a:spcAft>
                <a:spcPts val="0"/>
              </a:spcAft>
              <a:defRPr sz="1080" b="0">
                <a:solidFill>
                  <a:srgbClr val="74697F"/>
                </a:solidFill>
                <a:latin typeface="Arial"/>
              </a:defRPr>
            </a:pPr>
            <a:r>
              <a:t>Client interfaces omit team-only</a:t>
            </a:r>
          </a:p>
          <a:p>
            <a:pPr>
              <a:lnSpc>
                <a:spcPct val="112000"/>
              </a:lnSpc>
              <a:spcBef>
                <a:spcPts val="0"/>
              </a:spcBef>
              <a:spcAft>
                <a:spcPts val="0"/>
              </a:spcAft>
              <a:defRPr sz="1080" b="0">
                <a:solidFill>
                  <a:srgbClr val="74697F"/>
                </a:solidFill>
                <a:latin typeface="Arial"/>
              </a:defRPr>
            </a:pPr>
            <a:r>
              <a:t>notes and conversations.</a:t>
            </a:r>
          </a:p>
        </p:txBody>
      </p:sp>
      <p:sp>
        <p:nvSpPr>
          <p:cNvPr id="16" name="Rounded Rectangle 15"/>
          <p:cNvSpPr/>
          <p:nvPr/>
        </p:nvSpPr>
        <p:spPr>
          <a:xfrm>
            <a:off x="3467099" y="1874519"/>
            <a:ext cx="8237219" cy="412241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24-client-scope.png"/>
          <p:cNvPicPr>
            <a:picLocks noChangeAspect="1"/>
          </p:cNvPicPr>
          <p:nvPr/>
        </p:nvPicPr>
        <p:blipFill>
          <a:blip r:embed="rId2"/>
          <a:stretch>
            <a:fillRect/>
          </a:stretch>
        </p:blipFill>
        <p:spPr>
          <a:xfrm>
            <a:off x="4427219" y="1958339"/>
            <a:ext cx="6316979" cy="3947159"/>
          </a:xfrm>
          <a:prstGeom prst="rect">
            <a:avLst/>
          </a:prstGeom>
        </p:spPr>
      </p:pic>
      <p:sp>
        <p:nvSpPr>
          <p:cNvPr id="18" name="Rounded Rectangle 17"/>
          <p:cNvSpPr/>
          <p:nvPr/>
        </p:nvSpPr>
        <p:spPr>
          <a:xfrm>
            <a:off x="487679" y="5600699"/>
            <a:ext cx="2590799" cy="502919"/>
          </a:xfrm>
          <a:prstGeom prst="roundRect">
            <a:avLst>
              <a:gd name="adj" fmla="val 8000"/>
            </a:avLst>
          </a:prstGeom>
          <a:solidFill>
            <a:srgbClr val="29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979" y="5684519"/>
            <a:ext cx="2339339" cy="393191"/>
          </a:xfrm>
          <a:prstGeom prst="rect">
            <a:avLst/>
          </a:prstGeom>
          <a:noFill/>
        </p:spPr>
        <p:txBody>
          <a:bodyPr wrap="none" lIns="0" rIns="0" tIns="0" bIns="0">
            <a:spAutoFit/>
          </a:bodyPr>
          <a:lstStyle/>
          <a:p>
            <a:pPr>
              <a:lnSpc>
                <a:spcPct val="112000"/>
              </a:lnSpc>
              <a:spcBef>
                <a:spcPts val="0"/>
              </a:spcBef>
              <a:spcAft>
                <a:spcPts val="0"/>
              </a:spcAft>
              <a:defRPr sz="960" b="1">
                <a:solidFill>
                  <a:srgbClr val="FFFFFF"/>
                </a:solidFill>
                <a:latin typeface="Arial"/>
              </a:defRPr>
            </a:pPr>
            <a:r>
              <a:t>Focused access for every</a:t>
            </a:r>
          </a:p>
          <a:p>
            <a:pPr>
              <a:lnSpc>
                <a:spcPct val="112000"/>
              </a:lnSpc>
              <a:spcBef>
                <a:spcPts val="0"/>
              </a:spcBef>
              <a:spcAft>
                <a:spcPts val="0"/>
              </a:spcAft>
              <a:defRPr sz="960" b="1">
                <a:solidFill>
                  <a:srgbClr val="FFFFFF"/>
                </a:solidFill>
                <a:latin typeface="Arial"/>
              </a:defRPr>
            </a:pPr>
            <a:r>
              <a:t>participant.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MATURITY &amp; RELEASE GATES</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21</a:t>
            </a:r>
          </a:p>
        </p:txBody>
      </p:sp>
      <p:sp>
        <p:nvSpPr>
          <p:cNvPr id="6" name="TextBox 5"/>
          <p:cNvSpPr txBox="1"/>
          <p:nvPr/>
        </p:nvSpPr>
        <p:spPr>
          <a:xfrm>
            <a:off x="487679" y="853439"/>
            <a:ext cx="11048999" cy="531875"/>
          </a:xfrm>
          <a:prstGeom prst="rect">
            <a:avLst/>
          </a:prstGeom>
          <a:noFill/>
        </p:spPr>
        <p:txBody>
          <a:bodyPr wrap="none" lIns="0" rIns="0" tIns="0" bIns="0">
            <a:spAutoFit/>
          </a:bodyPr>
          <a:lstStyle/>
          <a:p>
            <a:pPr>
              <a:lnSpc>
                <a:spcPct val="112000"/>
              </a:lnSpc>
              <a:spcBef>
                <a:spcPts val="0"/>
              </a:spcBef>
              <a:spcAft>
                <a:spcPts val="0"/>
              </a:spcAft>
              <a:defRPr sz="2760" b="1">
                <a:solidFill>
                  <a:srgbClr val="292336"/>
                </a:solidFill>
                <a:latin typeface="Arial"/>
              </a:defRPr>
            </a:pPr>
            <a:r>
              <a:t>Be clear about what exists today.</a:t>
            </a:r>
          </a:p>
        </p:txBody>
      </p:sp>
      <p:sp>
        <p:nvSpPr>
          <p:cNvPr id="7" name="TextBox 6"/>
          <p:cNvSpPr txBox="1"/>
          <p:nvPr/>
        </p:nvSpPr>
        <p:spPr>
          <a:xfrm>
            <a:off x="487679" y="1432559"/>
            <a:ext cx="11048999" cy="313943"/>
          </a:xfrm>
          <a:prstGeom prst="rect">
            <a:avLst/>
          </a:prstGeom>
          <a:noFill/>
        </p:spPr>
        <p:txBody>
          <a:bodyPr wrap="none" lIns="0" rIns="0" tIns="0" bIns="0">
            <a:spAutoFit/>
          </a:bodyPr>
          <a:lstStyle/>
          <a:p>
            <a:pPr>
              <a:lnSpc>
                <a:spcPct val="112000"/>
              </a:lnSpc>
              <a:spcBef>
                <a:spcPts val="0"/>
              </a:spcBef>
              <a:spcAft>
                <a:spcPts val="0"/>
              </a:spcAft>
              <a:defRPr sz="1439" b="0">
                <a:solidFill>
                  <a:srgbClr val="74697F"/>
                </a:solidFill>
                <a:latin typeface="Arial"/>
              </a:defRPr>
            </a:pPr>
            <a:r>
              <a:t>A working prototype, with a defined route to a supported production service.</a:t>
            </a:r>
          </a:p>
        </p:txBody>
      </p:sp>
      <p:sp>
        <p:nvSpPr>
          <p:cNvPr id="8" name="Rounded Rectangle 7"/>
          <p:cNvSpPr/>
          <p:nvPr/>
        </p:nvSpPr>
        <p:spPr>
          <a:xfrm>
            <a:off x="487679" y="2202179"/>
            <a:ext cx="3581399" cy="31013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559" y="2438399"/>
            <a:ext cx="3200399" cy="264413"/>
          </a:xfrm>
          <a:prstGeom prst="rect">
            <a:avLst/>
          </a:prstGeom>
          <a:noFill/>
        </p:spPr>
        <p:txBody>
          <a:bodyPr wrap="none" lIns="0" rIns="0" tIns="0" bIns="0">
            <a:spAutoFit/>
          </a:bodyPr>
          <a:lstStyle/>
          <a:p>
            <a:pPr>
              <a:lnSpc>
                <a:spcPct val="112000"/>
              </a:lnSpc>
              <a:spcBef>
                <a:spcPts val="0"/>
              </a:spcBef>
              <a:spcAft>
                <a:spcPts val="0"/>
              </a:spcAft>
              <a:defRPr sz="1140" b="1">
                <a:solidFill>
                  <a:srgbClr val="7454CE"/>
                </a:solidFill>
                <a:latin typeface="Arial"/>
              </a:defRPr>
            </a:pPr>
            <a:r>
              <a:t>WORKING PROTOTYPE</a:t>
            </a:r>
          </a:p>
        </p:txBody>
      </p:sp>
      <p:sp>
        <p:nvSpPr>
          <p:cNvPr id="10" name="TextBox 9"/>
          <p:cNvSpPr txBox="1"/>
          <p:nvPr/>
        </p:nvSpPr>
        <p:spPr>
          <a:xfrm>
            <a:off x="670559" y="2895599"/>
            <a:ext cx="3200399" cy="1863851"/>
          </a:xfrm>
          <a:prstGeom prst="rect">
            <a:avLst/>
          </a:prstGeom>
          <a:noFill/>
        </p:spPr>
        <p:txBody>
          <a:bodyPr wrap="none" lIns="0" rIns="0" tIns="0" bIns="0">
            <a:spAutoFit/>
          </a:bodyPr>
          <a:lstStyle/>
          <a:p>
            <a:pPr>
              <a:lnSpc>
                <a:spcPct val="112000"/>
              </a:lnSpc>
              <a:spcBef>
                <a:spcPts val="0"/>
              </a:spcBef>
              <a:spcAft>
                <a:spcPts val="0"/>
              </a:spcAft>
              <a:defRPr sz="1380" b="0">
                <a:solidFill>
                  <a:srgbClr val="74697F"/>
                </a:solidFill>
                <a:latin typeface="Arial"/>
              </a:defRPr>
            </a:pPr>
            <a:r>
              <a:t>Calendar and post workflows</a:t>
            </a:r>
          </a:p>
          <a:p>
            <a:pPr>
              <a:lnSpc>
                <a:spcPct val="112000"/>
              </a:lnSpc>
              <a:spcBef>
                <a:spcPts val="0"/>
              </a:spcBef>
              <a:spcAft>
                <a:spcPts val="0"/>
              </a:spcAft>
              <a:defRPr sz="1380" b="0">
                <a:solidFill>
                  <a:srgbClr val="74697F"/>
                </a:solidFill>
                <a:latin typeface="Arial"/>
              </a:defRPr>
            </a:pPr>
            <a:r>
              <a:t>Bilingual copy and batch CSV</a:t>
            </a:r>
          </a:p>
          <a:p>
            <a:pPr>
              <a:lnSpc>
                <a:spcPct val="112000"/>
              </a:lnSpc>
              <a:spcBef>
                <a:spcPts val="0"/>
              </a:spcBef>
              <a:spcAft>
                <a:spcPts val="0"/>
              </a:spcAft>
              <a:defRPr sz="1380" b="0">
                <a:solidFill>
                  <a:srgbClr val="74697F"/>
                </a:solidFill>
                <a:latin typeface="Arial"/>
              </a:defRPr>
            </a:pPr>
            <a:r>
              <a:t>import</a:t>
            </a:r>
          </a:p>
          <a:p>
            <a:pPr>
              <a:lnSpc>
                <a:spcPct val="112000"/>
              </a:lnSpc>
              <a:spcBef>
                <a:spcPts val="0"/>
              </a:spcBef>
              <a:spcAft>
                <a:spcPts val="0"/>
              </a:spcAft>
              <a:defRPr sz="1380" b="0">
                <a:solidFill>
                  <a:srgbClr val="74697F"/>
                </a:solidFill>
                <a:latin typeface="Arial"/>
              </a:defRPr>
            </a:pPr>
            <a:r>
              <a:t>Assets, versions and native video</a:t>
            </a:r>
          </a:p>
          <a:p>
            <a:pPr>
              <a:lnSpc>
                <a:spcPct val="112000"/>
              </a:lnSpc>
              <a:spcBef>
                <a:spcPts val="0"/>
              </a:spcBef>
              <a:spcAft>
                <a:spcPts val="0"/>
              </a:spcAft>
              <a:defRPr sz="1380" b="0">
                <a:solidFill>
                  <a:srgbClr val="74697F"/>
                </a:solidFill>
                <a:latin typeface="Arial"/>
              </a:defRPr>
            </a:pPr>
            <a:r>
              <a:t>Comments, approval and health</a:t>
            </a:r>
          </a:p>
          <a:p>
            <a:pPr>
              <a:lnSpc>
                <a:spcPct val="112000"/>
              </a:lnSpc>
              <a:spcBef>
                <a:spcPts val="0"/>
              </a:spcBef>
              <a:spcAft>
                <a:spcPts val="0"/>
              </a:spcAft>
              <a:defRPr sz="1380" b="0">
                <a:solidFill>
                  <a:srgbClr val="74697F"/>
                </a:solidFill>
                <a:latin typeface="Arial"/>
              </a:defRPr>
            </a:pPr>
            <a:r>
              <a:t>Authenticated server prototype</a:t>
            </a:r>
          </a:p>
        </p:txBody>
      </p:sp>
      <p:sp>
        <p:nvSpPr>
          <p:cNvPr id="11" name="Rounded Rectangle 10"/>
          <p:cNvSpPr/>
          <p:nvPr/>
        </p:nvSpPr>
        <p:spPr>
          <a:xfrm>
            <a:off x="4267199" y="2202179"/>
            <a:ext cx="3581399" cy="31013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079" y="2438399"/>
            <a:ext cx="3200399" cy="264413"/>
          </a:xfrm>
          <a:prstGeom prst="rect">
            <a:avLst/>
          </a:prstGeom>
          <a:noFill/>
        </p:spPr>
        <p:txBody>
          <a:bodyPr wrap="none" lIns="0" rIns="0" tIns="0" bIns="0">
            <a:spAutoFit/>
          </a:bodyPr>
          <a:lstStyle/>
          <a:p>
            <a:pPr>
              <a:lnSpc>
                <a:spcPct val="112000"/>
              </a:lnSpc>
              <a:spcBef>
                <a:spcPts val="0"/>
              </a:spcBef>
              <a:spcAft>
                <a:spcPts val="0"/>
              </a:spcAft>
              <a:defRPr sz="1140" b="1">
                <a:solidFill>
                  <a:srgbClr val="7454CE"/>
                </a:solidFill>
                <a:latin typeface="Arial"/>
              </a:defRPr>
            </a:pPr>
            <a:r>
              <a:t>LABELLED CONCEPTS</a:t>
            </a:r>
          </a:p>
        </p:txBody>
      </p:sp>
      <p:sp>
        <p:nvSpPr>
          <p:cNvPr id="13" name="TextBox 12"/>
          <p:cNvSpPr txBox="1"/>
          <p:nvPr/>
        </p:nvSpPr>
        <p:spPr>
          <a:xfrm>
            <a:off x="4450079" y="2895599"/>
            <a:ext cx="3200399" cy="1565909"/>
          </a:xfrm>
          <a:prstGeom prst="rect">
            <a:avLst/>
          </a:prstGeom>
          <a:noFill/>
        </p:spPr>
        <p:txBody>
          <a:bodyPr wrap="none" lIns="0" rIns="0" tIns="0" bIns="0">
            <a:spAutoFit/>
          </a:bodyPr>
          <a:lstStyle/>
          <a:p>
            <a:pPr>
              <a:lnSpc>
                <a:spcPct val="112000"/>
              </a:lnSpc>
              <a:spcBef>
                <a:spcPts val="0"/>
              </a:spcBef>
              <a:spcAft>
                <a:spcPts val="0"/>
              </a:spcAft>
              <a:defRPr sz="1380" b="0">
                <a:solidFill>
                  <a:srgbClr val="74697F"/>
                </a:solidFill>
                <a:latin typeface="Arial"/>
              </a:defRPr>
            </a:pPr>
            <a:r>
              <a:t>Template-based monthly planning</a:t>
            </a:r>
          </a:p>
          <a:p>
            <a:pPr>
              <a:lnSpc>
                <a:spcPct val="112000"/>
              </a:lnSpc>
              <a:spcBef>
                <a:spcPts val="0"/>
              </a:spcBef>
              <a:spcAft>
                <a:spcPts val="0"/>
              </a:spcAft>
              <a:defRPr sz="1380" b="0">
                <a:solidFill>
                  <a:srgbClr val="74697F"/>
                </a:solidFill>
                <a:latin typeface="Arial"/>
              </a:defRPr>
            </a:pPr>
            <a:r>
              <a:t>Deterministic caption directions</a:t>
            </a:r>
          </a:p>
          <a:p>
            <a:pPr>
              <a:lnSpc>
                <a:spcPct val="112000"/>
              </a:lnSpc>
              <a:spcBef>
                <a:spcPts val="0"/>
              </a:spcBef>
              <a:spcAft>
                <a:spcPts val="0"/>
              </a:spcAft>
              <a:defRPr sz="1380" b="0">
                <a:solidFill>
                  <a:srgbClr val="74697F"/>
                </a:solidFill>
                <a:latin typeface="Arial"/>
              </a:defRPr>
            </a:pPr>
            <a:r>
              <a:t>Curated creative mechanics</a:t>
            </a:r>
          </a:p>
          <a:p>
            <a:pPr>
              <a:lnSpc>
                <a:spcPct val="112000"/>
              </a:lnSpc>
              <a:spcBef>
                <a:spcPts val="0"/>
              </a:spcBef>
              <a:spcAft>
                <a:spcPts val="0"/>
              </a:spcAft>
              <a:defRPr sz="1380" b="0">
                <a:solidFill>
                  <a:srgbClr val="74697F"/>
                </a:solidFill>
                <a:latin typeface="Arial"/>
              </a:defRPr>
            </a:pPr>
            <a:r>
              <a:t>Illustrative occasion relevance</a:t>
            </a:r>
          </a:p>
          <a:p>
            <a:pPr>
              <a:lnSpc>
                <a:spcPct val="112000"/>
              </a:lnSpc>
              <a:spcBef>
                <a:spcPts val="0"/>
              </a:spcBef>
              <a:spcAft>
                <a:spcPts val="0"/>
              </a:spcAft>
              <a:defRPr sz="1380" b="0">
                <a:solidFill>
                  <a:srgbClr val="74697F"/>
                </a:solidFill>
                <a:latin typeface="Arial"/>
              </a:defRPr>
            </a:pPr>
            <a:r>
              <a:t>Scenario-based admin calculator</a:t>
            </a:r>
          </a:p>
        </p:txBody>
      </p:sp>
      <p:sp>
        <p:nvSpPr>
          <p:cNvPr id="14" name="Rounded Rectangle 13"/>
          <p:cNvSpPr/>
          <p:nvPr/>
        </p:nvSpPr>
        <p:spPr>
          <a:xfrm>
            <a:off x="8046719" y="2202179"/>
            <a:ext cx="3581399" cy="31013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2438399"/>
            <a:ext cx="3200399" cy="264413"/>
          </a:xfrm>
          <a:prstGeom prst="rect">
            <a:avLst/>
          </a:prstGeom>
          <a:noFill/>
        </p:spPr>
        <p:txBody>
          <a:bodyPr wrap="none" lIns="0" rIns="0" tIns="0" bIns="0">
            <a:spAutoFit/>
          </a:bodyPr>
          <a:lstStyle/>
          <a:p>
            <a:pPr>
              <a:lnSpc>
                <a:spcPct val="112000"/>
              </a:lnSpc>
              <a:spcBef>
                <a:spcPts val="0"/>
              </a:spcBef>
              <a:spcAft>
                <a:spcPts val="0"/>
              </a:spcAft>
              <a:defRPr sz="1140" b="1">
                <a:solidFill>
                  <a:srgbClr val="7454CE"/>
                </a:solidFill>
                <a:latin typeface="Arial"/>
              </a:defRPr>
            </a:pPr>
            <a:r>
              <a:t>PRODUCTION RELEASE GATES</a:t>
            </a:r>
          </a:p>
        </p:txBody>
      </p:sp>
      <p:sp>
        <p:nvSpPr>
          <p:cNvPr id="16" name="TextBox 15"/>
          <p:cNvSpPr txBox="1"/>
          <p:nvPr/>
        </p:nvSpPr>
        <p:spPr>
          <a:xfrm>
            <a:off x="8229599" y="2895599"/>
            <a:ext cx="3200399" cy="2459735"/>
          </a:xfrm>
          <a:prstGeom prst="rect">
            <a:avLst/>
          </a:prstGeom>
          <a:noFill/>
        </p:spPr>
        <p:txBody>
          <a:bodyPr wrap="none" lIns="0" rIns="0" tIns="0" bIns="0">
            <a:spAutoFit/>
          </a:bodyPr>
          <a:lstStyle/>
          <a:p>
            <a:pPr>
              <a:lnSpc>
                <a:spcPct val="112000"/>
              </a:lnSpc>
              <a:spcBef>
                <a:spcPts val="0"/>
              </a:spcBef>
              <a:spcAft>
                <a:spcPts val="0"/>
              </a:spcAft>
              <a:defRPr sz="1380" b="0">
                <a:solidFill>
                  <a:srgbClr val="74697F"/>
                </a:solidFill>
                <a:latin typeface="Arial"/>
              </a:defRPr>
            </a:pPr>
            <a:r>
              <a:t>Real identity and invitations</a:t>
            </a:r>
          </a:p>
          <a:p>
            <a:pPr>
              <a:lnSpc>
                <a:spcPct val="112000"/>
              </a:lnSpc>
              <a:spcBef>
                <a:spcPts val="0"/>
              </a:spcBef>
              <a:spcAft>
                <a:spcPts val="0"/>
              </a:spcAft>
              <a:defRPr sz="1380" b="0">
                <a:solidFill>
                  <a:srgbClr val="74697F"/>
                </a:solidFill>
                <a:latin typeface="Arial"/>
              </a:defRPr>
            </a:pPr>
            <a:r>
              <a:t>PostgreSQL and private cloud</a:t>
            </a:r>
          </a:p>
          <a:p>
            <a:pPr>
              <a:lnSpc>
                <a:spcPct val="112000"/>
              </a:lnSpc>
              <a:spcBef>
                <a:spcPts val="0"/>
              </a:spcBef>
              <a:spcAft>
                <a:spcPts val="0"/>
              </a:spcAft>
              <a:defRPr sz="1380" b="0">
                <a:solidFill>
                  <a:srgbClr val="74697F"/>
                </a:solidFill>
                <a:latin typeface="Arial"/>
              </a:defRPr>
            </a:pPr>
            <a:r>
              <a:t>storage</a:t>
            </a:r>
          </a:p>
          <a:p>
            <a:pPr>
              <a:lnSpc>
                <a:spcPct val="112000"/>
              </a:lnSpc>
              <a:spcBef>
                <a:spcPts val="0"/>
              </a:spcBef>
              <a:spcAft>
                <a:spcPts val="0"/>
              </a:spcAft>
              <a:defRPr sz="1380" b="0">
                <a:solidFill>
                  <a:srgbClr val="74697F"/>
                </a:solidFill>
                <a:latin typeface="Arial"/>
              </a:defRPr>
            </a:pPr>
            <a:r>
              <a:t>Security review and client isolation</a:t>
            </a:r>
          </a:p>
          <a:p>
            <a:pPr>
              <a:lnSpc>
                <a:spcPct val="112000"/>
              </a:lnSpc>
              <a:spcBef>
                <a:spcPts val="0"/>
              </a:spcBef>
              <a:spcAft>
                <a:spcPts val="0"/>
              </a:spcAft>
              <a:defRPr sz="1380" b="0">
                <a:solidFill>
                  <a:srgbClr val="74697F"/>
                </a:solidFill>
                <a:latin typeface="Arial"/>
              </a:defRPr>
            </a:pPr>
            <a:r>
              <a:t>Backups, monitoring and load</a:t>
            </a:r>
          </a:p>
          <a:p>
            <a:pPr>
              <a:lnSpc>
                <a:spcPct val="112000"/>
              </a:lnSpc>
              <a:spcBef>
                <a:spcPts val="0"/>
              </a:spcBef>
              <a:spcAft>
                <a:spcPts val="0"/>
              </a:spcAft>
              <a:defRPr sz="1380" b="0">
                <a:solidFill>
                  <a:srgbClr val="74697F"/>
                </a:solidFill>
                <a:latin typeface="Arial"/>
              </a:defRPr>
            </a:pPr>
            <a:r>
              <a:t>testing</a:t>
            </a:r>
          </a:p>
          <a:p>
            <a:pPr>
              <a:lnSpc>
                <a:spcPct val="112000"/>
              </a:lnSpc>
              <a:spcBef>
                <a:spcPts val="0"/>
              </a:spcBef>
              <a:spcAft>
                <a:spcPts val="0"/>
              </a:spcAft>
              <a:defRPr sz="1380" b="0">
                <a:solidFill>
                  <a:srgbClr val="74697F"/>
                </a:solidFill>
                <a:latin typeface="Arial"/>
              </a:defRPr>
            </a:pPr>
            <a:r>
              <a:t>Agency rules and supported</a:t>
            </a:r>
          </a:p>
          <a:p>
            <a:pPr>
              <a:lnSpc>
                <a:spcPct val="112000"/>
              </a:lnSpc>
              <a:spcBef>
                <a:spcPts val="0"/>
              </a:spcBef>
              <a:spcAft>
                <a:spcPts val="0"/>
              </a:spcAft>
              <a:defRPr sz="1380" b="0">
                <a:solidFill>
                  <a:srgbClr val="74697F"/>
                </a:solidFill>
                <a:latin typeface="Arial"/>
              </a:defRPr>
            </a:pPr>
            <a:r>
              <a:t>onboarding</a:t>
            </a:r>
          </a:p>
        </p:txBody>
      </p:sp>
      <p:sp>
        <p:nvSpPr>
          <p:cNvPr id="17" name="TextBox 16"/>
          <p:cNvSpPr txBox="1"/>
          <p:nvPr/>
        </p:nvSpPr>
        <p:spPr>
          <a:xfrm>
            <a:off x="487679" y="5722619"/>
            <a:ext cx="11048999" cy="284225"/>
          </a:xfrm>
          <a:prstGeom prst="rect">
            <a:avLst/>
          </a:prstGeom>
          <a:noFill/>
        </p:spPr>
        <p:txBody>
          <a:bodyPr wrap="none" lIns="0" rIns="0" tIns="0" bIns="0">
            <a:spAutoFit/>
          </a:bodyPr>
          <a:lstStyle/>
          <a:p>
            <a:pPr>
              <a:lnSpc>
                <a:spcPct val="112000"/>
              </a:lnSpc>
              <a:spcBef>
                <a:spcPts val="0"/>
              </a:spcBef>
              <a:spcAft>
                <a:spcPts val="0"/>
              </a:spcAft>
              <a:defRPr sz="1260" b="0">
                <a:solidFill>
                  <a:srgbClr val="74697F"/>
                </a:solidFill>
                <a:latin typeface="Arial"/>
              </a:defRPr>
            </a:pPr>
            <a:r>
              <a:t>Future integrations: AI providers, notifications, export automation and social publishing.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RECOMMENDED NEXT STEP</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22</a:t>
            </a:r>
          </a:p>
        </p:txBody>
      </p:sp>
      <p:sp>
        <p:nvSpPr>
          <p:cNvPr id="6" name="TextBox 5"/>
          <p:cNvSpPr txBox="1"/>
          <p:nvPr/>
        </p:nvSpPr>
        <p:spPr>
          <a:xfrm>
            <a:off x="487679" y="853439"/>
            <a:ext cx="11048999" cy="531875"/>
          </a:xfrm>
          <a:prstGeom prst="rect">
            <a:avLst/>
          </a:prstGeom>
          <a:noFill/>
        </p:spPr>
        <p:txBody>
          <a:bodyPr wrap="none" lIns="0" rIns="0" tIns="0" bIns="0">
            <a:spAutoFit/>
          </a:bodyPr>
          <a:lstStyle/>
          <a:p>
            <a:pPr>
              <a:lnSpc>
                <a:spcPct val="112000"/>
              </a:lnSpc>
              <a:spcBef>
                <a:spcPts val="0"/>
              </a:spcBef>
              <a:spcAft>
                <a:spcPts val="0"/>
              </a:spcAft>
              <a:defRPr sz="2760" b="1">
                <a:solidFill>
                  <a:srgbClr val="292336"/>
                </a:solidFill>
                <a:latin typeface="Arial"/>
              </a:defRPr>
            </a:pPr>
            <a:r>
              <a:t>Pilot one brand. Measure one month.</a:t>
            </a:r>
          </a:p>
        </p:txBody>
      </p:sp>
      <p:sp>
        <p:nvSpPr>
          <p:cNvPr id="7" name="TextBox 6"/>
          <p:cNvSpPr txBox="1"/>
          <p:nvPr/>
        </p:nvSpPr>
        <p:spPr>
          <a:xfrm>
            <a:off x="487679" y="1447799"/>
            <a:ext cx="11048999" cy="313943"/>
          </a:xfrm>
          <a:prstGeom prst="rect">
            <a:avLst/>
          </a:prstGeom>
          <a:noFill/>
        </p:spPr>
        <p:txBody>
          <a:bodyPr wrap="none" lIns="0" rIns="0" tIns="0" bIns="0">
            <a:spAutoFit/>
          </a:bodyPr>
          <a:lstStyle/>
          <a:p>
            <a:pPr>
              <a:lnSpc>
                <a:spcPct val="112000"/>
              </a:lnSpc>
              <a:spcBef>
                <a:spcPts val="0"/>
              </a:spcBef>
              <a:spcAft>
                <a:spcPts val="0"/>
              </a:spcAft>
              <a:defRPr sz="1439" b="0">
                <a:solidFill>
                  <a:srgbClr val="74697F"/>
                </a:solidFill>
                <a:latin typeface="Arial"/>
              </a:defRPr>
            </a:pPr>
            <a:r>
              <a:t>A proposed controlled rollout after security and operational readiness checks.</a:t>
            </a:r>
          </a:p>
        </p:txBody>
      </p:sp>
      <p:sp>
        <p:nvSpPr>
          <p:cNvPr id="8" name="Rounded Rectangle 7"/>
          <p:cNvSpPr/>
          <p:nvPr/>
        </p:nvSpPr>
        <p:spPr>
          <a:xfrm>
            <a:off x="487679" y="2225039"/>
            <a:ext cx="3581399" cy="25907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799" y="2438399"/>
            <a:ext cx="3162299" cy="343661"/>
          </a:xfrm>
          <a:prstGeom prst="rect">
            <a:avLst/>
          </a:prstGeom>
          <a:noFill/>
        </p:spPr>
        <p:txBody>
          <a:bodyPr wrap="none" lIns="0" rIns="0" tIns="0" bIns="0">
            <a:spAutoFit/>
          </a:bodyPr>
          <a:lstStyle/>
          <a:p>
            <a:pPr>
              <a:lnSpc>
                <a:spcPct val="112000"/>
              </a:lnSpc>
              <a:spcBef>
                <a:spcPts val="0"/>
              </a:spcBef>
              <a:spcAft>
                <a:spcPts val="0"/>
              </a:spcAft>
              <a:defRPr sz="1620" b="1">
                <a:solidFill>
                  <a:srgbClr val="7454CE"/>
                </a:solidFill>
                <a:latin typeface="Arial"/>
              </a:defRPr>
            </a:pPr>
            <a:r>
              <a:t>01 / Prepare</a:t>
            </a:r>
          </a:p>
        </p:txBody>
      </p:sp>
      <p:sp>
        <p:nvSpPr>
          <p:cNvPr id="10" name="TextBox 9"/>
          <p:cNvSpPr txBox="1"/>
          <p:nvPr/>
        </p:nvSpPr>
        <p:spPr>
          <a:xfrm>
            <a:off x="685799" y="2964179"/>
            <a:ext cx="3162299" cy="789431"/>
          </a:xfrm>
          <a:prstGeom prst="rect">
            <a:avLst/>
          </a:prstGeom>
          <a:noFill/>
        </p:spPr>
        <p:txBody>
          <a:bodyPr wrap="none" lIns="0" rIns="0" tIns="0" bIns="0">
            <a:spAutoFit/>
          </a:bodyPr>
          <a:lstStyle/>
          <a:p>
            <a:pPr>
              <a:lnSpc>
                <a:spcPct val="112000"/>
              </a:lnSpc>
              <a:spcBef>
                <a:spcPts val="0"/>
              </a:spcBef>
              <a:spcAft>
                <a:spcPts val="0"/>
              </a:spcAft>
              <a:defRPr sz="1439" b="0">
                <a:solidFill>
                  <a:srgbClr val="74697F"/>
                </a:solidFill>
                <a:latin typeface="Arial"/>
              </a:defRPr>
            </a:pPr>
            <a:r>
              <a:t>Confirm the brand profile,</a:t>
            </a:r>
          </a:p>
          <a:p>
            <a:pPr>
              <a:lnSpc>
                <a:spcPct val="112000"/>
              </a:lnSpc>
              <a:spcBef>
                <a:spcPts val="0"/>
              </a:spcBef>
              <a:spcAft>
                <a:spcPts val="0"/>
              </a:spcAft>
              <a:defRPr sz="1439" b="0">
                <a:solidFill>
                  <a:srgbClr val="74697F"/>
                </a:solidFill>
                <a:latin typeface="Arial"/>
              </a:defRPr>
            </a:pPr>
            <a:r>
              <a:t>approval rules and participants.</a:t>
            </a:r>
          </a:p>
          <a:p>
            <a:pPr>
              <a:lnSpc>
                <a:spcPct val="112000"/>
              </a:lnSpc>
              <a:spcBef>
                <a:spcPts val="0"/>
              </a:spcBef>
              <a:spcAft>
                <a:spcPts val="0"/>
              </a:spcAft>
              <a:defRPr sz="1439" b="0">
                <a:solidFill>
                  <a:srgbClr val="74697F"/>
                </a:solidFill>
                <a:latin typeface="Arial"/>
              </a:defRPr>
            </a:pPr>
            <a:r>
              <a:t>Establish a manual-work baseline.</a:t>
            </a:r>
          </a:p>
        </p:txBody>
      </p:sp>
      <p:sp>
        <p:nvSpPr>
          <p:cNvPr id="11" name="Rounded Rectangle 10"/>
          <p:cNvSpPr/>
          <p:nvPr/>
        </p:nvSpPr>
        <p:spPr>
          <a:xfrm>
            <a:off x="4267199" y="2225039"/>
            <a:ext cx="3581399" cy="25907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5319" y="2438399"/>
            <a:ext cx="3162299" cy="343661"/>
          </a:xfrm>
          <a:prstGeom prst="rect">
            <a:avLst/>
          </a:prstGeom>
          <a:noFill/>
        </p:spPr>
        <p:txBody>
          <a:bodyPr wrap="none" lIns="0" rIns="0" tIns="0" bIns="0">
            <a:spAutoFit/>
          </a:bodyPr>
          <a:lstStyle/>
          <a:p>
            <a:pPr>
              <a:lnSpc>
                <a:spcPct val="112000"/>
              </a:lnSpc>
              <a:spcBef>
                <a:spcPts val="0"/>
              </a:spcBef>
              <a:spcAft>
                <a:spcPts val="0"/>
              </a:spcAft>
              <a:defRPr sz="1620" b="1">
                <a:solidFill>
                  <a:srgbClr val="7454CE"/>
                </a:solidFill>
                <a:latin typeface="Arial"/>
              </a:defRPr>
            </a:pPr>
            <a:r>
              <a:t>02 / Run the workflow</a:t>
            </a:r>
          </a:p>
        </p:txBody>
      </p:sp>
      <p:sp>
        <p:nvSpPr>
          <p:cNvPr id="13" name="TextBox 12"/>
          <p:cNvSpPr txBox="1"/>
          <p:nvPr/>
        </p:nvSpPr>
        <p:spPr>
          <a:xfrm>
            <a:off x="4465319" y="2964179"/>
            <a:ext cx="3162299" cy="789431"/>
          </a:xfrm>
          <a:prstGeom prst="rect">
            <a:avLst/>
          </a:prstGeom>
          <a:noFill/>
        </p:spPr>
        <p:txBody>
          <a:bodyPr wrap="none" lIns="0" rIns="0" tIns="0" bIns="0">
            <a:spAutoFit/>
          </a:bodyPr>
          <a:lstStyle/>
          <a:p>
            <a:pPr>
              <a:lnSpc>
                <a:spcPct val="112000"/>
              </a:lnSpc>
              <a:spcBef>
                <a:spcPts val="0"/>
              </a:spcBef>
              <a:spcAft>
                <a:spcPts val="0"/>
              </a:spcAft>
              <a:defRPr sz="1439" b="0">
                <a:solidFill>
                  <a:srgbClr val="74697F"/>
                </a:solidFill>
                <a:latin typeface="Arial"/>
              </a:defRPr>
            </a:pPr>
            <a:r>
              <a:t>Use one calendar in a supported</a:t>
            </a:r>
          </a:p>
          <a:p>
            <a:pPr>
              <a:lnSpc>
                <a:spcPct val="112000"/>
              </a:lnSpc>
              <a:spcBef>
                <a:spcPts val="0"/>
              </a:spcBef>
              <a:spcAft>
                <a:spcPts val="0"/>
              </a:spcAft>
              <a:defRPr sz="1439" b="0">
                <a:solidFill>
                  <a:srgbClr val="74697F"/>
                </a:solidFill>
                <a:latin typeface="Arial"/>
              </a:defRPr>
            </a:pPr>
            <a:r>
              <a:t>environment. Capture issues,</a:t>
            </a:r>
          </a:p>
          <a:p>
            <a:pPr>
              <a:lnSpc>
                <a:spcPct val="112000"/>
              </a:lnSpc>
              <a:spcBef>
                <a:spcPts val="0"/>
              </a:spcBef>
              <a:spcAft>
                <a:spcPts val="0"/>
              </a:spcAft>
              <a:defRPr sz="1439" b="0">
                <a:solidFill>
                  <a:srgbClr val="74697F"/>
                </a:solidFill>
                <a:latin typeface="Arial"/>
              </a:defRPr>
            </a:pPr>
            <a:r>
              <a:t>adoption and client feedback.</a:t>
            </a:r>
          </a:p>
        </p:txBody>
      </p:sp>
      <p:sp>
        <p:nvSpPr>
          <p:cNvPr id="14" name="Rounded Rectangle 13"/>
          <p:cNvSpPr/>
          <p:nvPr/>
        </p:nvSpPr>
        <p:spPr>
          <a:xfrm>
            <a:off x="8046719" y="2225039"/>
            <a:ext cx="3581399" cy="259079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4839" y="2438399"/>
            <a:ext cx="3162299" cy="343661"/>
          </a:xfrm>
          <a:prstGeom prst="rect">
            <a:avLst/>
          </a:prstGeom>
          <a:noFill/>
        </p:spPr>
        <p:txBody>
          <a:bodyPr wrap="none" lIns="0" rIns="0" tIns="0" bIns="0">
            <a:spAutoFit/>
          </a:bodyPr>
          <a:lstStyle/>
          <a:p>
            <a:pPr>
              <a:lnSpc>
                <a:spcPct val="112000"/>
              </a:lnSpc>
              <a:spcBef>
                <a:spcPts val="0"/>
              </a:spcBef>
              <a:spcAft>
                <a:spcPts val="0"/>
              </a:spcAft>
              <a:defRPr sz="1620" b="1">
                <a:solidFill>
                  <a:srgbClr val="7454CE"/>
                </a:solidFill>
                <a:latin typeface="Arial"/>
              </a:defRPr>
            </a:pPr>
            <a:r>
              <a:t>03 / Evaluate</a:t>
            </a:r>
          </a:p>
        </p:txBody>
      </p:sp>
      <p:sp>
        <p:nvSpPr>
          <p:cNvPr id="16" name="TextBox 15"/>
          <p:cNvSpPr txBox="1"/>
          <p:nvPr/>
        </p:nvSpPr>
        <p:spPr>
          <a:xfrm>
            <a:off x="8244839" y="2964179"/>
            <a:ext cx="3162299" cy="789431"/>
          </a:xfrm>
          <a:prstGeom prst="rect">
            <a:avLst/>
          </a:prstGeom>
          <a:noFill/>
        </p:spPr>
        <p:txBody>
          <a:bodyPr wrap="none" lIns="0" rIns="0" tIns="0" bIns="0">
            <a:spAutoFit/>
          </a:bodyPr>
          <a:lstStyle/>
          <a:p>
            <a:pPr>
              <a:lnSpc>
                <a:spcPct val="112000"/>
              </a:lnSpc>
              <a:spcBef>
                <a:spcPts val="0"/>
              </a:spcBef>
              <a:spcAft>
                <a:spcPts val="0"/>
              </a:spcAft>
              <a:defRPr sz="1439" b="0">
                <a:solidFill>
                  <a:srgbClr val="74697F"/>
                </a:solidFill>
                <a:latin typeface="Arial"/>
              </a:defRPr>
            </a:pPr>
            <a:r>
              <a:t>Compare admin time, turnaround</a:t>
            </a:r>
          </a:p>
          <a:p>
            <a:pPr>
              <a:lnSpc>
                <a:spcPct val="112000"/>
              </a:lnSpc>
              <a:spcBef>
                <a:spcPts val="0"/>
              </a:spcBef>
              <a:spcAft>
                <a:spcPts val="0"/>
              </a:spcAft>
              <a:defRPr sz="1439" b="0">
                <a:solidFill>
                  <a:srgbClr val="74697F"/>
                </a:solidFill>
                <a:latin typeface="Arial"/>
              </a:defRPr>
            </a:pPr>
            <a:r>
              <a:t>and revision rounds. Decide what</a:t>
            </a:r>
          </a:p>
          <a:p>
            <a:pPr>
              <a:lnSpc>
                <a:spcPct val="112000"/>
              </a:lnSpc>
              <a:spcBef>
                <a:spcPts val="0"/>
              </a:spcBef>
              <a:spcAft>
                <a:spcPts val="0"/>
              </a:spcAft>
              <a:defRPr sz="1439" b="0">
                <a:solidFill>
                  <a:srgbClr val="74697F"/>
                </a:solidFill>
                <a:latin typeface="Arial"/>
              </a:defRPr>
            </a:pPr>
            <a:r>
              <a:t>to improve before expanding.</a:t>
            </a:r>
          </a:p>
        </p:txBody>
      </p:sp>
      <p:sp>
        <p:nvSpPr>
          <p:cNvPr id="17" name="TextBox 16"/>
          <p:cNvSpPr txBox="1"/>
          <p:nvPr/>
        </p:nvSpPr>
        <p:spPr>
          <a:xfrm>
            <a:off x="487679" y="5280659"/>
            <a:ext cx="11048999" cy="304037"/>
          </a:xfrm>
          <a:prstGeom prst="rect">
            <a:avLst/>
          </a:prstGeom>
          <a:noFill/>
        </p:spPr>
        <p:txBody>
          <a:bodyPr wrap="none" lIns="0" rIns="0" tIns="0" bIns="0">
            <a:spAutoFit/>
          </a:bodyPr>
          <a:lstStyle/>
          <a:p>
            <a:pPr>
              <a:lnSpc>
                <a:spcPct val="112000"/>
              </a:lnSpc>
              <a:spcBef>
                <a:spcPts val="0"/>
              </a:spcBef>
              <a:spcAft>
                <a:spcPts val="0"/>
              </a:spcAft>
              <a:defRPr sz="1380" b="1">
                <a:solidFill>
                  <a:srgbClr val="292336"/>
                </a:solidFill>
                <a:latin typeface="Arial"/>
              </a:defRPr>
            </a:pPr>
            <a:r>
              <a:t>Proposed measures</a:t>
            </a:r>
          </a:p>
        </p:txBody>
      </p:sp>
      <p:sp>
        <p:nvSpPr>
          <p:cNvPr id="18" name="TextBox 17"/>
          <p:cNvSpPr txBox="1"/>
          <p:nvPr/>
        </p:nvSpPr>
        <p:spPr>
          <a:xfrm>
            <a:off x="487679" y="5631179"/>
            <a:ext cx="11048999" cy="274319"/>
          </a:xfrm>
          <a:prstGeom prst="rect">
            <a:avLst/>
          </a:prstGeom>
          <a:noFill/>
        </p:spPr>
        <p:txBody>
          <a:bodyPr wrap="none" lIns="0" rIns="0" tIns="0" bIns="0">
            <a:spAutoFit/>
          </a:bodyPr>
          <a:lstStyle/>
          <a:p>
            <a:pPr>
              <a:lnSpc>
                <a:spcPct val="112000"/>
              </a:lnSpc>
              <a:spcBef>
                <a:spcPts val="0"/>
              </a:spcBef>
              <a:spcAft>
                <a:spcPts val="0"/>
              </a:spcAft>
              <a:defRPr sz="1200" b="0">
                <a:solidFill>
                  <a:srgbClr val="74697F"/>
                </a:solidFill>
                <a:latin typeface="Arial"/>
              </a:defRPr>
            </a:pPr>
            <a:r>
              <a:t>Admin minutes / calendar · Approval turnaround · Revision rounds · Unresolved feedback · User adoption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92336"/>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B7A5CD"/>
                </a:solidFill>
                <a:latin typeface="Arial"/>
              </a:defRPr>
            </a:pPr>
            <a:r>
              <a:t>CONTENT / STUDIO · MANAGEMENT DECISION</a:t>
            </a:r>
          </a:p>
        </p:txBody>
      </p:sp>
      <p:sp>
        <p:nvSpPr>
          <p:cNvPr id="3" name="Rectangle 2"/>
          <p:cNvSpPr/>
          <p:nvPr/>
        </p:nvSpPr>
        <p:spPr>
          <a:xfrm>
            <a:off x="487679" y="563879"/>
            <a:ext cx="11216639" cy="7619"/>
          </a:xfrm>
          <a:prstGeom prst="rect">
            <a:avLst/>
          </a:prstGeom>
          <a:solidFill>
            <a:srgbClr val="51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B7A5CD"/>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B7A5CD"/>
                </a:solidFill>
                <a:latin typeface="Arial"/>
              </a:defRPr>
            </a:pPr>
            <a:r>
              <a:t>23</a:t>
            </a:r>
          </a:p>
        </p:txBody>
      </p:sp>
      <p:sp>
        <p:nvSpPr>
          <p:cNvPr id="6" name="TextBox 5"/>
          <p:cNvSpPr txBox="1"/>
          <p:nvPr/>
        </p:nvSpPr>
        <p:spPr>
          <a:xfrm>
            <a:off x="487679" y="1028699"/>
            <a:ext cx="10667999" cy="1324355"/>
          </a:xfrm>
          <a:prstGeom prst="rect">
            <a:avLst/>
          </a:prstGeom>
          <a:noFill/>
        </p:spPr>
        <p:txBody>
          <a:bodyPr wrap="none" lIns="0" rIns="0" tIns="0" bIns="0">
            <a:spAutoFit/>
          </a:bodyPr>
          <a:lstStyle/>
          <a:p>
            <a:pPr>
              <a:lnSpc>
                <a:spcPct val="112000"/>
              </a:lnSpc>
              <a:spcBef>
                <a:spcPts val="0"/>
              </a:spcBef>
              <a:spcAft>
                <a:spcPts val="0"/>
              </a:spcAft>
              <a:defRPr sz="3779" b="1">
                <a:solidFill>
                  <a:srgbClr val="FFFFFF"/>
                </a:solidFill>
                <a:latin typeface="Arial"/>
              </a:defRPr>
            </a:pPr>
            <a:r>
              <a:t>Approve the next step,</a:t>
            </a:r>
          </a:p>
          <a:p>
            <a:pPr>
              <a:lnSpc>
                <a:spcPct val="112000"/>
              </a:lnSpc>
              <a:spcBef>
                <a:spcPts val="0"/>
              </a:spcBef>
              <a:spcAft>
                <a:spcPts val="0"/>
              </a:spcAft>
              <a:defRPr sz="3779" b="1">
                <a:solidFill>
                  <a:srgbClr val="FFFFFF"/>
                </a:solidFill>
                <a:latin typeface="Arial"/>
              </a:defRPr>
            </a:pPr>
            <a:r>
              <a:t>not the whole roadmap.</a:t>
            </a:r>
          </a:p>
        </p:txBody>
      </p:sp>
      <p:sp>
        <p:nvSpPr>
          <p:cNvPr id="7" name="TextBox 6"/>
          <p:cNvSpPr txBox="1"/>
          <p:nvPr/>
        </p:nvSpPr>
        <p:spPr>
          <a:xfrm>
            <a:off x="487679" y="2651759"/>
            <a:ext cx="9753599" cy="670559"/>
          </a:xfrm>
          <a:prstGeom prst="rect">
            <a:avLst/>
          </a:prstGeom>
          <a:noFill/>
        </p:spPr>
        <p:txBody>
          <a:bodyPr wrap="none" lIns="0" rIns="0" tIns="0" bIns="0">
            <a:spAutoFit/>
          </a:bodyPr>
          <a:lstStyle/>
          <a:p>
            <a:pPr>
              <a:lnSpc>
                <a:spcPct val="112000"/>
              </a:lnSpc>
              <a:spcBef>
                <a:spcPts val="0"/>
              </a:spcBef>
              <a:spcAft>
                <a:spcPts val="0"/>
              </a:spcAft>
              <a:defRPr sz="1800" b="0">
                <a:solidFill>
                  <a:srgbClr val="D1BFDF"/>
                </a:solidFill>
                <a:latin typeface="Arial"/>
              </a:defRPr>
            </a:pPr>
            <a:r>
              <a:t>Sponsor a controlled pilot and the work needed to make it secure, supported and</a:t>
            </a:r>
          </a:p>
          <a:p>
            <a:pPr>
              <a:lnSpc>
                <a:spcPct val="112000"/>
              </a:lnSpc>
              <a:spcBef>
                <a:spcPts val="0"/>
              </a:spcBef>
              <a:spcAft>
                <a:spcPts val="0"/>
              </a:spcAft>
              <a:defRPr sz="1800" b="0">
                <a:solidFill>
                  <a:srgbClr val="D1BFDF"/>
                </a:solidFill>
                <a:latin typeface="Arial"/>
              </a:defRPr>
            </a:pPr>
            <a:r>
              <a:t>measurable.</a:t>
            </a:r>
          </a:p>
        </p:txBody>
      </p:sp>
      <p:sp>
        <p:nvSpPr>
          <p:cNvPr id="8" name="Rounded Rectangle 7"/>
          <p:cNvSpPr/>
          <p:nvPr/>
        </p:nvSpPr>
        <p:spPr>
          <a:xfrm>
            <a:off x="487679" y="3855719"/>
            <a:ext cx="3581399" cy="1699259"/>
          </a:xfrm>
          <a:prstGeom prst="roundRect">
            <a:avLst>
              <a:gd name="adj" fmla="val 8000"/>
            </a:avLst>
          </a:prstGeom>
          <a:solidFill>
            <a:srgbClr val="392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8179" y="4046219"/>
            <a:ext cx="3162299" cy="323849"/>
          </a:xfrm>
          <a:prstGeom prst="rect">
            <a:avLst/>
          </a:prstGeom>
          <a:noFill/>
        </p:spPr>
        <p:txBody>
          <a:bodyPr wrap="none" lIns="0" rIns="0" tIns="0" bIns="0">
            <a:spAutoFit/>
          </a:bodyPr>
          <a:lstStyle/>
          <a:p>
            <a:pPr>
              <a:lnSpc>
                <a:spcPct val="112000"/>
              </a:lnSpc>
              <a:spcBef>
                <a:spcPts val="0"/>
              </a:spcBef>
              <a:spcAft>
                <a:spcPts val="0"/>
              </a:spcAft>
              <a:defRPr sz="1500" b="1">
                <a:solidFill>
                  <a:srgbClr val="D6B6FB"/>
                </a:solidFill>
                <a:latin typeface="Arial"/>
              </a:defRPr>
            </a:pPr>
            <a:r>
              <a:t>A named sponsor</a:t>
            </a:r>
          </a:p>
        </p:txBody>
      </p:sp>
      <p:sp>
        <p:nvSpPr>
          <p:cNvPr id="10" name="TextBox 9"/>
          <p:cNvSpPr txBox="1"/>
          <p:nvPr/>
        </p:nvSpPr>
        <p:spPr>
          <a:xfrm>
            <a:off x="678179" y="4427219"/>
            <a:ext cx="3162299" cy="531875"/>
          </a:xfrm>
          <a:prstGeom prst="rect">
            <a:avLst/>
          </a:prstGeom>
          <a:noFill/>
        </p:spPr>
        <p:txBody>
          <a:bodyPr wrap="none" lIns="0" rIns="0" tIns="0" bIns="0">
            <a:spAutoFit/>
          </a:bodyPr>
          <a:lstStyle/>
          <a:p>
            <a:pPr>
              <a:lnSpc>
                <a:spcPct val="112000"/>
              </a:lnSpc>
              <a:spcBef>
                <a:spcPts val="0"/>
              </a:spcBef>
              <a:spcAft>
                <a:spcPts val="0"/>
              </a:spcAft>
              <a:defRPr sz="1380" b="0">
                <a:solidFill>
                  <a:srgbClr val="C4B2D6"/>
                </a:solidFill>
                <a:latin typeface="Arial"/>
              </a:defRPr>
            </a:pPr>
            <a:r>
              <a:t>One accountable agency owner and</a:t>
            </a:r>
          </a:p>
          <a:p>
            <a:pPr>
              <a:lnSpc>
                <a:spcPct val="112000"/>
              </a:lnSpc>
              <a:spcBef>
                <a:spcPts val="0"/>
              </a:spcBef>
              <a:spcAft>
                <a:spcPts val="0"/>
              </a:spcAft>
              <a:defRPr sz="1380" b="0">
                <a:solidFill>
                  <a:srgbClr val="C4B2D6"/>
                </a:solidFill>
                <a:latin typeface="Arial"/>
              </a:defRPr>
            </a:pPr>
            <a:r>
              <a:t>a technical counterpart.</a:t>
            </a:r>
          </a:p>
        </p:txBody>
      </p:sp>
      <p:sp>
        <p:nvSpPr>
          <p:cNvPr id="11" name="Rounded Rectangle 10"/>
          <p:cNvSpPr/>
          <p:nvPr/>
        </p:nvSpPr>
        <p:spPr>
          <a:xfrm>
            <a:off x="4267199" y="3855719"/>
            <a:ext cx="3581399" cy="1699259"/>
          </a:xfrm>
          <a:prstGeom prst="roundRect">
            <a:avLst>
              <a:gd name="adj" fmla="val 8000"/>
            </a:avLst>
          </a:prstGeom>
          <a:solidFill>
            <a:srgbClr val="392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7699" y="4046219"/>
            <a:ext cx="3162299" cy="323849"/>
          </a:xfrm>
          <a:prstGeom prst="rect">
            <a:avLst/>
          </a:prstGeom>
          <a:noFill/>
        </p:spPr>
        <p:txBody>
          <a:bodyPr wrap="none" lIns="0" rIns="0" tIns="0" bIns="0">
            <a:spAutoFit/>
          </a:bodyPr>
          <a:lstStyle/>
          <a:p>
            <a:pPr>
              <a:lnSpc>
                <a:spcPct val="112000"/>
              </a:lnSpc>
              <a:spcBef>
                <a:spcPts val="0"/>
              </a:spcBef>
              <a:spcAft>
                <a:spcPts val="0"/>
              </a:spcAft>
              <a:defRPr sz="1500" b="1">
                <a:solidFill>
                  <a:srgbClr val="D6B6FB"/>
                </a:solidFill>
                <a:latin typeface="Arial"/>
              </a:defRPr>
            </a:pPr>
            <a:r>
              <a:t>A bounded pilot</a:t>
            </a:r>
          </a:p>
        </p:txBody>
      </p:sp>
      <p:sp>
        <p:nvSpPr>
          <p:cNvPr id="13" name="TextBox 12"/>
          <p:cNvSpPr txBox="1"/>
          <p:nvPr/>
        </p:nvSpPr>
        <p:spPr>
          <a:xfrm>
            <a:off x="4457699" y="4427219"/>
            <a:ext cx="3162299" cy="531875"/>
          </a:xfrm>
          <a:prstGeom prst="rect">
            <a:avLst/>
          </a:prstGeom>
          <a:noFill/>
        </p:spPr>
        <p:txBody>
          <a:bodyPr wrap="none" lIns="0" rIns="0" tIns="0" bIns="0">
            <a:spAutoFit/>
          </a:bodyPr>
          <a:lstStyle/>
          <a:p>
            <a:pPr>
              <a:lnSpc>
                <a:spcPct val="112000"/>
              </a:lnSpc>
              <a:spcBef>
                <a:spcPts val="0"/>
              </a:spcBef>
              <a:spcAft>
                <a:spcPts val="0"/>
              </a:spcAft>
              <a:defRPr sz="1380" b="0">
                <a:solidFill>
                  <a:srgbClr val="C4B2D6"/>
                </a:solidFill>
                <a:latin typeface="Arial"/>
              </a:defRPr>
            </a:pPr>
            <a:r>
              <a:t>One brand, one monthly calendar</a:t>
            </a:r>
          </a:p>
          <a:p>
            <a:pPr>
              <a:lnSpc>
                <a:spcPct val="112000"/>
              </a:lnSpc>
              <a:spcBef>
                <a:spcPts val="0"/>
              </a:spcBef>
              <a:spcAft>
                <a:spcPts val="0"/>
              </a:spcAft>
              <a:defRPr sz="1380" b="0">
                <a:solidFill>
                  <a:srgbClr val="C4B2D6"/>
                </a:solidFill>
                <a:latin typeface="Arial"/>
              </a:defRPr>
            </a:pPr>
            <a:r>
              <a:t>and agreed participants.</a:t>
            </a:r>
          </a:p>
        </p:txBody>
      </p:sp>
      <p:sp>
        <p:nvSpPr>
          <p:cNvPr id="14" name="Rounded Rectangle 13"/>
          <p:cNvSpPr/>
          <p:nvPr/>
        </p:nvSpPr>
        <p:spPr>
          <a:xfrm>
            <a:off x="8046719" y="3855719"/>
            <a:ext cx="3581399" cy="1699259"/>
          </a:xfrm>
          <a:prstGeom prst="roundRect">
            <a:avLst>
              <a:gd name="adj" fmla="val 8000"/>
            </a:avLst>
          </a:prstGeom>
          <a:solidFill>
            <a:srgbClr val="392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7219" y="4046219"/>
            <a:ext cx="3162299" cy="323849"/>
          </a:xfrm>
          <a:prstGeom prst="rect">
            <a:avLst/>
          </a:prstGeom>
          <a:noFill/>
        </p:spPr>
        <p:txBody>
          <a:bodyPr wrap="none" lIns="0" rIns="0" tIns="0" bIns="0">
            <a:spAutoFit/>
          </a:bodyPr>
          <a:lstStyle/>
          <a:p>
            <a:pPr>
              <a:lnSpc>
                <a:spcPct val="112000"/>
              </a:lnSpc>
              <a:spcBef>
                <a:spcPts val="0"/>
              </a:spcBef>
              <a:spcAft>
                <a:spcPts val="0"/>
              </a:spcAft>
              <a:defRPr sz="1500" b="1">
                <a:solidFill>
                  <a:srgbClr val="D6B6FB"/>
                </a:solidFill>
                <a:latin typeface="Arial"/>
              </a:defRPr>
            </a:pPr>
            <a:r>
              <a:t>A measurable decision</a:t>
            </a:r>
          </a:p>
        </p:txBody>
      </p:sp>
      <p:sp>
        <p:nvSpPr>
          <p:cNvPr id="16" name="TextBox 15"/>
          <p:cNvSpPr txBox="1"/>
          <p:nvPr/>
        </p:nvSpPr>
        <p:spPr>
          <a:xfrm>
            <a:off x="8237219" y="4427219"/>
            <a:ext cx="3162299" cy="531875"/>
          </a:xfrm>
          <a:prstGeom prst="rect">
            <a:avLst/>
          </a:prstGeom>
          <a:noFill/>
        </p:spPr>
        <p:txBody>
          <a:bodyPr wrap="none" lIns="0" rIns="0" tIns="0" bIns="0">
            <a:spAutoFit/>
          </a:bodyPr>
          <a:lstStyle/>
          <a:p>
            <a:pPr>
              <a:lnSpc>
                <a:spcPct val="112000"/>
              </a:lnSpc>
              <a:spcBef>
                <a:spcPts val="0"/>
              </a:spcBef>
              <a:spcAft>
                <a:spcPts val="0"/>
              </a:spcAft>
              <a:defRPr sz="1380" b="0">
                <a:solidFill>
                  <a:srgbClr val="C4B2D6"/>
                </a:solidFill>
                <a:latin typeface="Arial"/>
              </a:defRPr>
            </a:pPr>
            <a:r>
              <a:t>Review evidence before expanding</a:t>
            </a:r>
          </a:p>
          <a:p>
            <a:pPr>
              <a:lnSpc>
                <a:spcPct val="112000"/>
              </a:lnSpc>
              <a:spcBef>
                <a:spcPts val="0"/>
              </a:spcBef>
              <a:spcAft>
                <a:spcPts val="0"/>
              </a:spcAft>
              <a:defRPr sz="1380" b="0">
                <a:solidFill>
                  <a:srgbClr val="C4B2D6"/>
                </a:solidFill>
                <a:latin typeface="Arial"/>
              </a:defRPr>
            </a:pPr>
            <a:r>
              <a:t>the rollout or AI scope.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24</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Workspace dashboard</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A familiar workspace overview, alongside the richer command centre.</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1-workspace-dashboard.png"/>
          <p:cNvPicPr>
            <a:picLocks noChangeAspect="1"/>
          </p:cNvPicPr>
          <p:nvPr/>
        </p:nvPicPr>
        <p:blipFill>
          <a:blip r:embed="rId2"/>
          <a:stretch>
            <a:fillRect/>
          </a:stretch>
        </p:blipFill>
        <p:spPr>
          <a:xfrm>
            <a:off x="2743199" y="1844039"/>
            <a:ext cx="6705599" cy="4190999"/>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25</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Month view</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Content timing and publishing dates in a traditional monthly grid.</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3-month-view.png"/>
          <p:cNvPicPr>
            <a:picLocks noChangeAspect="1"/>
          </p:cNvPicPr>
          <p:nvPr/>
        </p:nvPicPr>
        <p:blipFill>
          <a:blip r:embed="rId2"/>
          <a:stretch>
            <a:fillRect/>
          </a:stretch>
        </p:blipFill>
        <p:spPr>
          <a:xfrm>
            <a:off x="2743199" y="1844039"/>
            <a:ext cx="6705599" cy="4190999"/>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26</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Brand knowledge base</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Configurable profile fields; real guidelines must be entered by the agency.</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2-brand-profile.png"/>
          <p:cNvPicPr>
            <a:picLocks noChangeAspect="1"/>
          </p:cNvPicPr>
          <p:nvPr/>
        </p:nvPicPr>
        <p:blipFill>
          <a:blip r:embed="rId2"/>
          <a:stretch>
            <a:fillRect/>
          </a:stretch>
        </p:blipFill>
        <p:spPr>
          <a:xfrm>
            <a:off x="2743199" y="1844039"/>
            <a:ext cx="6705599" cy="4190999"/>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27</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Search across content</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Find a previous idea directly from the global workspace search.</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3-global-search.png"/>
          <p:cNvPicPr>
            <a:picLocks noChangeAspect="1"/>
          </p:cNvPicPr>
          <p:nvPr/>
        </p:nvPicPr>
        <p:blipFill>
          <a:blip r:embed="rId2"/>
          <a:stretch>
            <a:fillRect/>
          </a:stretch>
        </p:blipFill>
        <p:spPr>
          <a:xfrm>
            <a:off x="2743199" y="1844039"/>
            <a:ext cx="6705599" cy="4190999"/>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28</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Asset versions and native video</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Review the latest media and keep earlier versions accessible.</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9-asset-versions.png"/>
          <p:cNvPicPr>
            <a:picLocks noChangeAspect="1"/>
          </p:cNvPicPr>
          <p:nvPr/>
        </p:nvPicPr>
        <p:blipFill>
          <a:blip r:embed="rId2"/>
          <a:stretch>
            <a:fillRect/>
          </a:stretch>
        </p:blipFill>
        <p:spPr>
          <a:xfrm>
            <a:off x="2743199" y="1844039"/>
            <a:ext cx="6705599" cy="4190999"/>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29</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Change history</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Who changed the record, what changed and when it happened.</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version-history.png"/>
          <p:cNvPicPr>
            <a:picLocks noChangeAspect="1"/>
          </p:cNvPicPr>
          <p:nvPr/>
        </p:nvPicPr>
        <p:blipFill>
          <a:blip r:embed="rId2"/>
          <a:stretch>
            <a:fillRect/>
          </a:stretch>
        </p:blipFill>
        <p:spPr>
          <a:xfrm>
            <a:off x="2743199" y="1844039"/>
            <a:ext cx="6705599" cy="4190999"/>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30</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Client decisions</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Client-visible feedback and approval actions attached to a post.</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5-client-approval.png"/>
          <p:cNvPicPr>
            <a:picLocks noChangeAspect="1"/>
          </p:cNvPicPr>
          <p:nvPr/>
        </p:nvPicPr>
        <p:blipFill>
          <a:blip r:embed="rId2"/>
          <a:stretch>
            <a:fillRect/>
          </a:stretch>
        </p:blipFill>
        <p:spPr>
          <a:xfrm>
            <a:off x="2743199" y="1844039"/>
            <a:ext cx="6705599" cy="4190999"/>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31</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Occasions and creative mechanics</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Illustrative relevance and attributed learning resources, not live research.</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7-references-occasions.png"/>
          <p:cNvPicPr>
            <a:picLocks noChangeAspect="1"/>
          </p:cNvPicPr>
          <p:nvPr/>
        </p:nvPicPr>
        <p:blipFill>
          <a:blip r:embed="rId2"/>
          <a:stretch>
            <a:fillRect/>
          </a:stretch>
        </p:blipFill>
        <p:spPr>
          <a:xfrm>
            <a:off x="2743199" y="1844039"/>
            <a:ext cx="6705599" cy="4190999"/>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32</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Built-in case presentation</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Browser presentation mode with navigation and presenter support.</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0-case-presentation.png"/>
          <p:cNvPicPr>
            <a:picLocks noChangeAspect="1"/>
          </p:cNvPicPr>
          <p:nvPr/>
        </p:nvPicPr>
        <p:blipFill>
          <a:blip r:embed="rId2"/>
          <a:stretch>
            <a:fillRect/>
          </a:stretch>
        </p:blipFill>
        <p:spPr>
          <a:xfrm>
            <a:off x="2743199" y="1844039"/>
            <a:ext cx="6705599" cy="4190999"/>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A"/>
        </a:solidFill>
        <a:effectLst/>
      </p:bgPr>
    </p:bg>
    <p:spTree>
      <p:nvGrpSpPr>
        <p:cNvPr id="1" name=""/>
        <p:cNvGrpSpPr/>
        <p:nvPr/>
      </p:nvGrpSpPr>
      <p:grpSpPr/>
      <p:sp>
        <p:nvSpPr>
          <p:cNvPr id="2" name="TextBox 1"/>
          <p:cNvSpPr txBox="1"/>
          <p:nvPr/>
        </p:nvSpPr>
        <p:spPr>
          <a:xfrm>
            <a:off x="487679" y="259079"/>
            <a:ext cx="9143999" cy="234695"/>
          </a:xfrm>
          <a:prstGeom prst="rect">
            <a:avLst/>
          </a:prstGeom>
          <a:noFill/>
        </p:spPr>
        <p:txBody>
          <a:bodyPr wrap="none" lIns="0" rIns="0" tIns="0" bIns="0">
            <a:spAutoFit/>
          </a:bodyPr>
          <a:lstStyle/>
          <a:p>
            <a:pPr>
              <a:lnSpc>
                <a:spcPct val="112000"/>
              </a:lnSpc>
              <a:spcBef>
                <a:spcPts val="0"/>
              </a:spcBef>
              <a:spcAft>
                <a:spcPts val="0"/>
              </a:spcAft>
              <a:defRPr sz="960" b="1">
                <a:solidFill>
                  <a:srgbClr val="7454CE"/>
                </a:solidFill>
                <a:latin typeface="Arial"/>
              </a:defRPr>
            </a:pPr>
            <a:r>
              <a:t>CONTENT / STUDIO · APPENDIX / SCREEN LIBRARY</a:t>
            </a:r>
          </a:p>
        </p:txBody>
      </p:sp>
      <p:sp>
        <p:nvSpPr>
          <p:cNvPr id="3" name="Rectangle 2"/>
          <p:cNvSpPr/>
          <p:nvPr/>
        </p:nvSpPr>
        <p:spPr>
          <a:xfrm>
            <a:off x="487679" y="563879"/>
            <a:ext cx="11216639" cy="7619"/>
          </a:xfrm>
          <a:prstGeom prst="rect">
            <a:avLst/>
          </a:prstGeom>
          <a:solidFill>
            <a:srgbClr val="E4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79" y="6476999"/>
            <a:ext cx="9524999" cy="195071"/>
          </a:xfrm>
          <a:prstGeom prst="rect">
            <a:avLst/>
          </a:prstGeom>
          <a:noFill/>
        </p:spPr>
        <p:txBody>
          <a:bodyPr wrap="none" lIns="0" rIns="0" tIns="0" bIns="0">
            <a:spAutoFit/>
          </a:bodyPr>
          <a:lstStyle/>
          <a:p>
            <a:pPr>
              <a:lnSpc>
                <a:spcPct val="112000"/>
              </a:lnSpc>
              <a:spcBef>
                <a:spcPts val="0"/>
              </a:spcBef>
              <a:spcAft>
                <a:spcPts val="0"/>
              </a:spcAft>
              <a:defRPr sz="719" b="0">
                <a:solidFill>
                  <a:srgbClr val="74697F"/>
                </a:solidFill>
                <a:latin typeface="Arial"/>
              </a:defRPr>
            </a:pPr>
            <a:r>
              <a:t>AGENCY CONTENT OPERATIONS / MANAGEMENT CASE / 08 OCTOBER 2026</a:t>
            </a:r>
          </a:p>
        </p:txBody>
      </p:sp>
      <p:sp>
        <p:nvSpPr>
          <p:cNvPr id="5" name="TextBox 4"/>
          <p:cNvSpPr txBox="1"/>
          <p:nvPr/>
        </p:nvSpPr>
        <p:spPr>
          <a:xfrm>
            <a:off x="11353799" y="6446519"/>
            <a:ext cx="457199" cy="254507"/>
          </a:xfrm>
          <a:prstGeom prst="rect">
            <a:avLst/>
          </a:prstGeom>
          <a:noFill/>
        </p:spPr>
        <p:txBody>
          <a:bodyPr wrap="none" lIns="0" rIns="0" tIns="0" bIns="0">
            <a:spAutoFit/>
          </a:bodyPr>
          <a:lstStyle/>
          <a:p>
            <a:pPr>
              <a:lnSpc>
                <a:spcPct val="112000"/>
              </a:lnSpc>
              <a:spcBef>
                <a:spcPts val="0"/>
              </a:spcBef>
              <a:spcAft>
                <a:spcPts val="0"/>
              </a:spcAft>
              <a:defRPr sz="1080" b="1">
                <a:solidFill>
                  <a:srgbClr val="7454CE"/>
                </a:solidFill>
                <a:latin typeface="Arial"/>
              </a:defRPr>
            </a:pPr>
            <a:r>
              <a:t>33</a:t>
            </a:r>
          </a:p>
        </p:txBody>
      </p:sp>
      <p:sp>
        <p:nvSpPr>
          <p:cNvPr id="6" name="TextBox 5"/>
          <p:cNvSpPr txBox="1"/>
          <p:nvPr/>
        </p:nvSpPr>
        <p:spPr>
          <a:xfrm>
            <a:off x="487679" y="822959"/>
            <a:ext cx="11048999" cy="502157"/>
          </a:xfrm>
          <a:prstGeom prst="rect">
            <a:avLst/>
          </a:prstGeom>
          <a:noFill/>
        </p:spPr>
        <p:txBody>
          <a:bodyPr wrap="none" lIns="0" rIns="0" tIns="0" bIns="0">
            <a:spAutoFit/>
          </a:bodyPr>
          <a:lstStyle/>
          <a:p>
            <a:pPr>
              <a:lnSpc>
                <a:spcPct val="112000"/>
              </a:lnSpc>
              <a:spcBef>
                <a:spcPts val="0"/>
              </a:spcBef>
              <a:spcAft>
                <a:spcPts val="0"/>
              </a:spcAft>
              <a:defRPr sz="2580" b="1">
                <a:solidFill>
                  <a:srgbClr val="292336"/>
                </a:solidFill>
                <a:latin typeface="Arial"/>
              </a:defRPr>
            </a:pPr>
            <a:r>
              <a:t>Mobile client review</a:t>
            </a:r>
          </a:p>
        </p:txBody>
      </p:sp>
      <p:sp>
        <p:nvSpPr>
          <p:cNvPr id="7" name="TextBox 6"/>
          <p:cNvSpPr txBox="1"/>
          <p:nvPr/>
        </p:nvSpPr>
        <p:spPr>
          <a:xfrm>
            <a:off x="487679" y="1310639"/>
            <a:ext cx="11048999" cy="294131"/>
          </a:xfrm>
          <a:prstGeom prst="rect">
            <a:avLst/>
          </a:prstGeom>
          <a:noFill/>
        </p:spPr>
        <p:txBody>
          <a:bodyPr wrap="none" lIns="0" rIns="0" tIns="0" bIns="0">
            <a:spAutoFit/>
          </a:bodyPr>
          <a:lstStyle/>
          <a:p>
            <a:pPr>
              <a:lnSpc>
                <a:spcPct val="112000"/>
              </a:lnSpc>
              <a:spcBef>
                <a:spcPts val="0"/>
              </a:spcBef>
              <a:spcAft>
                <a:spcPts val="0"/>
              </a:spcAft>
              <a:defRPr sz="1320" b="0">
                <a:solidFill>
                  <a:srgbClr val="74697F"/>
                </a:solidFill>
                <a:latin typeface="Arial"/>
              </a:defRPr>
            </a:pPr>
            <a:r>
              <a:t>A focused client experience on a smaller screen.</a:t>
            </a:r>
          </a:p>
        </p:txBody>
      </p:sp>
      <p:sp>
        <p:nvSpPr>
          <p:cNvPr id="8" name="Rounded Rectangle 7"/>
          <p:cNvSpPr/>
          <p:nvPr/>
        </p:nvSpPr>
        <p:spPr>
          <a:xfrm>
            <a:off x="487679" y="1760219"/>
            <a:ext cx="11216639" cy="4358639"/>
          </a:xfrm>
          <a:prstGeom prst="roundRect">
            <a:avLst>
              <a:gd name="adj" fmla="val 8000"/>
            </a:avLst>
          </a:prstGeom>
          <a:solidFill>
            <a:srgbClr val="FFFFFF"/>
          </a:solidFill>
          <a:ln w="7620">
            <a:solidFill>
              <a:srgbClr val="E4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6-mobile-review.png"/>
          <p:cNvPicPr>
            <a:picLocks noChangeAspect="1"/>
          </p:cNvPicPr>
          <p:nvPr/>
        </p:nvPicPr>
        <p:blipFill>
          <a:blip r:embed="rId2"/>
          <a:stretch>
            <a:fillRect/>
          </a:stretch>
        </p:blipFill>
        <p:spPr>
          <a:xfrm>
            <a:off x="5128259" y="1844039"/>
            <a:ext cx="1935479" cy="41909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 Studio | A connected agency content workflow</dc:title>
  <dc:subject>Management case and visual product walkthrough</dc:subject>
  <dc:creator>Agency Content Studio</dc:creator>
  <cp:keywords>agency, content calendar, management case, prototype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